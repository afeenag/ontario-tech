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1"/>
  </p:notesMasterIdLst>
  <p:sldIdLst>
    <p:sldId id="256" r:id="rId2"/>
    <p:sldId id="1438" r:id="rId3"/>
    <p:sldId id="1439" r:id="rId4"/>
    <p:sldId id="1440" r:id="rId5"/>
    <p:sldId id="1441" r:id="rId6"/>
    <p:sldId id="1445" r:id="rId7"/>
    <p:sldId id="1442" r:id="rId8"/>
    <p:sldId id="1443" r:id="rId9"/>
    <p:sldId id="144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75"/>
    <p:restoredTop sz="89576"/>
  </p:normalViewPr>
  <p:slideViewPr>
    <p:cSldViewPr>
      <p:cViewPr varScale="1">
        <p:scale>
          <a:sx n="86" d="100"/>
          <a:sy n="86" d="100"/>
        </p:scale>
        <p:origin x="88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rmohsen Golmohammadi" userId="7ce0db84-c3cb-435b-9860-51974a9f0fdd" providerId="ADAL" clId="{42FA9CDC-6DA6-F145-B518-C5BC1E840D96}"/>
    <pc:docChg chg="modSld">
      <pc:chgData name="Amirmohsen Golmohammadi" userId="7ce0db84-c3cb-435b-9860-51974a9f0fdd" providerId="ADAL" clId="{42FA9CDC-6DA6-F145-B518-C5BC1E840D96}" dt="2025-08-29T15:47:29.019" v="18" actId="20577"/>
      <pc:docMkLst>
        <pc:docMk/>
      </pc:docMkLst>
      <pc:sldChg chg="modSp mod">
        <pc:chgData name="Amirmohsen Golmohammadi" userId="7ce0db84-c3cb-435b-9860-51974a9f0fdd" providerId="ADAL" clId="{42FA9CDC-6DA6-F145-B518-C5BC1E840D96}" dt="2025-08-29T15:47:16.699" v="7" actId="20577"/>
        <pc:sldMkLst>
          <pc:docMk/>
          <pc:sldMk cId="3511548266" sldId="1438"/>
        </pc:sldMkLst>
        <pc:spChg chg="mod">
          <ac:chgData name="Amirmohsen Golmohammadi" userId="7ce0db84-c3cb-435b-9860-51974a9f0fdd" providerId="ADAL" clId="{42FA9CDC-6DA6-F145-B518-C5BC1E840D96}" dt="2025-08-29T15:47:16.699" v="7" actId="20577"/>
          <ac:spMkLst>
            <pc:docMk/>
            <pc:sldMk cId="3511548266" sldId="1438"/>
            <ac:spMk id="4" creationId="{D478CB07-86F0-94E9-C922-4C20E7011EFD}"/>
          </ac:spMkLst>
        </pc:spChg>
      </pc:sldChg>
      <pc:sldChg chg="modSp mod">
        <pc:chgData name="Amirmohsen Golmohammadi" userId="7ce0db84-c3cb-435b-9860-51974a9f0fdd" providerId="ADAL" clId="{42FA9CDC-6DA6-F145-B518-C5BC1E840D96}" dt="2025-08-29T15:47:29.019" v="18" actId="20577"/>
        <pc:sldMkLst>
          <pc:docMk/>
          <pc:sldMk cId="781173484" sldId="1440"/>
        </pc:sldMkLst>
        <pc:spChg chg="mod">
          <ac:chgData name="Amirmohsen Golmohammadi" userId="7ce0db84-c3cb-435b-9860-51974a9f0fdd" providerId="ADAL" clId="{42FA9CDC-6DA6-F145-B518-C5BC1E840D96}" dt="2025-08-29T15:47:29.019" v="18" actId="20577"/>
          <ac:spMkLst>
            <pc:docMk/>
            <pc:sldMk cId="781173484" sldId="1440"/>
            <ac:spMk id="4" creationId="{8B932293-B5CE-3FB1-58F2-1BD5DBA21B4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66A9A-16AD-4618-924D-B9BC32209995}" type="datetimeFigureOut">
              <a:rPr lang="en-CA" smtClean="0"/>
              <a:t>2025-08-29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66ADF-CD7C-484F-ACCD-98481CFD3C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9132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66ADF-CD7C-484F-ACCD-98481CFD3C5C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6036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pic>
        <p:nvPicPr>
          <p:cNvPr id="2" name="Picture 2" descr="Ontario Tech University – OUInfo">
            <a:extLst>
              <a:ext uri="{FF2B5EF4-FFF2-40B4-BE49-F238E27FC236}">
                <a16:creationId xmlns:a16="http://schemas.microsoft.com/office/drawing/2014/main" id="{A7FBD20D-25EF-CE9F-DF7C-0222E673860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0" t="18786" r="7182" b="18369"/>
          <a:stretch/>
        </p:blipFill>
        <p:spPr bwMode="auto">
          <a:xfrm>
            <a:off x="2699792" y="5229200"/>
            <a:ext cx="3672408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32288" y="-114482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1560" y="1447800"/>
            <a:ext cx="8075240" cy="47895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" descr="Ontario Tech University – OUInfo">
            <a:extLst>
              <a:ext uri="{FF2B5EF4-FFF2-40B4-BE49-F238E27FC236}">
                <a16:creationId xmlns:a16="http://schemas.microsoft.com/office/drawing/2014/main" id="{08C38C11-CD61-8F76-D948-FBEE34CB78C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0864" y="237208"/>
            <a:ext cx="2687600" cy="952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rgbClr val="7030A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amirmohsen.golmohammadi@ontariotechu.c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statlearning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aconda.com/download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nasdaq.com/" TargetMode="External"/><Relationship Id="rId2" Type="http://schemas.openxmlformats.org/officeDocument/2006/relationships/hyperlink" Target="https://www.toronto.ca/city-government/data-research-maps/open-dat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rds-www.wharton.upenn.edu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sz="4800" dirty="0">
                <a:latin typeface="+mn-lt"/>
              </a:rPr>
              <a:t>Business Analytics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C9548A-EF97-6DD9-7CDD-176FBFFE122A}"/>
              </a:ext>
            </a:extLst>
          </p:cNvPr>
          <p:cNvSpPr txBox="1"/>
          <p:nvPr/>
        </p:nvSpPr>
        <p:spPr>
          <a:xfrm>
            <a:off x="3625265" y="3284984"/>
            <a:ext cx="1893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MBAI5100</a:t>
            </a:r>
          </a:p>
        </p:txBody>
      </p:sp>
    </p:spTree>
    <p:extLst>
      <p:ext uri="{BB962C8B-B14F-4D97-AF65-F5344CB8AC3E}">
        <p14:creationId xmlns:p14="http://schemas.microsoft.com/office/powerpoint/2010/main" val="2293728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AF492-9DE9-09A9-E56F-B314A347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Analytics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4DBAC4-678D-C715-E904-17F594E2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8CB07-86F0-94E9-C922-4C20E7011EF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Instructor:</a:t>
            </a:r>
          </a:p>
          <a:p>
            <a:pPr lvl="1"/>
            <a:r>
              <a:rPr lang="en-US" dirty="0" err="1"/>
              <a:t>Amirmohsen</a:t>
            </a:r>
            <a:r>
              <a:rPr lang="en-US" dirty="0"/>
              <a:t> </a:t>
            </a:r>
            <a:r>
              <a:rPr lang="en-US" dirty="0" err="1"/>
              <a:t>Golmohammadi</a:t>
            </a:r>
            <a:r>
              <a:rPr lang="en-US" dirty="0"/>
              <a:t> / Amir</a:t>
            </a:r>
          </a:p>
          <a:p>
            <a:pPr lvl="1"/>
            <a:r>
              <a:rPr lang="en-US" dirty="0"/>
              <a:t>Email: </a:t>
            </a:r>
            <a:r>
              <a:rPr lang="en-US" dirty="0">
                <a:hlinkClick r:id="rId2"/>
              </a:rPr>
              <a:t>amirmohsen.golmohammadi@ontariotechu.ca</a:t>
            </a:r>
            <a:endParaRPr lang="en-US" dirty="0"/>
          </a:p>
          <a:p>
            <a:pPr lvl="1"/>
            <a:r>
              <a:rPr lang="en-US" dirty="0"/>
              <a:t>Office: BIT3018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Office hours:</a:t>
            </a:r>
          </a:p>
          <a:p>
            <a:pPr lvl="1"/>
            <a:r>
              <a:rPr lang="en-US" dirty="0"/>
              <a:t>By appointment</a:t>
            </a:r>
          </a:p>
          <a:p>
            <a:pPr lvl="1"/>
            <a:r>
              <a:rPr lang="en-US" dirty="0"/>
              <a:t>Open door policy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548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14545-CB8E-E1DB-8AEB-DCA233F6D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0D50FA-CC55-9253-2AC0-CDC658382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F2F24-01A2-1F09-C881-C2F7A6907CE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02432" y="5492524"/>
            <a:ext cx="2937520" cy="11430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effectLst/>
                <a:ea typeface="Times New Roman" panose="02020603050405020304" pitchFamily="18" charset="0"/>
              </a:rPr>
              <a:t>You can download the </a:t>
            </a:r>
            <a:r>
              <a:rPr lang="en-US" sz="1800" dirty="0" err="1">
                <a:effectLst/>
                <a:ea typeface="Times New Roman" panose="02020603050405020304" pitchFamily="18" charset="0"/>
              </a:rPr>
              <a:t>ebook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 for free at: </a:t>
            </a:r>
            <a:r>
              <a:rPr lang="en-US" sz="1800" u="sng" dirty="0">
                <a:solidFill>
                  <a:srgbClr val="0000FF"/>
                </a:solidFill>
                <a:effectLst/>
                <a:ea typeface="Times New Roman" panose="02020603050405020304" pitchFamily="18" charset="0"/>
                <a:hlinkClick r:id="rId2"/>
              </a:rPr>
              <a:t>https://www.statlearning.com/</a:t>
            </a:r>
            <a:endParaRPr lang="en-CA" sz="1800" dirty="0">
              <a:effectLst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1026" name="Picture 2" descr="An Introduction to Statistical Learning">
            <a:extLst>
              <a:ext uri="{FF2B5EF4-FFF2-40B4-BE49-F238E27FC236}">
                <a16:creationId xmlns:a16="http://schemas.microsoft.com/office/drawing/2014/main" id="{AD0DF01A-95CB-ECB5-0AC1-05FA225BF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359196"/>
            <a:ext cx="1901952" cy="2929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usiness Analytics: 2025 Release ISE: Sanjiv Jaggia, Alison Kelly, Kevin  Lertwachara, Leida Chen: 9781264901531: Books - Amazon.ca">
            <a:extLst>
              <a:ext uri="{FF2B5EF4-FFF2-40B4-BE49-F238E27FC236}">
                <a16:creationId xmlns:a16="http://schemas.microsoft.com/office/drawing/2014/main" id="{24408069-7DB6-F50F-DD97-824720A8A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194" y="2340908"/>
            <a:ext cx="2464389" cy="3151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97AAE21-6ADA-1173-CC3E-CA16D968891E}"/>
              </a:ext>
            </a:extLst>
          </p:cNvPr>
          <p:cNvSpPr txBox="1">
            <a:spLocks/>
          </p:cNvSpPr>
          <p:nvPr/>
        </p:nvSpPr>
        <p:spPr>
          <a:xfrm>
            <a:off x="935596" y="1365476"/>
            <a:ext cx="7272808" cy="57490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400" dirty="0">
                <a:ea typeface="Times New Roman" panose="02020603050405020304" pitchFamily="18" charset="0"/>
              </a:rPr>
              <a:t>Textbooks are optional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4259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D13B7-21D0-D3A7-4F1A-FC9AD7F4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2A433A-4228-BB3E-0E52-357852234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32293-B5CE-3FB1-58F2-1BD5DBA21B4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Understand what business analytics is</a:t>
            </a:r>
          </a:p>
          <a:p>
            <a:r>
              <a:rPr lang="en-US" dirty="0"/>
              <a:t>Prepare and clean data</a:t>
            </a:r>
          </a:p>
          <a:p>
            <a:r>
              <a:rPr lang="en-US" dirty="0"/>
              <a:t>Summarize data </a:t>
            </a:r>
            <a:r>
              <a:rPr lang="en-US"/>
              <a:t>using descriptive </a:t>
            </a:r>
            <a:r>
              <a:rPr lang="en-US" dirty="0"/>
              <a:t>analytics</a:t>
            </a:r>
          </a:p>
          <a:p>
            <a:r>
              <a:rPr lang="en-US" dirty="0"/>
              <a:t>Use predictive analytics methods and tools to estimate the value of variables in the future</a:t>
            </a:r>
          </a:p>
          <a:p>
            <a:r>
              <a:rPr lang="en-US" dirty="0"/>
              <a:t>Use prescriptive analytics methods and tools to make better business decisions</a:t>
            </a:r>
          </a:p>
        </p:txBody>
      </p:sp>
    </p:spTree>
    <p:extLst>
      <p:ext uri="{BB962C8B-B14F-4D97-AF65-F5344CB8AC3E}">
        <p14:creationId xmlns:p14="http://schemas.microsoft.com/office/powerpoint/2010/main" val="781173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5BA5-056B-F4FC-D732-B49246517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5EDDE9-829C-E559-7F19-BD8443E6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DF294-BA17-BB3B-9154-DA52DA46CA6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Basics of python (Anaconda distribution and </a:t>
            </a:r>
            <a:r>
              <a:rPr lang="en-US" dirty="0" err="1"/>
              <a:t>JupyterLab</a:t>
            </a:r>
            <a:r>
              <a:rPr lang="en-US" dirty="0"/>
              <a:t>)</a:t>
            </a:r>
          </a:p>
          <a:p>
            <a:r>
              <a:rPr lang="en-US" dirty="0"/>
              <a:t>Data preparation and wrangling</a:t>
            </a:r>
          </a:p>
          <a:p>
            <a:r>
              <a:rPr lang="en-US" dirty="0"/>
              <a:t>Summary measures</a:t>
            </a:r>
          </a:p>
          <a:p>
            <a:r>
              <a:rPr lang="en-US" dirty="0"/>
              <a:t>Regression and logistics regression</a:t>
            </a:r>
          </a:p>
          <a:p>
            <a:r>
              <a:rPr lang="en-US" dirty="0"/>
              <a:t>Forecasting</a:t>
            </a:r>
          </a:p>
          <a:p>
            <a:r>
              <a:rPr lang="en-US" dirty="0"/>
              <a:t>Data mining</a:t>
            </a:r>
          </a:p>
          <a:p>
            <a:r>
              <a:rPr lang="en-US" dirty="0"/>
              <a:t>Prescriptive analytics (simulation and optimization) </a:t>
            </a:r>
          </a:p>
        </p:txBody>
      </p:sp>
    </p:spTree>
    <p:extLst>
      <p:ext uri="{BB962C8B-B14F-4D97-AF65-F5344CB8AC3E}">
        <p14:creationId xmlns:p14="http://schemas.microsoft.com/office/powerpoint/2010/main" val="1616903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E88E-E33E-BE4B-AD93-F62713C2D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with 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D5013D-1A12-E7B7-B454-DEB734A7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D898A-8994-4C1E-B7BC-77ED4E69657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 the class, I use Anaconda and </a:t>
            </a:r>
            <a:r>
              <a:rPr lang="en-US" dirty="0" err="1"/>
              <a:t>JupyterLab</a:t>
            </a:r>
            <a:r>
              <a:rPr lang="en-US" dirty="0"/>
              <a:t>.</a:t>
            </a:r>
          </a:p>
          <a:p>
            <a:r>
              <a:rPr lang="en-US" dirty="0"/>
              <a:t>You can use any IDE for this course.</a:t>
            </a:r>
          </a:p>
          <a:p>
            <a:r>
              <a:rPr lang="en-US" dirty="0"/>
              <a:t>You will learn more about programming with Python in MBAI5300 (Programming and data processing)</a:t>
            </a:r>
          </a:p>
          <a:p>
            <a:r>
              <a:rPr lang="en-US" dirty="0"/>
              <a:t>Download Anaconda from: </a:t>
            </a:r>
            <a:r>
              <a:rPr lang="en-US" dirty="0">
                <a:hlinkClick r:id="rId2"/>
              </a:rPr>
              <a:t>https://www.anaconda.com/download</a:t>
            </a:r>
            <a:endParaRPr lang="en-US" dirty="0"/>
          </a:p>
          <a:p>
            <a:r>
              <a:rPr lang="en-US" dirty="0"/>
              <a:t>Once installation is complete, open Anaconda Navigator and launch </a:t>
            </a:r>
            <a:r>
              <a:rPr lang="en-US" dirty="0" err="1"/>
              <a:t>JupyterLab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3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E7063-F71F-5371-B14F-72B06B638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7404E3-8EE7-158F-DE5E-57EB4DA7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2BB52A-CA12-9A42-1959-A66520A6D71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ACF62C-8B3B-B733-C580-4E4FA5A31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049416"/>
              </p:ext>
            </p:extLst>
          </p:nvPr>
        </p:nvGraphicFramePr>
        <p:xfrm>
          <a:off x="406928" y="1447800"/>
          <a:ext cx="8352929" cy="4499368"/>
        </p:xfrm>
        <a:graphic>
          <a:graphicData uri="http://schemas.openxmlformats.org/drawingml/2006/table">
            <a:tbl>
              <a:tblPr firstRow="1" bandRow="1" bandCol="1">
                <a:tableStyleId>{FABFCF23-3B69-468F-B69F-88F6DE6A72F2}</a:tableStyleId>
              </a:tblPr>
              <a:tblGrid>
                <a:gridCol w="1614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484">
                  <a:extLst>
                    <a:ext uri="{9D8B030D-6E8A-4147-A177-3AD203B41FA5}">
                      <a16:colId xmlns:a16="http://schemas.microsoft.com/office/drawing/2014/main" val="1661458529"/>
                    </a:ext>
                  </a:extLst>
                </a:gridCol>
                <a:gridCol w="4200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421">
                <a:tc gridSpan="2"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CA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</a:t>
                      </a:r>
                      <a:endParaRPr lang="en-CA" sz="32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CA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en-CA" sz="32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n-CA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</a:t>
                      </a:r>
                      <a:endParaRPr lang="en-CA" sz="320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421">
                <a:tc gridSpan="2"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kumimoji="0" lang="en-CA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Participation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5595"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CA" sz="32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kumimoji="0" lang="en-CA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421">
                <a:tc gridSpan="2"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CA" sz="20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Quiz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CA" sz="20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October 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CA" sz="20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12.5%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021083"/>
                  </a:ext>
                </a:extLst>
              </a:tr>
              <a:tr h="562421">
                <a:tc gridSpan="2"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CA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Quiz 2</a:t>
                      </a:r>
                      <a:endParaRPr lang="en-CA" sz="32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CA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November 6</a:t>
                      </a:r>
                      <a:endParaRPr lang="en-CA" sz="32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CA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12.5%</a:t>
                      </a:r>
                      <a:endParaRPr lang="en-CA" sz="20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421">
                <a:tc gridSpan="2"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kumimoji="0" lang="en-CA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Assignment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CA" sz="20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October 30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CA" sz="20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655360"/>
                  </a:ext>
                </a:extLst>
              </a:tr>
              <a:tr h="562421">
                <a:tc rowSpan="3"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kumimoji="0" lang="en-CA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Final project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kumimoji="0" lang="en-CA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Proposal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CA" sz="20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October 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CA" sz="20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10%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959818"/>
                  </a:ext>
                </a:extLst>
              </a:tr>
              <a:tr h="562421">
                <a:tc vMerge="1"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kumimoji="0" lang="en-CA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kumimoji="0" lang="en-CA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Presentation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CA" sz="20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November 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CA" sz="20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10%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044002"/>
                  </a:ext>
                </a:extLst>
              </a:tr>
              <a:tr h="562421">
                <a:tc vMerge="1"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kumimoji="0" lang="en-CA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kumimoji="0" lang="en-CA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Final report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CA" sz="20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December 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CA" sz="20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25%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792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3363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84340-0267-19AB-4BA8-840C66CCA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0FD91D-2FBE-DFE1-BA32-491691BB7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71FD5-4301-91F0-57F3-87E032989DC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You are doing this project from the perspective of an analyst employed by a public or private organization.</a:t>
            </a:r>
          </a:p>
          <a:p>
            <a:r>
              <a:rPr lang="en-US" sz="2400" dirty="0"/>
              <a:t>Project should be done in groups of no less than 3 and no more than 5.</a:t>
            </a:r>
          </a:p>
          <a:p>
            <a:r>
              <a:rPr lang="en-US" sz="2400" dirty="0"/>
              <a:t>The number of group members will not affect your grade.</a:t>
            </a:r>
          </a:p>
          <a:p>
            <a:r>
              <a:rPr lang="en-US" sz="2400" dirty="0"/>
              <a:t>You need to consider a well-defined business questions and use the skills that you acquire in the class to address it. </a:t>
            </a:r>
          </a:p>
          <a:p>
            <a:r>
              <a:rPr lang="en-US" sz="2400" dirty="0"/>
              <a:t>Public real datasets should be used for the project:</a:t>
            </a:r>
          </a:p>
          <a:p>
            <a:pPr marL="617220" lvl="1" indent="-34290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Kaggle.com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CA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61722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City of Toronto Open Data portal: </a:t>
            </a:r>
            <a:r>
              <a:rPr lang="en-US" sz="16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https://www.toronto.ca/city-government/data-research-maps/open-data/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(similar portals exist for other big cities as well)</a:t>
            </a:r>
            <a:endParaRPr lang="en-CA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617220" lvl="1" indent="-342900">
              <a:buFont typeface="Arial" panose="020B0604020202020204" pitchFamily="34" charset="0"/>
              <a:buChar char="•"/>
            </a:pPr>
            <a:r>
              <a:rPr lang="en-US" sz="16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https://data.nasdaq.com/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16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https://wrds-www.wharton.upenn.edu/</a:t>
            </a:r>
            <a:endParaRPr lang="en-CA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/>
            <a:endParaRPr lang="en-US" sz="22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63781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F9069-BA30-2982-3F46-6F68F5EFA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829DCE-D6E4-8B40-BDBE-3B0D5062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A656A-86A0-7692-5B26-1C2A6C5F03A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Deadlines:</a:t>
            </a:r>
          </a:p>
          <a:p>
            <a:pPr lvl="1"/>
            <a:r>
              <a:rPr lang="en-US" dirty="0"/>
              <a:t>Group selection: September 18</a:t>
            </a:r>
          </a:p>
          <a:p>
            <a:pPr lvl="2"/>
            <a:r>
              <a:rPr lang="en-US" dirty="0"/>
              <a:t>Please let me know if you need me to assign you to a group</a:t>
            </a:r>
          </a:p>
          <a:p>
            <a:pPr lvl="1"/>
            <a:r>
              <a:rPr lang="en-US" dirty="0"/>
              <a:t>Proposal: October 9</a:t>
            </a:r>
          </a:p>
          <a:p>
            <a:pPr lvl="2"/>
            <a:r>
              <a:rPr lang="en-US" dirty="0"/>
              <a:t>A template is provided online</a:t>
            </a:r>
          </a:p>
          <a:p>
            <a:pPr lvl="2"/>
            <a:r>
              <a:rPr lang="en-US" dirty="0"/>
              <a:t>3 pages maximum (including everything) </a:t>
            </a:r>
          </a:p>
          <a:p>
            <a:pPr lvl="1"/>
            <a:r>
              <a:rPr lang="en-US" dirty="0"/>
              <a:t>Presentation: November 20</a:t>
            </a:r>
          </a:p>
          <a:p>
            <a:pPr lvl="2"/>
            <a:r>
              <a:rPr lang="en-US" dirty="0"/>
              <a:t>20 minutes presentation</a:t>
            </a:r>
          </a:p>
          <a:p>
            <a:pPr lvl="1"/>
            <a:r>
              <a:rPr lang="en-US" dirty="0"/>
              <a:t>Final report: December 4</a:t>
            </a:r>
          </a:p>
          <a:p>
            <a:r>
              <a:rPr lang="en-US" dirty="0"/>
              <a:t>You are required to only use the packages that we learned in the class.</a:t>
            </a:r>
          </a:p>
          <a:p>
            <a:pPr marL="59436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059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erations Management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Operations Management</Template>
  <TotalTime>17012</TotalTime>
  <Words>437</Words>
  <Application>Microsoft Macintosh PowerPoint</Application>
  <PresentationFormat>On-screen Show (4:3)</PresentationFormat>
  <Paragraphs>91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Franklin Gothic Book</vt:lpstr>
      <vt:lpstr>Perpetua</vt:lpstr>
      <vt:lpstr>Times New Roman</vt:lpstr>
      <vt:lpstr>Wingdings 2</vt:lpstr>
      <vt:lpstr>Operations Management</vt:lpstr>
      <vt:lpstr>Business Analytics</vt:lpstr>
      <vt:lpstr>Business Analytics</vt:lpstr>
      <vt:lpstr>Textbook</vt:lpstr>
      <vt:lpstr>Learning Objectives</vt:lpstr>
      <vt:lpstr>Topics</vt:lpstr>
      <vt:lpstr>Programming with Python</vt:lpstr>
      <vt:lpstr>Evaluation</vt:lpstr>
      <vt:lpstr>Project</vt:lpstr>
      <vt:lpstr>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Management</dc:title>
  <dc:creator>Amir</dc:creator>
  <cp:lastModifiedBy>Amirmohsen Golmohammadi</cp:lastModifiedBy>
  <cp:revision>88</cp:revision>
  <dcterms:created xsi:type="dcterms:W3CDTF">2016-10-30T21:44:55Z</dcterms:created>
  <dcterms:modified xsi:type="dcterms:W3CDTF">2025-08-29T15:47:34Z</dcterms:modified>
</cp:coreProperties>
</file>