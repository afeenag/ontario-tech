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35"/>
  </p:notesMasterIdLst>
  <p:sldIdLst>
    <p:sldId id="256" r:id="rId2"/>
    <p:sldId id="261" r:id="rId3"/>
    <p:sldId id="273" r:id="rId4"/>
    <p:sldId id="292" r:id="rId5"/>
    <p:sldId id="293" r:id="rId6"/>
    <p:sldId id="294" r:id="rId7"/>
    <p:sldId id="295" r:id="rId8"/>
    <p:sldId id="296" r:id="rId9"/>
    <p:sldId id="297" r:id="rId10"/>
    <p:sldId id="298" r:id="rId11"/>
    <p:sldId id="316" r:id="rId12"/>
    <p:sldId id="299" r:id="rId13"/>
    <p:sldId id="300" r:id="rId14"/>
    <p:sldId id="304" r:id="rId15"/>
    <p:sldId id="303" r:id="rId16"/>
    <p:sldId id="302" r:id="rId17"/>
    <p:sldId id="317" r:id="rId18"/>
    <p:sldId id="312" r:id="rId19"/>
    <p:sldId id="313" r:id="rId20"/>
    <p:sldId id="314" r:id="rId21"/>
    <p:sldId id="318" r:id="rId22"/>
    <p:sldId id="305" r:id="rId23"/>
    <p:sldId id="301" r:id="rId24"/>
    <p:sldId id="319" r:id="rId25"/>
    <p:sldId id="306" r:id="rId26"/>
    <p:sldId id="307" r:id="rId27"/>
    <p:sldId id="308" r:id="rId28"/>
    <p:sldId id="320" r:id="rId29"/>
    <p:sldId id="321" r:id="rId30"/>
    <p:sldId id="322" r:id="rId31"/>
    <p:sldId id="323" r:id="rId32"/>
    <p:sldId id="324" r:id="rId33"/>
    <p:sldId id="325"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626DF-3FFC-A94A-BBF0-F63C15055432}" v="100" dt="2025-10-17T17:21:01.5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818"/>
    <p:restoredTop sz="86920"/>
  </p:normalViewPr>
  <p:slideViewPr>
    <p:cSldViewPr>
      <p:cViewPr varScale="1">
        <p:scale>
          <a:sx n="107" d="100"/>
          <a:sy n="107" d="100"/>
        </p:scale>
        <p:origin x="1024" y="1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rmohsen Golmohammadi" userId="7ce0db84-c3cb-435b-9860-51974a9f0fdd" providerId="ADAL" clId="{5EA626DF-3FFC-A94A-BBF0-F63C15055432}"/>
    <pc:docChg chg="undo custSel modSld sldOrd">
      <pc:chgData name="Amirmohsen Golmohammadi" userId="7ce0db84-c3cb-435b-9860-51974a9f0fdd" providerId="ADAL" clId="{5EA626DF-3FFC-A94A-BBF0-F63C15055432}" dt="2025-10-20T17:18:12.009" v="100" actId="20578"/>
      <pc:docMkLst>
        <pc:docMk/>
      </pc:docMkLst>
      <pc:sldChg chg="modSp mod">
        <pc:chgData name="Amirmohsen Golmohammadi" userId="7ce0db84-c3cb-435b-9860-51974a9f0fdd" providerId="ADAL" clId="{5EA626DF-3FFC-A94A-BBF0-F63C15055432}" dt="2025-10-17T15:57:36.148" v="1" actId="20577"/>
        <pc:sldMkLst>
          <pc:docMk/>
          <pc:sldMk cId="3175155015" sldId="293"/>
        </pc:sldMkLst>
        <pc:spChg chg="mod">
          <ac:chgData name="Amirmohsen Golmohammadi" userId="7ce0db84-c3cb-435b-9860-51974a9f0fdd" providerId="ADAL" clId="{5EA626DF-3FFC-A94A-BBF0-F63C15055432}" dt="2025-10-17T15:57:36.148" v="1" actId="20577"/>
          <ac:spMkLst>
            <pc:docMk/>
            <pc:sldMk cId="3175155015" sldId="293"/>
            <ac:spMk id="4" creationId="{58A97402-F20F-B2F1-D4AC-818323DB3036}"/>
          </ac:spMkLst>
        </pc:spChg>
      </pc:sldChg>
      <pc:sldChg chg="modSp mod">
        <pc:chgData name="Amirmohsen Golmohammadi" userId="7ce0db84-c3cb-435b-9860-51974a9f0fdd" providerId="ADAL" clId="{5EA626DF-3FFC-A94A-BBF0-F63C15055432}" dt="2025-10-17T17:04:32.086" v="13" actId="20577"/>
        <pc:sldMkLst>
          <pc:docMk/>
          <pc:sldMk cId="2110593658" sldId="297"/>
        </pc:sldMkLst>
        <pc:graphicFrameChg chg="mod modGraphic">
          <ac:chgData name="Amirmohsen Golmohammadi" userId="7ce0db84-c3cb-435b-9860-51974a9f0fdd" providerId="ADAL" clId="{5EA626DF-3FFC-A94A-BBF0-F63C15055432}" dt="2025-10-17T17:04:32.086" v="13" actId="20577"/>
          <ac:graphicFrameMkLst>
            <pc:docMk/>
            <pc:sldMk cId="2110593658" sldId="297"/>
            <ac:graphicFrameMk id="5" creationId="{5E4AD2FE-B1D1-9AEC-C9A7-6F85A2D8A8C0}"/>
          </ac:graphicFrameMkLst>
        </pc:graphicFrameChg>
      </pc:sldChg>
      <pc:sldChg chg="modSp ord">
        <pc:chgData name="Amirmohsen Golmohammadi" userId="7ce0db84-c3cb-435b-9860-51974a9f0fdd" providerId="ADAL" clId="{5EA626DF-3FFC-A94A-BBF0-F63C15055432}" dt="2025-10-20T17:18:12.009" v="100" actId="20578"/>
        <pc:sldMkLst>
          <pc:docMk/>
          <pc:sldMk cId="548235807" sldId="303"/>
        </pc:sldMkLst>
        <pc:spChg chg="mod">
          <ac:chgData name="Amirmohsen Golmohammadi" userId="7ce0db84-c3cb-435b-9860-51974a9f0fdd" providerId="ADAL" clId="{5EA626DF-3FFC-A94A-BBF0-F63C15055432}" dt="2025-10-17T17:21:01.517" v="99" actId="20577"/>
          <ac:spMkLst>
            <pc:docMk/>
            <pc:sldMk cId="548235807" sldId="303"/>
            <ac:spMk id="4" creationId="{516F3E2B-33A2-EC8E-8DBE-C7C096AC1A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D66A9A-16AD-4618-924D-B9BC32209995}" type="datetimeFigureOut">
              <a:rPr lang="en-CA" smtClean="0"/>
              <a:t>2025-10-20</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C66ADF-CD7C-484F-ACCD-98481CFD3C5C}" type="slidenum">
              <a:rPr lang="en-CA" smtClean="0"/>
              <a:t>‹#›</a:t>
            </a:fld>
            <a:endParaRPr lang="en-CA"/>
          </a:p>
        </p:txBody>
      </p:sp>
    </p:spTree>
    <p:extLst>
      <p:ext uri="{BB962C8B-B14F-4D97-AF65-F5344CB8AC3E}">
        <p14:creationId xmlns:p14="http://schemas.microsoft.com/office/powerpoint/2010/main" val="9791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a:t>
            </a:fld>
            <a:endParaRPr lang="en-CA"/>
          </a:p>
        </p:txBody>
      </p:sp>
    </p:spTree>
    <p:extLst>
      <p:ext uri="{BB962C8B-B14F-4D97-AF65-F5344CB8AC3E}">
        <p14:creationId xmlns:p14="http://schemas.microsoft.com/office/powerpoint/2010/main" val="3266036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fld id="{4012F79E-69C8-4A97-85E5-E77F87F287D0}" type="slidenum">
              <a:rPr lang="en-AU" altLang="en-US" sz="1200" smtClean="0"/>
              <a:pPr/>
              <a:t>2</a:t>
            </a:fld>
            <a:endParaRPr lang="en-AU" altLang="en-US"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110223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dirty="0"/>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fld id="{7843031E-3146-4F35-9FBD-B2441A03465C}" type="slidenum">
              <a:rPr lang="en-AU" altLang="en-US" sz="1200" smtClean="0"/>
              <a:pPr/>
              <a:t>3</a:t>
            </a:fld>
            <a:endParaRPr lang="en-AU" altLang="en-US" sz="1200"/>
          </a:p>
        </p:txBody>
      </p:sp>
    </p:spTree>
    <p:extLst>
      <p:ext uri="{BB962C8B-B14F-4D97-AF65-F5344CB8AC3E}">
        <p14:creationId xmlns:p14="http://schemas.microsoft.com/office/powerpoint/2010/main" val="3400721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6</a:t>
            </a:fld>
            <a:endParaRPr lang="en-CA"/>
          </a:p>
        </p:txBody>
      </p:sp>
    </p:spTree>
    <p:extLst>
      <p:ext uri="{BB962C8B-B14F-4D97-AF65-F5344CB8AC3E}">
        <p14:creationId xmlns:p14="http://schemas.microsoft.com/office/powerpoint/2010/main" val="3092022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7</a:t>
            </a:fld>
            <a:endParaRPr lang="en-CA"/>
          </a:p>
        </p:txBody>
      </p:sp>
    </p:spTree>
    <p:extLst>
      <p:ext uri="{BB962C8B-B14F-4D97-AF65-F5344CB8AC3E}">
        <p14:creationId xmlns:p14="http://schemas.microsoft.com/office/powerpoint/2010/main" val="3215643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13</a:t>
            </a:fld>
            <a:endParaRPr lang="en-CA"/>
          </a:p>
        </p:txBody>
      </p:sp>
    </p:spTree>
    <p:extLst>
      <p:ext uri="{BB962C8B-B14F-4D97-AF65-F5344CB8AC3E}">
        <p14:creationId xmlns:p14="http://schemas.microsoft.com/office/powerpoint/2010/main" val="2822731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3EF43D-192F-4B07-953C-71A58CC68E77}" type="slidenum">
              <a:rPr lang="en-CA" smtClean="0"/>
              <a:t>14</a:t>
            </a:fld>
            <a:endParaRPr lang="en-CA"/>
          </a:p>
        </p:txBody>
      </p:sp>
    </p:spTree>
    <p:extLst>
      <p:ext uri="{BB962C8B-B14F-4D97-AF65-F5344CB8AC3E}">
        <p14:creationId xmlns:p14="http://schemas.microsoft.com/office/powerpoint/2010/main" val="2004932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15</a:t>
            </a:fld>
            <a:endParaRPr lang="en-CA"/>
          </a:p>
        </p:txBody>
      </p:sp>
    </p:spTree>
    <p:extLst>
      <p:ext uri="{BB962C8B-B14F-4D97-AF65-F5344CB8AC3E}">
        <p14:creationId xmlns:p14="http://schemas.microsoft.com/office/powerpoint/2010/main" val="1323400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18</a:t>
            </a:fld>
            <a:endParaRPr lang="en-CA"/>
          </a:p>
        </p:txBody>
      </p:sp>
    </p:spTree>
    <p:extLst>
      <p:ext uri="{BB962C8B-B14F-4D97-AF65-F5344CB8AC3E}">
        <p14:creationId xmlns:p14="http://schemas.microsoft.com/office/powerpoint/2010/main" val="742889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19</a:t>
            </a:fld>
            <a:endParaRPr lang="en-CA"/>
          </a:p>
        </p:txBody>
      </p:sp>
    </p:spTree>
    <p:extLst>
      <p:ext uri="{BB962C8B-B14F-4D97-AF65-F5344CB8AC3E}">
        <p14:creationId xmlns:p14="http://schemas.microsoft.com/office/powerpoint/2010/main" val="2379854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22</a:t>
            </a:fld>
            <a:endParaRPr lang="en-CA"/>
          </a:p>
        </p:txBody>
      </p:sp>
    </p:spTree>
    <p:extLst>
      <p:ext uri="{BB962C8B-B14F-4D97-AF65-F5344CB8AC3E}">
        <p14:creationId xmlns:p14="http://schemas.microsoft.com/office/powerpoint/2010/main" val="1927218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25</a:t>
            </a:fld>
            <a:endParaRPr lang="en-CA"/>
          </a:p>
        </p:txBody>
      </p:sp>
    </p:spTree>
    <p:extLst>
      <p:ext uri="{BB962C8B-B14F-4D97-AF65-F5344CB8AC3E}">
        <p14:creationId xmlns:p14="http://schemas.microsoft.com/office/powerpoint/2010/main" val="2819069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27</a:t>
            </a:fld>
            <a:endParaRPr lang="en-CA"/>
          </a:p>
        </p:txBody>
      </p:sp>
    </p:spTree>
    <p:extLst>
      <p:ext uri="{BB962C8B-B14F-4D97-AF65-F5344CB8AC3E}">
        <p14:creationId xmlns:p14="http://schemas.microsoft.com/office/powerpoint/2010/main" val="3973372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28</a:t>
            </a:fld>
            <a:endParaRPr lang="en-CA"/>
          </a:p>
        </p:txBody>
      </p:sp>
    </p:spTree>
    <p:extLst>
      <p:ext uri="{BB962C8B-B14F-4D97-AF65-F5344CB8AC3E}">
        <p14:creationId xmlns:p14="http://schemas.microsoft.com/office/powerpoint/2010/main" val="764370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pic>
        <p:nvPicPr>
          <p:cNvPr id="2" name="Picture 2" descr="Ontario Tech University – OUInfo">
            <a:extLst>
              <a:ext uri="{FF2B5EF4-FFF2-40B4-BE49-F238E27FC236}">
                <a16:creationId xmlns:a16="http://schemas.microsoft.com/office/drawing/2014/main" id="{A7FBD20D-25EF-CE9F-DF7C-0222E673860F}"/>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5470" t="18786" r="7182" b="18369"/>
          <a:stretch/>
        </p:blipFill>
        <p:spPr bwMode="auto">
          <a:xfrm>
            <a:off x="2699792" y="5229200"/>
            <a:ext cx="3672408" cy="93610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632288" y="-114482"/>
            <a:ext cx="7772400" cy="1143000"/>
          </a:xfrm>
          <a:prstGeom prst="rect">
            <a:avLst/>
          </a:prstGeom>
        </p:spPr>
        <p:txBody>
          <a:bodyPr bIns="91440" anchor="b" anchorCtr="0">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611560" y="1447800"/>
            <a:ext cx="8075240" cy="4789512"/>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pic>
        <p:nvPicPr>
          <p:cNvPr id="2" name="Picture 2" descr="Ontario Tech University – OUInfo">
            <a:extLst>
              <a:ext uri="{FF2B5EF4-FFF2-40B4-BE49-F238E27FC236}">
                <a16:creationId xmlns:a16="http://schemas.microsoft.com/office/drawing/2014/main" id="{08C38C11-CD61-8F76-D948-FBEE34CB78C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060864" y="237208"/>
            <a:ext cx="2687600" cy="95217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ftr="0" dt="0"/>
  <p:txStyles>
    <p:titleStyle>
      <a:lvl1pPr algn="l" rtl="0" eaLnBrk="1" latinLnBrk="0" hangingPunct="1">
        <a:spcBef>
          <a:spcPct val="0"/>
        </a:spcBef>
        <a:buNone/>
        <a:defRPr kumimoji="0" sz="3200" kern="1200">
          <a:solidFill>
            <a:srgbClr val="7030A0"/>
          </a:solidFill>
          <a:latin typeface="Times New Roman" panose="02020603050405020304" pitchFamily="18" charset="0"/>
          <a:ea typeface="+mj-ea"/>
          <a:cs typeface="Times New Roman" panose="02020603050405020304" pitchFamily="18" charset="0"/>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3" Type="http://schemas.openxmlformats.org/officeDocument/2006/relationships/image" Target="../media/image9.wmf"/><Relationship Id="rId18" Type="http://schemas.openxmlformats.org/officeDocument/2006/relationships/oleObject" Target="../embeddings/oleObject9.bin"/><Relationship Id="rId26" Type="http://schemas.openxmlformats.org/officeDocument/2006/relationships/image" Target="../media/image15.wmf"/><Relationship Id="rId21" Type="http://schemas.openxmlformats.org/officeDocument/2006/relationships/image" Target="../media/image13.wmf"/><Relationship Id="rId34" Type="http://schemas.openxmlformats.org/officeDocument/2006/relationships/image" Target="../media/image19.wmf"/><Relationship Id="rId7" Type="http://schemas.openxmlformats.org/officeDocument/2006/relationships/image" Target="../media/image6.wmf"/><Relationship Id="rId12" Type="http://schemas.openxmlformats.org/officeDocument/2006/relationships/oleObject" Target="../embeddings/oleObject6.bin"/><Relationship Id="rId17" Type="http://schemas.openxmlformats.org/officeDocument/2006/relationships/image" Target="../media/image11.wmf"/><Relationship Id="rId25" Type="http://schemas.openxmlformats.org/officeDocument/2006/relationships/oleObject" Target="../embeddings/oleObject13.bin"/><Relationship Id="rId33" Type="http://schemas.openxmlformats.org/officeDocument/2006/relationships/oleObject" Target="../embeddings/oleObject17.bin"/><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8.wmf"/><Relationship Id="rId24" Type="http://schemas.openxmlformats.org/officeDocument/2006/relationships/oleObject" Target="../embeddings/oleObject12.bin"/><Relationship Id="rId32" Type="http://schemas.openxmlformats.org/officeDocument/2006/relationships/image" Target="../media/image18.wmf"/><Relationship Id="rId37" Type="http://schemas.openxmlformats.org/officeDocument/2006/relationships/oleObject" Target="../embeddings/oleObject19.bin"/><Relationship Id="rId5" Type="http://schemas.openxmlformats.org/officeDocument/2006/relationships/image" Target="../media/image5.wmf"/><Relationship Id="rId15" Type="http://schemas.openxmlformats.org/officeDocument/2006/relationships/image" Target="../media/image10.wmf"/><Relationship Id="rId23" Type="http://schemas.openxmlformats.org/officeDocument/2006/relationships/image" Target="../media/image14.wmf"/><Relationship Id="rId28" Type="http://schemas.openxmlformats.org/officeDocument/2006/relationships/image" Target="../media/image16.wmf"/><Relationship Id="rId36" Type="http://schemas.openxmlformats.org/officeDocument/2006/relationships/image" Target="../media/image20.wmf"/><Relationship Id="rId10" Type="http://schemas.openxmlformats.org/officeDocument/2006/relationships/oleObject" Target="../embeddings/oleObject5.bin"/><Relationship Id="rId19" Type="http://schemas.openxmlformats.org/officeDocument/2006/relationships/image" Target="../media/image12.wmf"/><Relationship Id="rId31" Type="http://schemas.openxmlformats.org/officeDocument/2006/relationships/oleObject" Target="../embeddings/oleObject16.bin"/><Relationship Id="rId4" Type="http://schemas.openxmlformats.org/officeDocument/2006/relationships/oleObject" Target="../embeddings/oleObject2.bin"/><Relationship Id="rId9" Type="http://schemas.openxmlformats.org/officeDocument/2006/relationships/image" Target="../media/image7.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oleObject" Target="../embeddings/oleObject14.bin"/><Relationship Id="rId30" Type="http://schemas.openxmlformats.org/officeDocument/2006/relationships/image" Target="../media/image17.wmf"/><Relationship Id="rId35" Type="http://schemas.openxmlformats.org/officeDocument/2006/relationships/oleObject" Target="../embeddings/oleObject18.bin"/><Relationship Id="rId8" Type="http://schemas.openxmlformats.org/officeDocument/2006/relationships/oleObject" Target="../embeddings/oleObject4.bin"/><Relationship Id="rId3" Type="http://schemas.openxmlformats.org/officeDocument/2006/relationships/image" Target="../media/image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3" Type="http://schemas.openxmlformats.org/officeDocument/2006/relationships/oleObject" Target="../embeddings/oleObject6.bin"/><Relationship Id="rId18" Type="http://schemas.openxmlformats.org/officeDocument/2006/relationships/image" Target="../media/image11.wmf"/><Relationship Id="rId26" Type="http://schemas.openxmlformats.org/officeDocument/2006/relationships/oleObject" Target="../embeddings/oleObject13.bin"/><Relationship Id="rId21" Type="http://schemas.openxmlformats.org/officeDocument/2006/relationships/oleObject" Target="../embeddings/oleObject10.bin"/><Relationship Id="rId34" Type="http://schemas.openxmlformats.org/officeDocument/2006/relationships/oleObject" Target="../embeddings/oleObject17.bin"/><Relationship Id="rId7" Type="http://schemas.openxmlformats.org/officeDocument/2006/relationships/oleObject" Target="../embeddings/oleObject3.bin"/><Relationship Id="rId12" Type="http://schemas.openxmlformats.org/officeDocument/2006/relationships/image" Target="../media/image8.w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image" Target="../media/image18.wmf"/><Relationship Id="rId38" Type="http://schemas.openxmlformats.org/officeDocument/2006/relationships/oleObject" Target="../embeddings/oleObject19.bin"/><Relationship Id="rId2" Type="http://schemas.openxmlformats.org/officeDocument/2006/relationships/image" Target="../media/image210.png"/><Relationship Id="rId16" Type="http://schemas.openxmlformats.org/officeDocument/2006/relationships/image" Target="../media/image10.wmf"/><Relationship Id="rId20" Type="http://schemas.openxmlformats.org/officeDocument/2006/relationships/image" Target="../media/image12.wmf"/><Relationship Id="rId29"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5.bin"/><Relationship Id="rId24" Type="http://schemas.openxmlformats.org/officeDocument/2006/relationships/image" Target="../media/image14.wmf"/><Relationship Id="rId32" Type="http://schemas.openxmlformats.org/officeDocument/2006/relationships/oleObject" Target="../embeddings/oleObject16.bin"/><Relationship Id="rId37" Type="http://schemas.openxmlformats.org/officeDocument/2006/relationships/image" Target="../media/image20.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oleObject" Target="../embeddings/oleObject14.bin"/><Relationship Id="rId36" Type="http://schemas.openxmlformats.org/officeDocument/2006/relationships/oleObject" Target="../embeddings/oleObject18.bin"/><Relationship Id="rId10" Type="http://schemas.openxmlformats.org/officeDocument/2006/relationships/image" Target="../media/image7.wmf"/><Relationship Id="rId19" Type="http://schemas.openxmlformats.org/officeDocument/2006/relationships/oleObject" Target="../embeddings/oleObject9.bin"/><Relationship Id="rId31" Type="http://schemas.openxmlformats.org/officeDocument/2006/relationships/image" Target="../media/image17.wmf"/><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image" Target="../media/image9.wmf"/><Relationship Id="rId22" Type="http://schemas.openxmlformats.org/officeDocument/2006/relationships/image" Target="../media/image13.wmf"/><Relationship Id="rId27" Type="http://schemas.openxmlformats.org/officeDocument/2006/relationships/image" Target="../media/image15.wmf"/><Relationship Id="rId30" Type="http://schemas.openxmlformats.org/officeDocument/2006/relationships/oleObject" Target="../embeddings/oleObject15.bin"/><Relationship Id="rId35" Type="http://schemas.openxmlformats.org/officeDocument/2006/relationships/image" Target="../media/image19.wmf"/><Relationship Id="rId8" Type="http://schemas.openxmlformats.org/officeDocument/2006/relationships/image" Target="../media/image6.wmf"/><Relationship Id="rId3"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26.wmf"/><Relationship Id="rId18" Type="http://schemas.openxmlformats.org/officeDocument/2006/relationships/oleObject" Target="../embeddings/oleObject28.bin"/><Relationship Id="rId3" Type="http://schemas.openxmlformats.org/officeDocument/2006/relationships/image" Target="../media/image21.wmf"/><Relationship Id="rId7" Type="http://schemas.openxmlformats.org/officeDocument/2006/relationships/image" Target="../media/image23.wmf"/><Relationship Id="rId12" Type="http://schemas.openxmlformats.org/officeDocument/2006/relationships/oleObject" Target="../embeddings/oleObject25.bin"/><Relationship Id="rId17" Type="http://schemas.openxmlformats.org/officeDocument/2006/relationships/image" Target="../media/image28.wmf"/><Relationship Id="rId2" Type="http://schemas.openxmlformats.org/officeDocument/2006/relationships/oleObject" Target="../embeddings/oleObject20.bin"/><Relationship Id="rId16"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image" Target="../media/image25.wmf"/><Relationship Id="rId5" Type="http://schemas.openxmlformats.org/officeDocument/2006/relationships/image" Target="../media/image22.wmf"/><Relationship Id="rId15" Type="http://schemas.openxmlformats.org/officeDocument/2006/relationships/image" Target="../media/image27.wmf"/><Relationship Id="rId10" Type="http://schemas.openxmlformats.org/officeDocument/2006/relationships/oleObject" Target="../embeddings/oleObject24.bin"/><Relationship Id="rId19" Type="http://schemas.openxmlformats.org/officeDocument/2006/relationships/image" Target="../media/image29.wmf"/><Relationship Id="rId4" Type="http://schemas.openxmlformats.org/officeDocument/2006/relationships/oleObject" Target="../embeddings/oleObject21.bin"/><Relationship Id="rId9" Type="http://schemas.openxmlformats.org/officeDocument/2006/relationships/image" Target="../media/image24.wmf"/><Relationship Id="rId14" Type="http://schemas.openxmlformats.org/officeDocument/2006/relationships/oleObject" Target="../embeddings/oleObject26.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34.bin"/><Relationship Id="rId18" Type="http://schemas.openxmlformats.org/officeDocument/2006/relationships/image" Target="../media/image37.wmf"/><Relationship Id="rId26" Type="http://schemas.openxmlformats.org/officeDocument/2006/relationships/image" Target="../media/image41.wmf"/><Relationship Id="rId3" Type="http://schemas.openxmlformats.org/officeDocument/2006/relationships/oleObject" Target="../embeddings/oleObject29.bin"/><Relationship Id="rId21" Type="http://schemas.openxmlformats.org/officeDocument/2006/relationships/oleObject" Target="../embeddings/oleObject38.bin"/><Relationship Id="rId7" Type="http://schemas.openxmlformats.org/officeDocument/2006/relationships/oleObject" Target="../embeddings/oleObject31.bin"/><Relationship Id="rId12" Type="http://schemas.openxmlformats.org/officeDocument/2006/relationships/image" Target="../media/image34.wmf"/><Relationship Id="rId17" Type="http://schemas.openxmlformats.org/officeDocument/2006/relationships/oleObject" Target="../embeddings/oleObject36.bin"/><Relationship Id="rId25" Type="http://schemas.openxmlformats.org/officeDocument/2006/relationships/oleObject" Target="../embeddings/oleObject40.bin"/><Relationship Id="rId2" Type="http://schemas.openxmlformats.org/officeDocument/2006/relationships/notesSlide" Target="../notesSlides/notesSlide13.xml"/><Relationship Id="rId16" Type="http://schemas.openxmlformats.org/officeDocument/2006/relationships/image" Target="../media/image36.wmf"/><Relationship Id="rId20" Type="http://schemas.openxmlformats.org/officeDocument/2006/relationships/image" Target="../media/image38.wmf"/><Relationship Id="rId1" Type="http://schemas.openxmlformats.org/officeDocument/2006/relationships/slideLayout" Target="../slideLayouts/slideLayout2.xml"/><Relationship Id="rId6" Type="http://schemas.openxmlformats.org/officeDocument/2006/relationships/image" Target="../media/image31.wmf"/><Relationship Id="rId11" Type="http://schemas.openxmlformats.org/officeDocument/2006/relationships/oleObject" Target="../embeddings/oleObject33.bin"/><Relationship Id="rId24" Type="http://schemas.openxmlformats.org/officeDocument/2006/relationships/image" Target="../media/image40.wmf"/><Relationship Id="rId5" Type="http://schemas.openxmlformats.org/officeDocument/2006/relationships/oleObject" Target="../embeddings/oleObject30.bin"/><Relationship Id="rId15" Type="http://schemas.openxmlformats.org/officeDocument/2006/relationships/oleObject" Target="../embeddings/oleObject35.bin"/><Relationship Id="rId23" Type="http://schemas.openxmlformats.org/officeDocument/2006/relationships/oleObject" Target="../embeddings/oleObject39.bin"/><Relationship Id="rId10" Type="http://schemas.openxmlformats.org/officeDocument/2006/relationships/image" Target="../media/image33.wmf"/><Relationship Id="rId19" Type="http://schemas.openxmlformats.org/officeDocument/2006/relationships/oleObject" Target="../embeddings/oleObject37.bin"/><Relationship Id="rId4" Type="http://schemas.openxmlformats.org/officeDocument/2006/relationships/image" Target="../media/image30.wmf"/><Relationship Id="rId9" Type="http://schemas.openxmlformats.org/officeDocument/2006/relationships/oleObject" Target="../embeddings/oleObject32.bin"/><Relationship Id="rId14" Type="http://schemas.openxmlformats.org/officeDocument/2006/relationships/image" Target="../media/image35.wmf"/><Relationship Id="rId22" Type="http://schemas.openxmlformats.org/officeDocument/2006/relationships/image" Target="../media/image39.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
        <p:nvSpPr>
          <p:cNvPr id="2" name="Title 1"/>
          <p:cNvSpPr>
            <a:spLocks noGrp="1"/>
          </p:cNvSpPr>
          <p:nvPr>
            <p:ph type="ctrTitle"/>
          </p:nvPr>
        </p:nvSpPr>
        <p:spPr/>
        <p:txBody>
          <a:bodyPr>
            <a:normAutofit/>
          </a:bodyPr>
          <a:lstStyle/>
          <a:p>
            <a:r>
              <a:rPr lang="en-CA" sz="4800" dirty="0">
                <a:latin typeface="+mn-lt"/>
              </a:rPr>
              <a:t>Forecasting</a:t>
            </a:r>
          </a:p>
        </p:txBody>
      </p:sp>
      <p:sp>
        <p:nvSpPr>
          <p:cNvPr id="3" name="TextBox 2">
            <a:extLst>
              <a:ext uri="{FF2B5EF4-FFF2-40B4-BE49-F238E27FC236}">
                <a16:creationId xmlns:a16="http://schemas.microsoft.com/office/drawing/2014/main" id="{13A46A30-48B8-A1D5-22FF-ED75012D9EC8}"/>
              </a:ext>
            </a:extLst>
          </p:cNvPr>
          <p:cNvSpPr txBox="1"/>
          <p:nvPr/>
        </p:nvSpPr>
        <p:spPr>
          <a:xfrm>
            <a:off x="3162528" y="3284984"/>
            <a:ext cx="2818943" cy="523220"/>
          </a:xfrm>
          <a:prstGeom prst="rect">
            <a:avLst/>
          </a:prstGeom>
          <a:noFill/>
        </p:spPr>
        <p:txBody>
          <a:bodyPr wrap="square" rtlCol="0">
            <a:spAutoFit/>
          </a:bodyPr>
          <a:lstStyle/>
          <a:p>
            <a:pPr algn="ctr"/>
            <a:r>
              <a:rPr lang="en-US" sz="2800" dirty="0"/>
              <a:t>Business Analytics</a:t>
            </a:r>
          </a:p>
        </p:txBody>
      </p:sp>
    </p:spTree>
    <p:extLst>
      <p:ext uri="{BB962C8B-B14F-4D97-AF65-F5344CB8AC3E}">
        <p14:creationId xmlns:p14="http://schemas.microsoft.com/office/powerpoint/2010/main" val="2293728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598367" y="231893"/>
            <a:ext cx="7772400" cy="1143000"/>
          </a:xfrm>
        </p:spPr>
        <p:txBody>
          <a:bodyPr lIns="99994" tIns="49997" rIns="99994" bIns="49997" anchor="ctr" anchorCtr="1">
            <a:normAutofit/>
          </a:bodyPr>
          <a:lstStyle/>
          <a:p>
            <a:pPr eaLnBrk="1" hangingPunct="1">
              <a:defRPr/>
            </a:pPr>
            <a:r>
              <a:rPr lang="en-US" dirty="0"/>
              <a:t>What is Forecasting?</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
        <p:nvSpPr>
          <p:cNvPr id="40963" name="Rectangle 3"/>
          <p:cNvSpPr>
            <a:spLocks noChangeArrowheads="1"/>
          </p:cNvSpPr>
          <p:nvPr/>
        </p:nvSpPr>
        <p:spPr bwMode="auto">
          <a:xfrm>
            <a:off x="558800" y="1600200"/>
            <a:ext cx="768032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8954" tIns="48608" rIns="98954" bIns="48608"/>
          <a:lstStyle>
            <a:lvl1pPr marL="533400" indent="-533400">
              <a:defRPr sz="2400">
                <a:solidFill>
                  <a:schemeClr val="tx1"/>
                </a:solidFill>
                <a:latin typeface="Arial" charset="0"/>
                <a:ea typeface="ＭＳ Ｐゴシック" charset="-128"/>
              </a:defRPr>
            </a:lvl1pPr>
            <a:lvl2pPr marL="1168400" indent="-455613">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algn="l" eaLnBrk="1" hangingPunct="1">
              <a:lnSpc>
                <a:spcPct val="90000"/>
              </a:lnSpc>
              <a:spcAft>
                <a:spcPct val="40000"/>
              </a:spcAft>
              <a:buClr>
                <a:srgbClr val="BF0922"/>
              </a:buClr>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Process of predicting a future event</a:t>
            </a:r>
          </a:p>
          <a:p>
            <a:pPr algn="l" eaLnBrk="1" hangingPunct="1">
              <a:lnSpc>
                <a:spcPct val="90000"/>
              </a:lnSpc>
              <a:spcAft>
                <a:spcPct val="40000"/>
              </a:spcAft>
              <a:buClr>
                <a:srgbClr val="BF0922"/>
              </a:buClr>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Underlying basis of all business decisions</a:t>
            </a:r>
          </a:p>
          <a:p>
            <a:pPr lvl="1" algn="l" eaLnBrk="1" hangingPunct="1">
              <a:lnSpc>
                <a:spcPct val="90000"/>
              </a:lnSpc>
              <a:spcAft>
                <a:spcPct val="40000"/>
              </a:spcAft>
              <a:buClr>
                <a:srgbClr val="BF0922"/>
              </a:buCl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Production</a:t>
            </a:r>
          </a:p>
          <a:p>
            <a:pPr lvl="1" algn="l" eaLnBrk="1" hangingPunct="1">
              <a:lnSpc>
                <a:spcPct val="90000"/>
              </a:lnSpc>
              <a:spcAft>
                <a:spcPct val="40000"/>
              </a:spcAft>
              <a:buClr>
                <a:srgbClr val="BF0922"/>
              </a:buCl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Inventory</a:t>
            </a:r>
          </a:p>
          <a:p>
            <a:pPr lvl="1" algn="l" eaLnBrk="1" hangingPunct="1">
              <a:lnSpc>
                <a:spcPct val="90000"/>
              </a:lnSpc>
              <a:spcAft>
                <a:spcPct val="40000"/>
              </a:spcAft>
              <a:buClr>
                <a:srgbClr val="BF0922"/>
              </a:buCl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Personnel</a:t>
            </a:r>
          </a:p>
          <a:p>
            <a:pPr lvl="1" algn="l" eaLnBrk="1" hangingPunct="1">
              <a:lnSpc>
                <a:spcPct val="90000"/>
              </a:lnSpc>
              <a:spcAft>
                <a:spcPct val="40000"/>
              </a:spcAft>
              <a:buClr>
                <a:srgbClr val="BF0922"/>
              </a:buClr>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Facilities</a:t>
            </a:r>
          </a:p>
        </p:txBody>
      </p:sp>
    </p:spTree>
    <p:extLst>
      <p:ext uri="{BB962C8B-B14F-4D97-AF65-F5344CB8AC3E}">
        <p14:creationId xmlns:p14="http://schemas.microsoft.com/office/powerpoint/2010/main" val="2562518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048272" y="-171400"/>
            <a:ext cx="7772400" cy="1143000"/>
          </a:xfrm>
        </p:spPr>
        <p:txBody>
          <a:bodyPr anchorCtr="1">
            <a:normAutofit/>
          </a:bodyPr>
          <a:lstStyle/>
          <a:p>
            <a:pPr eaLnBrk="1" hangingPunct="1">
              <a:defRPr/>
            </a:pPr>
            <a:r>
              <a:rPr lang="en-US" dirty="0"/>
              <a:t>The Realities!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
        <p:nvSpPr>
          <p:cNvPr id="58371" name="Rectangle 3"/>
          <p:cNvSpPr>
            <a:spLocks noChangeArrowheads="1"/>
          </p:cNvSpPr>
          <p:nvPr/>
        </p:nvSpPr>
        <p:spPr bwMode="auto">
          <a:xfrm>
            <a:off x="739080" y="1412776"/>
            <a:ext cx="8153400" cy="3982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marL="457200" indent="-457200" algn="l">
              <a:lnSpc>
                <a:spcPct val="90000"/>
              </a:lnSpc>
              <a:spcAft>
                <a:spcPct val="40000"/>
              </a:spcAft>
              <a:buClr>
                <a:srgbClr val="BF0922"/>
              </a:buClr>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Forecasts are seldom perfect</a:t>
            </a:r>
          </a:p>
          <a:p>
            <a:pPr marL="457200" indent="-457200" algn="l">
              <a:lnSpc>
                <a:spcPct val="90000"/>
              </a:lnSpc>
              <a:spcAft>
                <a:spcPct val="40000"/>
              </a:spcAft>
              <a:buClr>
                <a:srgbClr val="BF0922"/>
              </a:buClr>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a:p>
            <a:pPr marL="457200" indent="-457200" algn="l">
              <a:lnSpc>
                <a:spcPct val="90000"/>
              </a:lnSpc>
              <a:spcAft>
                <a:spcPct val="40000"/>
              </a:spcAft>
              <a:buClr>
                <a:srgbClr val="BF0922"/>
              </a:buClr>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Most techniques assume an underlying stability in the system</a:t>
            </a:r>
          </a:p>
          <a:p>
            <a:pPr marL="457200" indent="-457200" algn="l">
              <a:lnSpc>
                <a:spcPct val="90000"/>
              </a:lnSpc>
              <a:spcAft>
                <a:spcPct val="40000"/>
              </a:spcAft>
              <a:buClr>
                <a:srgbClr val="BF0922"/>
              </a:buClr>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a:p>
            <a:pPr marL="457200" indent="-457200" algn="l">
              <a:lnSpc>
                <a:spcPct val="90000"/>
              </a:lnSpc>
              <a:spcAft>
                <a:spcPct val="40000"/>
              </a:spcAft>
              <a:buClr>
                <a:srgbClr val="BF0922"/>
              </a:buClr>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Aggregated forecasts are more accurate than individual forecasts</a:t>
            </a:r>
          </a:p>
        </p:txBody>
      </p:sp>
    </p:spTree>
    <p:extLst>
      <p:ext uri="{BB962C8B-B14F-4D97-AF65-F5344CB8AC3E}">
        <p14:creationId xmlns:p14="http://schemas.microsoft.com/office/powerpoint/2010/main" val="1145000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004BA-CBF1-9A55-F7F6-B96D7CDA65CC}"/>
              </a:ext>
            </a:extLst>
          </p:cNvPr>
          <p:cNvSpPr>
            <a:spLocks noGrp="1"/>
          </p:cNvSpPr>
          <p:nvPr>
            <p:ph type="title"/>
          </p:nvPr>
        </p:nvSpPr>
        <p:spPr/>
        <p:txBody>
          <a:bodyPr/>
          <a:lstStyle/>
          <a:p>
            <a:r>
              <a:rPr lang="en-US" dirty="0"/>
              <a:t>Forecasting Approaches</a:t>
            </a:r>
          </a:p>
        </p:txBody>
      </p:sp>
      <p:sp>
        <p:nvSpPr>
          <p:cNvPr id="3" name="Slide Number Placeholder 2">
            <a:extLst>
              <a:ext uri="{FF2B5EF4-FFF2-40B4-BE49-F238E27FC236}">
                <a16:creationId xmlns:a16="http://schemas.microsoft.com/office/drawing/2014/main" id="{E031D2B4-057A-FB2B-A862-E6BC8B0B9020}"/>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Content Placeholder 3">
            <a:extLst>
              <a:ext uri="{FF2B5EF4-FFF2-40B4-BE49-F238E27FC236}">
                <a16:creationId xmlns:a16="http://schemas.microsoft.com/office/drawing/2014/main" id="{55F9F91B-FB89-E7A3-B986-B174D16F4CA5}"/>
              </a:ext>
            </a:extLst>
          </p:cNvPr>
          <p:cNvSpPr>
            <a:spLocks noGrp="1"/>
          </p:cNvSpPr>
          <p:nvPr>
            <p:ph sz="quarter" idx="1"/>
          </p:nvPr>
        </p:nvSpPr>
        <p:spPr>
          <a:xfrm>
            <a:off x="914400" y="1447800"/>
            <a:ext cx="7772400" cy="5219700"/>
          </a:xfrm>
        </p:spPr>
        <p:txBody>
          <a:bodyPr>
            <a:normAutofit/>
          </a:bodyPr>
          <a:lstStyle/>
          <a:p>
            <a:pPr marL="514350" indent="-514350">
              <a:buFont typeface="+mj-lt"/>
              <a:buAutoNum type="arabicPeriod"/>
            </a:pPr>
            <a:r>
              <a:rPr lang="en-US" b="1" dirty="0">
                <a:solidFill>
                  <a:srgbClr val="FF0000"/>
                </a:solidFill>
              </a:rPr>
              <a:t>Qualitative methods</a:t>
            </a:r>
          </a:p>
          <a:p>
            <a:pPr marL="788670" lvl="1" indent="-514350"/>
            <a:r>
              <a:rPr lang="en-US" dirty="0"/>
              <a:t>Involves intuition and experience.</a:t>
            </a:r>
          </a:p>
          <a:p>
            <a:pPr marL="788670" lvl="1" indent="-514350"/>
            <a:r>
              <a:rPr lang="en-US" dirty="0"/>
              <a:t>Used when situation is vague and little data exist.</a:t>
            </a:r>
          </a:p>
          <a:p>
            <a:pPr marL="788670" lvl="1" indent="-514350"/>
            <a:r>
              <a:rPr lang="en-US" dirty="0"/>
              <a:t>E.g.: Delphi Method, Consumer market survey</a:t>
            </a:r>
          </a:p>
          <a:p>
            <a:pPr marL="514350" indent="-514350">
              <a:buFont typeface="+mj-lt"/>
              <a:buAutoNum type="arabicPeriod"/>
            </a:pPr>
            <a:r>
              <a:rPr lang="en-US" b="1" dirty="0">
                <a:solidFill>
                  <a:srgbClr val="FF0000"/>
                </a:solidFill>
              </a:rPr>
              <a:t>Quantitative methods</a:t>
            </a:r>
          </a:p>
          <a:p>
            <a:pPr marL="788670" lvl="1" indent="-514350"/>
            <a:r>
              <a:rPr lang="en-US" dirty="0"/>
              <a:t>Used when historical data exists</a:t>
            </a:r>
          </a:p>
          <a:p>
            <a:pPr marL="788670" lvl="1" indent="-514350"/>
            <a:r>
              <a:rPr lang="en-US" dirty="0"/>
              <a:t>Involves mathematical techniques</a:t>
            </a:r>
          </a:p>
          <a:p>
            <a:pPr marL="788670" lvl="1" indent="-514350">
              <a:buFont typeface="+mj-lt"/>
              <a:buAutoNum type="arabicPeriod"/>
            </a:pPr>
            <a:r>
              <a:rPr lang="en-US" b="1" dirty="0"/>
              <a:t>Time series</a:t>
            </a:r>
          </a:p>
          <a:p>
            <a:pPr marL="1062990" lvl="2" indent="-514350"/>
            <a:r>
              <a:rPr lang="en-US" dirty="0"/>
              <a:t>Observations of any variable recorded over time in sequential order.</a:t>
            </a:r>
            <a:endParaRPr lang="en-US" b="1" dirty="0"/>
          </a:p>
          <a:p>
            <a:pPr marL="788670" lvl="1" indent="-514350">
              <a:buFont typeface="+mj-lt"/>
              <a:buAutoNum type="arabicPeriod"/>
            </a:pPr>
            <a:r>
              <a:rPr lang="en-US" b="1" dirty="0"/>
              <a:t>Associative (causal ) forecasting methods</a:t>
            </a:r>
          </a:p>
          <a:p>
            <a:pPr marL="1062990" lvl="2" indent="-514350"/>
            <a:r>
              <a:rPr lang="en-US" dirty="0"/>
              <a:t>Use the relationship between the response variable and one or more independent variables (e.g., regression analysis).</a:t>
            </a:r>
          </a:p>
        </p:txBody>
      </p:sp>
      <p:sp>
        <p:nvSpPr>
          <p:cNvPr id="5" name="Rectangle 4">
            <a:extLst>
              <a:ext uri="{FF2B5EF4-FFF2-40B4-BE49-F238E27FC236}">
                <a16:creationId xmlns:a16="http://schemas.microsoft.com/office/drawing/2014/main" id="{A4271ED9-E311-A4CC-1F60-2FEA83092A4F}"/>
              </a:ext>
            </a:extLst>
          </p:cNvPr>
          <p:cNvSpPr/>
          <p:nvPr/>
        </p:nvSpPr>
        <p:spPr>
          <a:xfrm>
            <a:off x="1092188" y="4437112"/>
            <a:ext cx="7416824" cy="1143000"/>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213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34E5-9AF4-FF6C-6EA8-364E05B81184}"/>
              </a:ext>
            </a:extLst>
          </p:cNvPr>
          <p:cNvSpPr>
            <a:spLocks noGrp="1"/>
          </p:cNvSpPr>
          <p:nvPr>
            <p:ph type="title"/>
          </p:nvPr>
        </p:nvSpPr>
        <p:spPr/>
        <p:txBody>
          <a:bodyPr>
            <a:normAutofit/>
          </a:bodyPr>
          <a:lstStyle/>
          <a:p>
            <a:r>
              <a:rPr lang="en-US" dirty="0"/>
              <a:t>Time-Series Forecasting </a:t>
            </a:r>
          </a:p>
        </p:txBody>
      </p:sp>
      <p:sp>
        <p:nvSpPr>
          <p:cNvPr id="3" name="Slide Number Placeholder 2">
            <a:extLst>
              <a:ext uri="{FF2B5EF4-FFF2-40B4-BE49-F238E27FC236}">
                <a16:creationId xmlns:a16="http://schemas.microsoft.com/office/drawing/2014/main" id="{88A0B8B5-0809-B242-47DC-24B87697A136}"/>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Content Placeholder 3">
            <a:extLst>
              <a:ext uri="{FF2B5EF4-FFF2-40B4-BE49-F238E27FC236}">
                <a16:creationId xmlns:a16="http://schemas.microsoft.com/office/drawing/2014/main" id="{58A97402-F20F-B2F1-D4AC-818323DB3036}"/>
              </a:ext>
            </a:extLst>
          </p:cNvPr>
          <p:cNvSpPr>
            <a:spLocks noGrp="1"/>
          </p:cNvSpPr>
          <p:nvPr>
            <p:ph sz="quarter" idx="1"/>
          </p:nvPr>
        </p:nvSpPr>
        <p:spPr>
          <a:xfrm>
            <a:off x="914400" y="1447800"/>
            <a:ext cx="7772400" cy="5077544"/>
          </a:xfrm>
        </p:spPr>
        <p:txBody>
          <a:bodyPr/>
          <a:lstStyle/>
          <a:p>
            <a:r>
              <a:rPr lang="en-US" dirty="0"/>
              <a:t>A time series is a set of sequential observations of a variable recorded over time.</a:t>
            </a:r>
          </a:p>
          <a:p>
            <a:r>
              <a:rPr lang="en-US" dirty="0"/>
              <a:t>Time periods can be expressed as year, quarter, month, week, day, etc.</a:t>
            </a:r>
          </a:p>
          <a:p>
            <a:r>
              <a:rPr lang="en-US" dirty="0"/>
              <a:t>A time series is characterized by four components:</a:t>
            </a:r>
          </a:p>
          <a:p>
            <a:pPr marL="777240" lvl="1" indent="-457200">
              <a:buFont typeface="+mj-lt"/>
              <a:buAutoNum type="arabicPeriod"/>
            </a:pPr>
            <a:r>
              <a:rPr lang="en-US" b="1" dirty="0"/>
              <a:t>Trend:</a:t>
            </a:r>
            <a:r>
              <a:rPr lang="en-US" dirty="0"/>
              <a:t> long-term up/down movements</a:t>
            </a:r>
          </a:p>
          <a:p>
            <a:pPr marL="777240" lvl="1" indent="-457200">
              <a:buFont typeface="+mj-lt"/>
              <a:buAutoNum type="arabicPeriod"/>
            </a:pPr>
            <a:r>
              <a:rPr lang="en-US" b="1" dirty="0"/>
              <a:t>Seasonal:</a:t>
            </a:r>
            <a:r>
              <a:rPr lang="en-US" dirty="0"/>
              <a:t> regular pattern of up and down fluctuations</a:t>
            </a:r>
          </a:p>
          <a:p>
            <a:pPr marL="777240" lvl="1" indent="-457200">
              <a:buFont typeface="+mj-lt"/>
              <a:buAutoNum type="arabicPeriod"/>
            </a:pPr>
            <a:r>
              <a:rPr lang="en-US" b="1" dirty="0"/>
              <a:t>Cyclical:</a:t>
            </a:r>
            <a:r>
              <a:rPr lang="en-US" dirty="0"/>
              <a:t> wavelike fluctuations or business cycles, duration lasts several years and differs from cycle to cycle</a:t>
            </a:r>
          </a:p>
          <a:p>
            <a:pPr marL="777240" lvl="1" indent="-457200">
              <a:buFont typeface="+mj-lt"/>
              <a:buAutoNum type="arabicPeriod"/>
            </a:pPr>
            <a:r>
              <a:rPr lang="en-US" b="1" dirty="0"/>
              <a:t>Random: </a:t>
            </a:r>
            <a:r>
              <a:rPr lang="en-US" dirty="0"/>
              <a:t>unexplained movements</a:t>
            </a:r>
            <a:endParaRPr lang="en-US" b="1" dirty="0"/>
          </a:p>
        </p:txBody>
      </p:sp>
    </p:spTree>
    <p:extLst>
      <p:ext uri="{BB962C8B-B14F-4D97-AF65-F5344CB8AC3E}">
        <p14:creationId xmlns:p14="http://schemas.microsoft.com/office/powerpoint/2010/main" val="3175155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A5A3-5675-B2DE-ED67-60929C6B8BBB}"/>
              </a:ext>
            </a:extLst>
          </p:cNvPr>
          <p:cNvSpPr>
            <a:spLocks noGrp="1"/>
          </p:cNvSpPr>
          <p:nvPr>
            <p:ph type="title"/>
          </p:nvPr>
        </p:nvSpPr>
        <p:spPr/>
        <p:txBody>
          <a:bodyPr/>
          <a:lstStyle/>
          <a:p>
            <a:r>
              <a:rPr lang="en-US" dirty="0"/>
              <a:t>Time-Series Forecasting </a:t>
            </a:r>
          </a:p>
        </p:txBody>
      </p:sp>
      <p:sp>
        <p:nvSpPr>
          <p:cNvPr id="3" name="Slide Number Placeholder 2">
            <a:extLst>
              <a:ext uri="{FF2B5EF4-FFF2-40B4-BE49-F238E27FC236}">
                <a16:creationId xmlns:a16="http://schemas.microsoft.com/office/drawing/2014/main" id="{6173830D-2808-B690-AA82-92AE6798322A}"/>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Content Placeholder 3">
            <a:extLst>
              <a:ext uri="{FF2B5EF4-FFF2-40B4-BE49-F238E27FC236}">
                <a16:creationId xmlns:a16="http://schemas.microsoft.com/office/drawing/2014/main" id="{84218309-98D0-2F23-46B0-65E245B955BC}"/>
              </a:ext>
            </a:extLst>
          </p:cNvPr>
          <p:cNvSpPr>
            <a:spLocks noGrp="1"/>
          </p:cNvSpPr>
          <p:nvPr>
            <p:ph sz="quarter" idx="1"/>
          </p:nvPr>
        </p:nvSpPr>
        <p:spPr>
          <a:xfrm>
            <a:off x="914400" y="1447800"/>
            <a:ext cx="7772400" cy="757064"/>
          </a:xfrm>
        </p:spPr>
        <p:txBody>
          <a:bodyPr/>
          <a:lstStyle/>
          <a:p>
            <a:pPr marL="0" indent="0">
              <a:buNone/>
            </a:pPr>
            <a:r>
              <a:rPr lang="en-US" dirty="0"/>
              <a:t>Apple’s revenue from 2010 to 2020:</a:t>
            </a:r>
          </a:p>
        </p:txBody>
      </p:sp>
      <p:pic>
        <p:nvPicPr>
          <p:cNvPr id="5" name="Picture 4" descr="A scatterplot of revenue versus t plots data points and a regression line in an increasing trend with periodic peaks and dips.">
            <a:extLst>
              <a:ext uri="{FF2B5EF4-FFF2-40B4-BE49-F238E27FC236}">
                <a16:creationId xmlns:a16="http://schemas.microsoft.com/office/drawing/2014/main" id="{6BA32997-1041-0686-003B-E9AB3FDCB192}"/>
              </a:ext>
            </a:extLst>
          </p:cNvPr>
          <p:cNvPicPr>
            <a:picLocks noChangeAspect="1"/>
          </p:cNvPicPr>
          <p:nvPr/>
        </p:nvPicPr>
        <p:blipFill>
          <a:blip r:embed="rId3"/>
          <a:stretch>
            <a:fillRect/>
          </a:stretch>
        </p:blipFill>
        <p:spPr>
          <a:xfrm>
            <a:off x="457200" y="2204864"/>
            <a:ext cx="7876180" cy="3812788"/>
          </a:xfrm>
          <a:prstGeom prst="rect">
            <a:avLst/>
          </a:prstGeom>
        </p:spPr>
      </p:pic>
    </p:spTree>
    <p:extLst>
      <p:ext uri="{BB962C8B-B14F-4D97-AF65-F5344CB8AC3E}">
        <p14:creationId xmlns:p14="http://schemas.microsoft.com/office/powerpoint/2010/main" val="217996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5011-20B1-EE0C-B1F4-F02BAA94B5F2}"/>
              </a:ext>
            </a:extLst>
          </p:cNvPr>
          <p:cNvSpPr>
            <a:spLocks noGrp="1"/>
          </p:cNvSpPr>
          <p:nvPr>
            <p:ph type="title"/>
          </p:nvPr>
        </p:nvSpPr>
        <p:spPr/>
        <p:txBody>
          <a:bodyPr/>
          <a:lstStyle/>
          <a:p>
            <a:r>
              <a:rPr lang="en-US" dirty="0"/>
              <a:t>Time-Series Forecasting</a:t>
            </a:r>
          </a:p>
        </p:txBody>
      </p:sp>
      <p:sp>
        <p:nvSpPr>
          <p:cNvPr id="3" name="Slide Number Placeholder 2">
            <a:extLst>
              <a:ext uri="{FF2B5EF4-FFF2-40B4-BE49-F238E27FC236}">
                <a16:creationId xmlns:a16="http://schemas.microsoft.com/office/drawing/2014/main" id="{332069B8-85B3-99F3-77EA-70DC76AE0277}"/>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Content Placeholder 3">
            <a:extLst>
              <a:ext uri="{FF2B5EF4-FFF2-40B4-BE49-F238E27FC236}">
                <a16:creationId xmlns:a16="http://schemas.microsoft.com/office/drawing/2014/main" id="{B41D37F5-EA72-509E-9F08-2CB5BB927ACC}"/>
              </a:ext>
            </a:extLst>
          </p:cNvPr>
          <p:cNvSpPr>
            <a:spLocks noGrp="1"/>
          </p:cNvSpPr>
          <p:nvPr>
            <p:ph sz="quarter" idx="1"/>
          </p:nvPr>
        </p:nvSpPr>
        <p:spPr>
          <a:xfrm>
            <a:off x="914400" y="1447800"/>
            <a:ext cx="7772400" cy="5005536"/>
          </a:xfrm>
        </p:spPr>
        <p:txBody>
          <a:bodyPr/>
          <a:lstStyle/>
          <a:p>
            <a:r>
              <a:rPr lang="en-US" b="1" dirty="0">
                <a:solidFill>
                  <a:srgbClr val="FF0000"/>
                </a:solidFill>
              </a:rPr>
              <a:t>Simple smoothing techniques:</a:t>
            </a:r>
          </a:p>
          <a:p>
            <a:pPr lvl="1"/>
            <a:r>
              <a:rPr lang="en-US" dirty="0"/>
              <a:t>Any data collected over time are likely to exhibit some form of random variation.</a:t>
            </a:r>
          </a:p>
          <a:p>
            <a:pPr lvl="1"/>
            <a:r>
              <a:rPr lang="en-US" dirty="0"/>
              <a:t>These methods are for when the time series is primarily described by random variations.</a:t>
            </a:r>
          </a:p>
          <a:p>
            <a:pPr lvl="1"/>
            <a:r>
              <a:rPr lang="en-US" dirty="0"/>
              <a:t>There are no variations due to trend and/or seasonality. </a:t>
            </a:r>
          </a:p>
          <a:p>
            <a:pPr lvl="1"/>
            <a:r>
              <a:rPr lang="en-US" dirty="0"/>
              <a:t>E.g.: Weekly sales at a convenience store.</a:t>
            </a:r>
          </a:p>
          <a:p>
            <a:pPr lvl="1"/>
            <a:r>
              <a:rPr lang="en-US" dirty="0"/>
              <a:t>They are appropriate for short-term forecasts, or when it is not practical to develop complex forecasting models</a:t>
            </a:r>
          </a:p>
        </p:txBody>
      </p:sp>
    </p:spTree>
    <p:extLst>
      <p:ext uri="{BB962C8B-B14F-4D97-AF65-F5344CB8AC3E}">
        <p14:creationId xmlns:p14="http://schemas.microsoft.com/office/powerpoint/2010/main" val="678883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B27F-46D3-5936-7D79-045E336E4BC4}"/>
              </a:ext>
            </a:extLst>
          </p:cNvPr>
          <p:cNvSpPr>
            <a:spLocks noGrp="1"/>
          </p:cNvSpPr>
          <p:nvPr>
            <p:ph type="title"/>
          </p:nvPr>
        </p:nvSpPr>
        <p:spPr/>
        <p:txBody>
          <a:bodyPr/>
          <a:lstStyle/>
          <a:p>
            <a:r>
              <a:rPr lang="en-US" dirty="0"/>
              <a:t>Moving Average Method</a:t>
            </a:r>
          </a:p>
        </p:txBody>
      </p:sp>
      <p:sp>
        <p:nvSpPr>
          <p:cNvPr id="3" name="Slide Number Placeholder 2">
            <a:extLst>
              <a:ext uri="{FF2B5EF4-FFF2-40B4-BE49-F238E27FC236}">
                <a16:creationId xmlns:a16="http://schemas.microsoft.com/office/drawing/2014/main" id="{7F03BE76-28B5-E74A-F31D-A28AFFA077C1}"/>
              </a:ext>
            </a:extLst>
          </p:cNvPr>
          <p:cNvSpPr>
            <a:spLocks noGrp="1"/>
          </p:cNvSpPr>
          <p:nvPr>
            <p:ph type="sldNum" sz="quarter" idx="12"/>
          </p:nvPr>
        </p:nvSpPr>
        <p:spPr/>
        <p:txBody>
          <a:bodyPr/>
          <a:lstStyle/>
          <a:p>
            <a:fld id="{B6F15528-21DE-4FAA-801E-634DDDAF4B2B}" type="slidenum">
              <a:rPr lang="en-US" smtClean="0"/>
              <a:pPr/>
              <a:t>8</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9567389-2F66-E0E2-05B2-E396DE392B39}"/>
                  </a:ext>
                </a:extLst>
              </p:cNvPr>
              <p:cNvSpPr>
                <a:spLocks noGrp="1"/>
              </p:cNvSpPr>
              <p:nvPr>
                <p:ph sz="quarter" idx="1"/>
              </p:nvPr>
            </p:nvSpPr>
            <p:spPr/>
            <p:txBody>
              <a:bodyPr/>
              <a:lstStyle/>
              <a:p>
                <a:r>
                  <a:rPr lang="en-US" dirty="0"/>
                  <a:t>It is a simple and popular method.</a:t>
                </a:r>
              </a:p>
              <a:p>
                <a:r>
                  <a:rPr lang="en-US" dirty="0"/>
                  <a:t>The average of the most recent </a:t>
                </a:r>
                <a14:m>
                  <m:oMath xmlns:m="http://schemas.openxmlformats.org/officeDocument/2006/math">
                    <m:r>
                      <a:rPr lang="en-CA" b="0" i="1" smtClean="0">
                        <a:latin typeface="Cambria Math" panose="02040503050406030204" pitchFamily="18" charset="0"/>
                      </a:rPr>
                      <m:t>𝑚</m:t>
                    </m:r>
                  </m:oMath>
                </a14:m>
                <a:r>
                  <a:rPr lang="en-US" dirty="0"/>
                  <a:t> observations</a:t>
                </a:r>
              </a:p>
              <a:p>
                <a:endParaRPr lang="en-US" dirty="0"/>
              </a:p>
              <a:p>
                <a:endParaRPr lang="en-US" dirty="0"/>
              </a:p>
              <a:p>
                <a:endParaRPr lang="en-US" dirty="0"/>
              </a:p>
              <a:p>
                <a:r>
                  <a:rPr lang="en-US" dirty="0"/>
                  <a:t>The term moving is used because as a new observation becomes available, the average is updated by including the newest observation and dropping the oldest observation</a:t>
                </a:r>
              </a:p>
            </p:txBody>
          </p:sp>
        </mc:Choice>
        <mc:Fallback xmlns="">
          <p:sp>
            <p:nvSpPr>
              <p:cNvPr id="4" name="Content Placeholder 3">
                <a:extLst>
                  <a:ext uri="{FF2B5EF4-FFF2-40B4-BE49-F238E27FC236}">
                    <a16:creationId xmlns:a16="http://schemas.microsoft.com/office/drawing/2014/main" id="{A9567389-2F66-E0E2-05B2-E396DE392B39}"/>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r="-196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BBBFC394-98AA-5D77-D4EB-29ABED0DC8CA}"/>
              </a:ext>
            </a:extLst>
          </p:cNvPr>
          <p:cNvGrpSpPr>
            <a:grpSpLocks/>
          </p:cNvGrpSpPr>
          <p:nvPr/>
        </p:nvGrpSpPr>
        <p:grpSpPr bwMode="auto">
          <a:xfrm>
            <a:off x="751731" y="2598737"/>
            <a:ext cx="7451725" cy="830263"/>
            <a:chOff x="574" y="3353"/>
            <a:chExt cx="4694" cy="523"/>
          </a:xfrm>
        </p:grpSpPr>
        <p:sp>
          <p:nvSpPr>
            <p:cNvPr id="6" name="Rectangle 5">
              <a:extLst>
                <a:ext uri="{FF2B5EF4-FFF2-40B4-BE49-F238E27FC236}">
                  <a16:creationId xmlns:a16="http://schemas.microsoft.com/office/drawing/2014/main" id="{46490CA5-1112-EE0B-2706-A034C465AB5F}"/>
                </a:ext>
              </a:extLst>
            </p:cNvPr>
            <p:cNvSpPr>
              <a:spLocks noChangeArrowheads="1"/>
            </p:cNvSpPr>
            <p:nvPr/>
          </p:nvSpPr>
          <p:spPr bwMode="auto">
            <a:xfrm>
              <a:off x="574" y="3489"/>
              <a:ext cx="16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algn="l"/>
              <a:r>
                <a:rPr lang="en-US" altLang="en-US" b="1" dirty="0">
                  <a:latin typeface="Times New Roman" panose="02020603050405020304" pitchFamily="18" charset="0"/>
                  <a:cs typeface="Times New Roman" panose="02020603050405020304" pitchFamily="18" charset="0"/>
                </a:rPr>
                <a:t>Moving average =</a:t>
              </a:r>
            </a:p>
          </p:txBody>
        </p:sp>
        <p:grpSp>
          <p:nvGrpSpPr>
            <p:cNvPr id="7" name="Group 6">
              <a:extLst>
                <a:ext uri="{FF2B5EF4-FFF2-40B4-BE49-F238E27FC236}">
                  <a16:creationId xmlns:a16="http://schemas.microsoft.com/office/drawing/2014/main" id="{A99CB1CB-0A26-B2AA-12AD-F7D06BC8A8CA}"/>
                </a:ext>
              </a:extLst>
            </p:cNvPr>
            <p:cNvGrpSpPr>
              <a:grpSpLocks/>
            </p:cNvGrpSpPr>
            <p:nvPr/>
          </p:nvGrpSpPr>
          <p:grpSpPr bwMode="auto">
            <a:xfrm>
              <a:off x="2282" y="3353"/>
              <a:ext cx="2986" cy="523"/>
              <a:chOff x="2578" y="3025"/>
              <a:chExt cx="2986" cy="523"/>
            </a:xfrm>
          </p:grpSpPr>
          <p:sp>
            <p:nvSpPr>
              <p:cNvPr id="8" name="Rectangle 7">
                <a:extLst>
                  <a:ext uri="{FF2B5EF4-FFF2-40B4-BE49-F238E27FC236}">
                    <a16:creationId xmlns:a16="http://schemas.microsoft.com/office/drawing/2014/main" id="{65ED60FD-2BAC-B134-7B22-891C5E0BF7B2}"/>
                  </a:ext>
                </a:extLst>
              </p:cNvPr>
              <p:cNvSpPr>
                <a:spLocks noChangeArrowheads="1"/>
              </p:cNvSpPr>
              <p:nvPr/>
            </p:nvSpPr>
            <p:spPr bwMode="auto">
              <a:xfrm>
                <a:off x="2578" y="3025"/>
                <a:ext cx="279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b="1" dirty="0">
                    <a:latin typeface="Times New Roman" panose="02020603050405020304" pitchFamily="18" charset="0"/>
                    <a:cs typeface="Times New Roman" panose="02020603050405020304" pitchFamily="18" charset="0"/>
                  </a:rPr>
                  <a:t>∑ demand in previous </a:t>
                </a:r>
                <a:r>
                  <a:rPr lang="en-US" altLang="en-US" b="1" i="1" dirty="0">
                    <a:latin typeface="Times New Roman" panose="02020603050405020304" pitchFamily="18" charset="0"/>
                    <a:cs typeface="Times New Roman" panose="02020603050405020304" pitchFamily="18" charset="0"/>
                  </a:rPr>
                  <a:t>m</a:t>
                </a:r>
                <a:r>
                  <a:rPr lang="en-US" altLang="en-US" b="1" dirty="0">
                    <a:latin typeface="Times New Roman" panose="02020603050405020304" pitchFamily="18" charset="0"/>
                    <a:cs typeface="Times New Roman" panose="02020603050405020304" pitchFamily="18" charset="0"/>
                  </a:rPr>
                  <a:t> periods</a:t>
                </a:r>
              </a:p>
              <a:p>
                <a:r>
                  <a:rPr lang="en-US" altLang="en-US" b="1" i="1" dirty="0">
                    <a:latin typeface="Times New Roman" panose="02020603050405020304" pitchFamily="18" charset="0"/>
                    <a:cs typeface="Times New Roman" panose="02020603050405020304" pitchFamily="18" charset="0"/>
                  </a:rPr>
                  <a:t>                           m</a:t>
                </a:r>
              </a:p>
            </p:txBody>
          </p:sp>
          <p:sp>
            <p:nvSpPr>
              <p:cNvPr id="9" name="Line 8">
                <a:extLst>
                  <a:ext uri="{FF2B5EF4-FFF2-40B4-BE49-F238E27FC236}">
                    <a16:creationId xmlns:a16="http://schemas.microsoft.com/office/drawing/2014/main" id="{FD53E1F5-595F-EADA-15AD-C8EF4D396DEC}"/>
                  </a:ext>
                </a:extLst>
              </p:cNvPr>
              <p:cNvSpPr>
                <a:spLocks noChangeShapeType="1"/>
              </p:cNvSpPr>
              <p:nvPr/>
            </p:nvSpPr>
            <p:spPr bwMode="auto">
              <a:xfrm>
                <a:off x="2628" y="3304"/>
                <a:ext cx="293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grpSp>
    </p:spTree>
    <p:extLst>
      <p:ext uri="{BB962C8B-B14F-4D97-AF65-F5344CB8AC3E}">
        <p14:creationId xmlns:p14="http://schemas.microsoft.com/office/powerpoint/2010/main" val="1174877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9DFD-E5BC-BAFB-6284-7728D4F4DB79}"/>
              </a:ext>
            </a:extLst>
          </p:cNvPr>
          <p:cNvSpPr>
            <a:spLocks noGrp="1"/>
          </p:cNvSpPr>
          <p:nvPr>
            <p:ph type="title"/>
          </p:nvPr>
        </p:nvSpPr>
        <p:spPr/>
        <p:txBody>
          <a:bodyPr/>
          <a:lstStyle/>
          <a:p>
            <a:r>
              <a:rPr lang="en-US" dirty="0"/>
              <a:t>Moving Average Method</a:t>
            </a:r>
          </a:p>
        </p:txBody>
      </p:sp>
      <p:sp>
        <p:nvSpPr>
          <p:cNvPr id="3" name="Slide Number Placeholder 2">
            <a:extLst>
              <a:ext uri="{FF2B5EF4-FFF2-40B4-BE49-F238E27FC236}">
                <a16:creationId xmlns:a16="http://schemas.microsoft.com/office/drawing/2014/main" id="{F6A721CD-2516-1324-530D-0158C5112B45}"/>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Content Placeholder 3">
            <a:extLst>
              <a:ext uri="{FF2B5EF4-FFF2-40B4-BE49-F238E27FC236}">
                <a16:creationId xmlns:a16="http://schemas.microsoft.com/office/drawing/2014/main" id="{06656CE4-2D66-58FD-D2F8-099BEF155D09}"/>
              </a:ext>
            </a:extLst>
          </p:cNvPr>
          <p:cNvSpPr>
            <a:spLocks noGrp="1"/>
          </p:cNvSpPr>
          <p:nvPr>
            <p:ph sz="quarter" idx="1"/>
          </p:nvPr>
        </p:nvSpPr>
        <p:spPr/>
        <p:txBody>
          <a:bodyPr/>
          <a:lstStyle/>
          <a:p>
            <a:pPr marL="0" indent="0">
              <a:buNone/>
            </a:pPr>
            <a:r>
              <a:rPr lang="en-US" b="1" dirty="0"/>
              <a:t>Example:</a:t>
            </a:r>
          </a:p>
        </p:txBody>
      </p:sp>
      <p:graphicFrame>
        <p:nvGraphicFramePr>
          <p:cNvPr id="5" name="Table 4">
            <a:extLst>
              <a:ext uri="{FF2B5EF4-FFF2-40B4-BE49-F238E27FC236}">
                <a16:creationId xmlns:a16="http://schemas.microsoft.com/office/drawing/2014/main" id="{5E4AD2FE-B1D1-9AEC-C9A7-6F85A2D8A8C0}"/>
              </a:ext>
            </a:extLst>
          </p:cNvPr>
          <p:cNvGraphicFramePr>
            <a:graphicFrameLocks noGrp="1"/>
          </p:cNvGraphicFramePr>
          <p:nvPr>
            <p:extLst>
              <p:ext uri="{D42A27DB-BD31-4B8C-83A1-F6EECF244321}">
                <p14:modId xmlns:p14="http://schemas.microsoft.com/office/powerpoint/2010/main" val="117515376"/>
              </p:ext>
            </p:extLst>
          </p:nvPr>
        </p:nvGraphicFramePr>
        <p:xfrm>
          <a:off x="1006192" y="2309740"/>
          <a:ext cx="7454241" cy="3200400"/>
        </p:xfrm>
        <a:graphic>
          <a:graphicData uri="http://schemas.openxmlformats.org/drawingml/2006/table">
            <a:tbl>
              <a:tblPr firstRow="1" bandRow="1">
                <a:tableStyleId>{9D7B26C5-4107-4FEC-AEDC-1716B250A1EF}</a:tableStyleId>
              </a:tblPr>
              <a:tblGrid>
                <a:gridCol w="1456196">
                  <a:extLst>
                    <a:ext uri="{9D8B030D-6E8A-4147-A177-3AD203B41FA5}">
                      <a16:colId xmlns:a16="http://schemas.microsoft.com/office/drawing/2014/main" val="20000"/>
                    </a:ext>
                  </a:extLst>
                </a:gridCol>
                <a:gridCol w="2315895">
                  <a:extLst>
                    <a:ext uri="{9D8B030D-6E8A-4147-A177-3AD203B41FA5}">
                      <a16:colId xmlns:a16="http://schemas.microsoft.com/office/drawing/2014/main" val="20001"/>
                    </a:ext>
                  </a:extLst>
                </a:gridCol>
                <a:gridCol w="3682150">
                  <a:extLst>
                    <a:ext uri="{9D8B030D-6E8A-4147-A177-3AD203B41FA5}">
                      <a16:colId xmlns:a16="http://schemas.microsoft.com/office/drawing/2014/main" val="20002"/>
                    </a:ext>
                  </a:extLst>
                </a:gridCol>
              </a:tblGrid>
              <a:tr h="370840">
                <a:tc>
                  <a:txBody>
                    <a:bodyPr/>
                    <a:lstStyle/>
                    <a:p>
                      <a:pPr algn="ctr"/>
                      <a:r>
                        <a:rPr lang="en-CA" sz="2400" dirty="0">
                          <a:latin typeface="Times New Roman" panose="02020603050405020304" pitchFamily="18" charset="0"/>
                          <a:cs typeface="Times New Roman" panose="02020603050405020304" pitchFamily="18" charset="0"/>
                        </a:rPr>
                        <a:t>Period</a:t>
                      </a:r>
                    </a:p>
                  </a:txBody>
                  <a:tcPr/>
                </a:tc>
                <a:tc>
                  <a:txBody>
                    <a:bodyPr/>
                    <a:lstStyle/>
                    <a:p>
                      <a:pPr algn="ctr"/>
                      <a:r>
                        <a:rPr lang="en-CA" sz="2400" dirty="0">
                          <a:latin typeface="Times New Roman" panose="02020603050405020304" pitchFamily="18" charset="0"/>
                          <a:cs typeface="Times New Roman" panose="02020603050405020304" pitchFamily="18" charset="0"/>
                        </a:rPr>
                        <a:t>Actual</a:t>
                      </a:r>
                      <a:r>
                        <a:rPr lang="en-CA" sz="2400" baseline="0" dirty="0">
                          <a:latin typeface="Times New Roman" panose="02020603050405020304" pitchFamily="18" charset="0"/>
                          <a:cs typeface="Times New Roman" panose="02020603050405020304" pitchFamily="18" charset="0"/>
                        </a:rPr>
                        <a:t> Sales</a:t>
                      </a:r>
                      <a:endParaRPr lang="en-CA" sz="2400" dirty="0">
                        <a:latin typeface="Times New Roman" panose="02020603050405020304" pitchFamily="18" charset="0"/>
                        <a:cs typeface="Times New Roman" panose="02020603050405020304" pitchFamily="18" charset="0"/>
                      </a:endParaRPr>
                    </a:p>
                  </a:txBody>
                  <a:tcPr/>
                </a:tc>
                <a:tc>
                  <a:txBody>
                    <a:bodyPr/>
                    <a:lstStyle/>
                    <a:p>
                      <a:pPr algn="ctr"/>
                      <a:r>
                        <a:rPr lang="en-CA" sz="2400" dirty="0">
                          <a:latin typeface="Times New Roman" panose="02020603050405020304" pitchFamily="18" charset="0"/>
                          <a:cs typeface="Times New Roman" panose="02020603050405020304" pitchFamily="18" charset="0"/>
                        </a:rPr>
                        <a:t>2</a:t>
                      </a:r>
                      <a:r>
                        <a:rPr lang="en-CA" sz="2400" baseline="0" dirty="0">
                          <a:latin typeface="Times New Roman" panose="02020603050405020304" pitchFamily="18" charset="0"/>
                          <a:cs typeface="Times New Roman" panose="02020603050405020304" pitchFamily="18" charset="0"/>
                        </a:rPr>
                        <a:t> Month Moving Average</a:t>
                      </a: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ctr"/>
                      <a:r>
                        <a:rPr lang="en-CA" sz="2400" dirty="0">
                          <a:latin typeface="Times New Roman" panose="02020603050405020304" pitchFamily="18" charset="0"/>
                          <a:cs typeface="Times New Roman" panose="02020603050405020304" pitchFamily="18" charset="0"/>
                        </a:rPr>
                        <a:t>1</a:t>
                      </a:r>
                    </a:p>
                  </a:txBody>
                  <a:tcPr/>
                </a:tc>
                <a:tc>
                  <a:txBody>
                    <a:bodyPr/>
                    <a:lstStyle/>
                    <a:p>
                      <a:pPr algn="ctr"/>
                      <a:r>
                        <a:rPr lang="en-CA" sz="2400" dirty="0">
                          <a:latin typeface="Times New Roman" panose="02020603050405020304" pitchFamily="18" charset="0"/>
                          <a:cs typeface="Times New Roman" panose="02020603050405020304" pitchFamily="18" charset="0"/>
                        </a:rPr>
                        <a:t>215</a:t>
                      </a:r>
                    </a:p>
                  </a:txBody>
                  <a:tcPr/>
                </a:tc>
                <a:tc>
                  <a:txBody>
                    <a:bodyPr/>
                    <a:lstStyle/>
                    <a:p>
                      <a:pPr algn="ct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ctr"/>
                      <a:r>
                        <a:rPr lang="en-CA" sz="2400" dirty="0">
                          <a:latin typeface="Times New Roman" panose="02020603050405020304" pitchFamily="18" charset="0"/>
                          <a:cs typeface="Times New Roman" panose="02020603050405020304" pitchFamily="18" charset="0"/>
                        </a:rPr>
                        <a:t>2</a:t>
                      </a:r>
                    </a:p>
                  </a:txBody>
                  <a:tcPr/>
                </a:tc>
                <a:tc>
                  <a:txBody>
                    <a:bodyPr/>
                    <a:lstStyle/>
                    <a:p>
                      <a:pPr algn="ctr"/>
                      <a:r>
                        <a:rPr lang="en-CA" sz="2400" dirty="0">
                          <a:latin typeface="Times New Roman" panose="02020603050405020304" pitchFamily="18" charset="0"/>
                          <a:cs typeface="Times New Roman" panose="02020603050405020304" pitchFamily="18" charset="0"/>
                        </a:rPr>
                        <a:t>239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400" kern="1200" dirty="0">
                        <a:solidFill>
                          <a:schemeClr val="tx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algn="ctr"/>
                      <a:r>
                        <a:rPr lang="en-CA" sz="2400" dirty="0">
                          <a:latin typeface="Times New Roman" panose="02020603050405020304" pitchFamily="18" charset="0"/>
                          <a:cs typeface="Times New Roman" panose="02020603050405020304" pitchFamily="18" charset="0"/>
                        </a:rPr>
                        <a:t>3</a:t>
                      </a:r>
                    </a:p>
                  </a:txBody>
                  <a:tcPr/>
                </a:tc>
                <a:tc>
                  <a:txBody>
                    <a:bodyPr/>
                    <a:lstStyle/>
                    <a:p>
                      <a:pPr algn="ctr"/>
                      <a:r>
                        <a:rPr lang="en-CA" sz="2400" dirty="0">
                          <a:latin typeface="Times New Roman" panose="02020603050405020304" pitchFamily="18" charset="0"/>
                          <a:cs typeface="Times New Roman" panose="02020603050405020304" pitchFamily="18" charset="0"/>
                        </a:rPr>
                        <a:t>262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400" kern="1200" dirty="0">
                          <a:solidFill>
                            <a:schemeClr val="tx1"/>
                          </a:solidFill>
                          <a:latin typeface="Times New Roman" panose="02020603050405020304" pitchFamily="18" charset="0"/>
                          <a:ea typeface="+mn-ea"/>
                          <a:cs typeface="Times New Roman" panose="02020603050405020304" pitchFamily="18" charset="0"/>
                        </a:rPr>
                        <a:t>(215+239)/2=227</a:t>
                      </a:r>
                    </a:p>
                  </a:txBody>
                  <a:tcPr/>
                </a:tc>
                <a:extLst>
                  <a:ext uri="{0D108BD9-81ED-4DB2-BD59-A6C34878D82A}">
                    <a16:rowId xmlns:a16="http://schemas.microsoft.com/office/drawing/2014/main" val="10003"/>
                  </a:ext>
                </a:extLst>
              </a:tr>
              <a:tr h="370840">
                <a:tc>
                  <a:txBody>
                    <a:bodyPr/>
                    <a:lstStyle/>
                    <a:p>
                      <a:pPr algn="ctr"/>
                      <a:r>
                        <a:rPr lang="en-CA" sz="2400" dirty="0">
                          <a:latin typeface="Times New Roman" panose="02020603050405020304" pitchFamily="18" charset="0"/>
                          <a:cs typeface="Times New Roman" panose="02020603050405020304" pitchFamily="18" charset="0"/>
                        </a:rPr>
                        <a:t>4</a:t>
                      </a:r>
                    </a:p>
                  </a:txBody>
                  <a:tcPr/>
                </a:tc>
                <a:tc>
                  <a:txBody>
                    <a:bodyPr/>
                    <a:lstStyle/>
                    <a:p>
                      <a:pPr algn="ctr"/>
                      <a:r>
                        <a:rPr lang="en-CA" sz="2400" dirty="0">
                          <a:latin typeface="Times New Roman" panose="02020603050405020304" pitchFamily="18" charset="0"/>
                          <a:cs typeface="Times New Roman" panose="02020603050405020304" pitchFamily="18" charset="0"/>
                        </a:rPr>
                        <a:t>284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400" kern="1200" dirty="0">
                          <a:solidFill>
                            <a:schemeClr val="tx1"/>
                          </a:solidFill>
                          <a:latin typeface="Times New Roman" panose="02020603050405020304" pitchFamily="18" charset="0"/>
                          <a:ea typeface="+mn-ea"/>
                          <a:cs typeface="Times New Roman" panose="02020603050405020304" pitchFamily="18" charset="0"/>
                        </a:rPr>
                        <a:t>(239+262)/2=250.5</a:t>
                      </a:r>
                    </a:p>
                  </a:txBody>
                  <a:tcPr/>
                </a:tc>
                <a:extLst>
                  <a:ext uri="{0D108BD9-81ED-4DB2-BD59-A6C34878D82A}">
                    <a16:rowId xmlns:a16="http://schemas.microsoft.com/office/drawing/2014/main" val="10004"/>
                  </a:ext>
                </a:extLst>
              </a:tr>
              <a:tr h="370840">
                <a:tc>
                  <a:txBody>
                    <a:bodyPr/>
                    <a:lstStyle/>
                    <a:p>
                      <a:pPr algn="ctr"/>
                      <a:r>
                        <a:rPr lang="en-CA" sz="2400" dirty="0">
                          <a:latin typeface="Times New Roman" panose="02020603050405020304" pitchFamily="18" charset="0"/>
                          <a:cs typeface="Times New Roman" panose="02020603050405020304" pitchFamily="18" charset="0"/>
                        </a:rPr>
                        <a:t>5</a:t>
                      </a:r>
                    </a:p>
                  </a:txBody>
                  <a:tcPr/>
                </a:tc>
                <a:tc>
                  <a:txBody>
                    <a:bodyPr/>
                    <a:lstStyle/>
                    <a:p>
                      <a:pPr algn="ctr"/>
                      <a:r>
                        <a:rPr lang="en-CA" sz="2400" dirty="0">
                          <a:latin typeface="Times New Roman" panose="02020603050405020304" pitchFamily="18" charset="0"/>
                          <a:cs typeface="Times New Roman" panose="02020603050405020304" pitchFamily="18" charset="0"/>
                        </a:rPr>
                        <a:t>290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400" kern="1200" dirty="0">
                          <a:solidFill>
                            <a:schemeClr val="tx1"/>
                          </a:solidFill>
                          <a:latin typeface="Times New Roman" panose="02020603050405020304" pitchFamily="18" charset="0"/>
                          <a:ea typeface="+mn-ea"/>
                          <a:cs typeface="Times New Roman" panose="02020603050405020304" pitchFamily="18" charset="0"/>
                        </a:rPr>
                        <a:t>(262+284)/2=273</a:t>
                      </a:r>
                    </a:p>
                  </a:txBody>
                  <a:tcPr/>
                </a:tc>
                <a:extLst>
                  <a:ext uri="{0D108BD9-81ED-4DB2-BD59-A6C34878D82A}">
                    <a16:rowId xmlns:a16="http://schemas.microsoft.com/office/drawing/2014/main" val="10005"/>
                  </a:ext>
                </a:extLst>
              </a:tr>
              <a:tr h="370840">
                <a:tc>
                  <a:txBody>
                    <a:bodyPr/>
                    <a:lstStyle/>
                    <a:p>
                      <a:pPr algn="ctr"/>
                      <a:r>
                        <a:rPr lang="en-CA" sz="2400" dirty="0">
                          <a:latin typeface="Times New Roman" panose="02020603050405020304" pitchFamily="18" charset="0"/>
                          <a:cs typeface="Times New Roman" panose="02020603050405020304" pitchFamily="18" charset="0"/>
                        </a:rPr>
                        <a:t>-</a:t>
                      </a:r>
                    </a:p>
                  </a:txBody>
                  <a:tcPr/>
                </a:tc>
                <a:tc>
                  <a:txBody>
                    <a:bodyPr/>
                    <a:lstStyle/>
                    <a:p>
                      <a:pPr algn="ctr"/>
                      <a:r>
                        <a:rPr lang="en-CA" sz="2400" dirty="0">
                          <a:latin typeface="Times New Roman" panose="02020603050405020304" pitchFamily="18" charset="0"/>
                          <a:cs typeface="Times New Roman" panose="02020603050405020304" pitchFamily="18"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2400" kern="1200" dirty="0">
                          <a:solidFill>
                            <a:schemeClr val="tx1"/>
                          </a:solidFill>
                          <a:latin typeface="Times New Roman" panose="02020603050405020304" pitchFamily="18" charset="0"/>
                          <a:ea typeface="+mn-ea"/>
                          <a:cs typeface="Times New Roman" panose="02020603050405020304" pitchFamily="18" charset="0"/>
                        </a:rPr>
                        <a:t>(284+290)/2=287</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10593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B547-EE2A-0E7A-2600-228B52916518}"/>
              </a:ext>
            </a:extLst>
          </p:cNvPr>
          <p:cNvSpPr>
            <a:spLocks noGrp="1"/>
          </p:cNvSpPr>
          <p:nvPr>
            <p:ph type="title"/>
          </p:nvPr>
        </p:nvSpPr>
        <p:spPr/>
        <p:txBody>
          <a:bodyPr/>
          <a:lstStyle/>
          <a:p>
            <a:r>
              <a:rPr lang="en-US" dirty="0"/>
              <a:t>Moving Average Method</a:t>
            </a:r>
          </a:p>
        </p:txBody>
      </p:sp>
      <p:sp>
        <p:nvSpPr>
          <p:cNvPr id="3" name="Slide Number Placeholder 2">
            <a:extLst>
              <a:ext uri="{FF2B5EF4-FFF2-40B4-BE49-F238E27FC236}">
                <a16:creationId xmlns:a16="http://schemas.microsoft.com/office/drawing/2014/main" id="{A2067F32-CBFF-036D-91D3-3ABBDCD30507}"/>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4" name="Content Placeholder 3">
            <a:extLst>
              <a:ext uri="{FF2B5EF4-FFF2-40B4-BE49-F238E27FC236}">
                <a16:creationId xmlns:a16="http://schemas.microsoft.com/office/drawing/2014/main" id="{022A8125-9337-CA03-65C2-5E7BDD631F84}"/>
              </a:ext>
            </a:extLst>
          </p:cNvPr>
          <p:cNvSpPr>
            <a:spLocks noGrp="1"/>
          </p:cNvSpPr>
          <p:nvPr>
            <p:ph sz="quarter" idx="1"/>
          </p:nvPr>
        </p:nvSpPr>
        <p:spPr>
          <a:xfrm>
            <a:off x="632288" y="1031594"/>
            <a:ext cx="8332200" cy="5349734"/>
          </a:xfrm>
        </p:spPr>
        <p:txBody>
          <a:bodyPr/>
          <a:lstStyle/>
          <a:p>
            <a:pPr marL="0" indent="0">
              <a:buNone/>
            </a:pPr>
            <a:r>
              <a:rPr lang="en-US" sz="2400" b="1" dirty="0"/>
              <a:t>Example 5.1:</a:t>
            </a:r>
            <a:r>
              <a:rPr lang="en-US" sz="2400" dirty="0"/>
              <a:t> In preparation for staffing during the upcoming summer months, an online retailer reviews the number of customer service calls received over the past three weeks (21 days).</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Construct a 3-period moving averages.</a:t>
            </a:r>
          </a:p>
          <a:p>
            <a:pPr marL="0" indent="0">
              <a:buNone/>
            </a:pPr>
            <a:endParaRPr lang="en-US" dirty="0"/>
          </a:p>
        </p:txBody>
      </p:sp>
      <p:graphicFrame>
        <p:nvGraphicFramePr>
          <p:cNvPr id="6" name="Table 5">
            <a:extLst>
              <a:ext uri="{FF2B5EF4-FFF2-40B4-BE49-F238E27FC236}">
                <a16:creationId xmlns:a16="http://schemas.microsoft.com/office/drawing/2014/main" id="{DFC0325B-5869-8F22-266E-5065DD23BE28}"/>
              </a:ext>
            </a:extLst>
          </p:cNvPr>
          <p:cNvGraphicFramePr>
            <a:graphicFrameLocks noGrp="1"/>
          </p:cNvGraphicFramePr>
          <p:nvPr>
            <p:extLst>
              <p:ext uri="{D42A27DB-BD31-4B8C-83A1-F6EECF244321}">
                <p14:modId xmlns:p14="http://schemas.microsoft.com/office/powerpoint/2010/main" val="742337280"/>
              </p:ext>
            </p:extLst>
          </p:nvPr>
        </p:nvGraphicFramePr>
        <p:xfrm>
          <a:off x="3290887" y="2261192"/>
          <a:ext cx="2638425" cy="2743200"/>
        </p:xfrm>
        <a:graphic>
          <a:graphicData uri="http://schemas.openxmlformats.org/drawingml/2006/table">
            <a:tbl>
              <a:tblPr firstRow="1" bandRow="1">
                <a:tableStyleId>{5C22544A-7EE6-4342-B048-85BDC9FD1C3A}</a:tableStyleId>
              </a:tblPr>
              <a:tblGrid>
                <a:gridCol w="1343025">
                  <a:extLst>
                    <a:ext uri="{9D8B030D-6E8A-4147-A177-3AD203B41FA5}">
                      <a16:colId xmlns:a16="http://schemas.microsoft.com/office/drawing/2014/main" val="359219029"/>
                    </a:ext>
                  </a:extLst>
                </a:gridCol>
                <a:gridCol w="1295400">
                  <a:extLst>
                    <a:ext uri="{9D8B030D-6E8A-4147-A177-3AD203B41FA5}">
                      <a16:colId xmlns:a16="http://schemas.microsoft.com/office/drawing/2014/main" val="135325927"/>
                    </a:ext>
                  </a:extLst>
                </a:gridCol>
              </a:tblGrid>
              <a:tr h="0">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2555563619"/>
                  </a:ext>
                </a:extLst>
              </a:tr>
              <a:tr h="207688">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3532010948"/>
                  </a:ext>
                </a:extLst>
              </a:tr>
              <a:tr h="0">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4049772074"/>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876938913"/>
                  </a:ext>
                </a:extLst>
              </a:tr>
              <a:tr h="0">
                <a:tc>
                  <a:txBody>
                    <a:bodyPr/>
                    <a:lstStyle/>
                    <a:p>
                      <a:endParaRPr lang="en-US" sz="1200"/>
                    </a:p>
                  </a:txBody>
                  <a:tcPr/>
                </a:tc>
                <a:tc>
                  <a:txBody>
                    <a:bodyPr/>
                    <a:lstStyle/>
                    <a:p>
                      <a:endParaRPr lang="en-US" sz="1200"/>
                    </a:p>
                  </a:txBody>
                  <a:tcPr/>
                </a:tc>
                <a:extLst>
                  <a:ext uri="{0D108BD9-81ED-4DB2-BD59-A6C34878D82A}">
                    <a16:rowId xmlns:a16="http://schemas.microsoft.com/office/drawing/2014/main" val="522696089"/>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4221162718"/>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001132939"/>
                  </a:ext>
                </a:extLst>
              </a:tr>
              <a:tr h="0">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3997306906"/>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83450598"/>
                  </a:ext>
                </a:extLst>
              </a:tr>
              <a:tr h="0">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530721777"/>
                  </a:ext>
                </a:extLst>
              </a:tr>
            </a:tbl>
          </a:graphicData>
        </a:graphic>
      </p:graphicFrame>
      <p:graphicFrame>
        <p:nvGraphicFramePr>
          <p:cNvPr id="7" name="Object 6">
            <a:extLst>
              <a:ext uri="{FF2B5EF4-FFF2-40B4-BE49-F238E27FC236}">
                <a16:creationId xmlns:a16="http://schemas.microsoft.com/office/drawing/2014/main" id="{6EA033BD-AA6F-7AE9-B05D-F77FEF3D646F}"/>
              </a:ext>
            </a:extLst>
          </p:cNvPr>
          <p:cNvGraphicFramePr>
            <a:graphicFrameLocks noChangeAspect="1"/>
          </p:cNvGraphicFramePr>
          <p:nvPr>
            <p:extLst>
              <p:ext uri="{D42A27DB-BD31-4B8C-83A1-F6EECF244321}">
                <p14:modId xmlns:p14="http://schemas.microsoft.com/office/powerpoint/2010/main" val="118120002"/>
              </p:ext>
            </p:extLst>
          </p:nvPr>
        </p:nvGraphicFramePr>
        <p:xfrm>
          <a:off x="3709987" y="2310719"/>
          <a:ext cx="314325" cy="200025"/>
        </p:xfrm>
        <a:graphic>
          <a:graphicData uri="http://schemas.openxmlformats.org/presentationml/2006/ole">
            <mc:AlternateContent xmlns:mc="http://schemas.openxmlformats.org/markup-compatibility/2006">
              <mc:Choice xmlns:v="urn:schemas-microsoft-com:vml" Requires="v">
                <p:oleObj name="Equation" r:id="rId2" imgW="317160" imgH="203040" progId="Equation.DSMT4">
                  <p:embed/>
                </p:oleObj>
              </mc:Choice>
              <mc:Fallback>
                <p:oleObj name="Equation" r:id="rId2" imgW="317160" imgH="203040" progId="Equation.DSMT4">
                  <p:embed/>
                  <p:pic>
                    <p:nvPicPr>
                      <p:cNvPr id="7" name="Object 6">
                        <a:extLst>
                          <a:ext uri="{FF2B5EF4-FFF2-40B4-BE49-F238E27FC236}">
                            <a16:creationId xmlns:a16="http://schemas.microsoft.com/office/drawing/2014/main" id="{6EA033BD-AA6F-7AE9-B05D-F77FEF3D646F}"/>
                          </a:ext>
                        </a:extLst>
                      </p:cNvPr>
                      <p:cNvPicPr>
                        <a:picLocks noChangeAspect="1" noChangeArrowheads="1"/>
                      </p:cNvPicPr>
                      <p:nvPr/>
                    </p:nvPicPr>
                    <p:blipFill>
                      <a:blip r:embed="rId3"/>
                      <a:srcRect/>
                      <a:stretch>
                        <a:fillRect/>
                      </a:stretch>
                    </p:blipFill>
                    <p:spPr bwMode="auto">
                      <a:xfrm>
                        <a:off x="3709987" y="2310719"/>
                        <a:ext cx="31432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1F6D73E9-BED3-BA10-54B0-31E32380D985}"/>
              </a:ext>
            </a:extLst>
          </p:cNvPr>
          <p:cNvGraphicFramePr>
            <a:graphicFrameLocks noChangeAspect="1"/>
          </p:cNvGraphicFramePr>
          <p:nvPr>
            <p:extLst>
              <p:ext uri="{D42A27DB-BD31-4B8C-83A1-F6EECF244321}">
                <p14:modId xmlns:p14="http://schemas.microsoft.com/office/powerpoint/2010/main" val="3721131993"/>
              </p:ext>
            </p:extLst>
          </p:nvPr>
        </p:nvGraphicFramePr>
        <p:xfrm>
          <a:off x="5093696" y="2298701"/>
          <a:ext cx="376237" cy="174625"/>
        </p:xfrm>
        <a:graphic>
          <a:graphicData uri="http://schemas.openxmlformats.org/presentationml/2006/ole">
            <mc:AlternateContent xmlns:mc="http://schemas.openxmlformats.org/markup-compatibility/2006">
              <mc:Choice xmlns:v="urn:schemas-microsoft-com:vml" Requires="v">
                <p:oleObj name="Equation" r:id="rId4" imgW="380880" imgH="177480" progId="Equation.DSMT4">
                  <p:embed/>
                </p:oleObj>
              </mc:Choice>
              <mc:Fallback>
                <p:oleObj name="Equation" r:id="rId4" imgW="380880" imgH="177480" progId="Equation.DSMT4">
                  <p:embed/>
                  <p:pic>
                    <p:nvPicPr>
                      <p:cNvPr id="8" name="Object 7">
                        <a:extLst>
                          <a:ext uri="{FF2B5EF4-FFF2-40B4-BE49-F238E27FC236}">
                            <a16:creationId xmlns:a16="http://schemas.microsoft.com/office/drawing/2014/main" id="{1F6D73E9-BED3-BA10-54B0-31E32380D985}"/>
                          </a:ext>
                        </a:extLst>
                      </p:cNvPr>
                      <p:cNvPicPr>
                        <a:picLocks noChangeAspect="1" noChangeArrowheads="1"/>
                      </p:cNvPicPr>
                      <p:nvPr/>
                    </p:nvPicPr>
                    <p:blipFill>
                      <a:blip r:embed="rId5"/>
                      <a:srcRect/>
                      <a:stretch>
                        <a:fillRect/>
                      </a:stretch>
                    </p:blipFill>
                    <p:spPr bwMode="auto">
                      <a:xfrm>
                        <a:off x="5093696" y="2298701"/>
                        <a:ext cx="376237"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B2973F8C-EC19-381A-49FC-51D7297435E5}"/>
              </a:ext>
            </a:extLst>
          </p:cNvPr>
          <p:cNvGraphicFramePr>
            <a:graphicFrameLocks noChangeAspect="1"/>
          </p:cNvGraphicFramePr>
          <p:nvPr>
            <p:extLst>
              <p:ext uri="{D42A27DB-BD31-4B8C-83A1-F6EECF244321}">
                <p14:modId xmlns:p14="http://schemas.microsoft.com/office/powerpoint/2010/main" val="806090226"/>
              </p:ext>
            </p:extLst>
          </p:nvPr>
        </p:nvGraphicFramePr>
        <p:xfrm>
          <a:off x="3823493" y="2581186"/>
          <a:ext cx="87312" cy="161925"/>
        </p:xfrm>
        <a:graphic>
          <a:graphicData uri="http://schemas.openxmlformats.org/presentationml/2006/ole">
            <mc:AlternateContent xmlns:mc="http://schemas.openxmlformats.org/markup-compatibility/2006">
              <mc:Choice xmlns:v="urn:schemas-microsoft-com:vml" Requires="v">
                <p:oleObj name="Equation" r:id="rId6" imgW="88560" imgH="164880" progId="Equation.DSMT4">
                  <p:embed/>
                </p:oleObj>
              </mc:Choice>
              <mc:Fallback>
                <p:oleObj name="Equation" r:id="rId6" imgW="88560" imgH="164880" progId="Equation.DSMT4">
                  <p:embed/>
                  <p:pic>
                    <p:nvPicPr>
                      <p:cNvPr id="9" name="Object 8">
                        <a:extLst>
                          <a:ext uri="{FF2B5EF4-FFF2-40B4-BE49-F238E27FC236}">
                            <a16:creationId xmlns:a16="http://schemas.microsoft.com/office/drawing/2014/main" id="{B2973F8C-EC19-381A-49FC-51D7297435E5}"/>
                          </a:ext>
                        </a:extLst>
                      </p:cNvPr>
                      <p:cNvPicPr>
                        <a:picLocks noChangeAspect="1" noChangeArrowheads="1"/>
                      </p:cNvPicPr>
                      <p:nvPr/>
                    </p:nvPicPr>
                    <p:blipFill>
                      <a:blip r:embed="rId7"/>
                      <a:srcRect/>
                      <a:stretch>
                        <a:fillRect/>
                      </a:stretch>
                    </p:blipFill>
                    <p:spPr bwMode="auto">
                      <a:xfrm>
                        <a:off x="3823493" y="2581186"/>
                        <a:ext cx="87312"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extLst>
              <a:ext uri="{FF2B5EF4-FFF2-40B4-BE49-F238E27FC236}">
                <a16:creationId xmlns:a16="http://schemas.microsoft.com/office/drawing/2014/main" id="{33A8D1B2-C6D0-C7F6-1D63-902BBE4ADCAD}"/>
              </a:ext>
            </a:extLst>
          </p:cNvPr>
          <p:cNvGraphicFramePr>
            <a:graphicFrameLocks noChangeAspect="1"/>
          </p:cNvGraphicFramePr>
          <p:nvPr>
            <p:extLst>
              <p:ext uri="{D42A27DB-BD31-4B8C-83A1-F6EECF244321}">
                <p14:modId xmlns:p14="http://schemas.microsoft.com/office/powerpoint/2010/main" val="3737659892"/>
              </p:ext>
            </p:extLst>
          </p:nvPr>
        </p:nvGraphicFramePr>
        <p:xfrm>
          <a:off x="5152817" y="2579525"/>
          <a:ext cx="267202" cy="178135"/>
        </p:xfrm>
        <a:graphic>
          <a:graphicData uri="http://schemas.openxmlformats.org/presentationml/2006/ole">
            <mc:AlternateContent xmlns:mc="http://schemas.openxmlformats.org/markup-compatibility/2006">
              <mc:Choice xmlns:v="urn:schemas-microsoft-com:vml" Requires="v">
                <p:oleObj name="Equation" r:id="rId8" imgW="266400" imgH="177480" progId="Equation.DSMT4">
                  <p:embed/>
                </p:oleObj>
              </mc:Choice>
              <mc:Fallback>
                <p:oleObj name="Equation" r:id="rId8" imgW="266400" imgH="177480" progId="Equation.DSMT4">
                  <p:embed/>
                  <p:pic>
                    <p:nvPicPr>
                      <p:cNvPr id="10" name="Object 9">
                        <a:extLst>
                          <a:ext uri="{FF2B5EF4-FFF2-40B4-BE49-F238E27FC236}">
                            <a16:creationId xmlns:a16="http://schemas.microsoft.com/office/drawing/2014/main" id="{33A8D1B2-C6D0-C7F6-1D63-902BBE4ADCAD}"/>
                          </a:ext>
                        </a:extLst>
                      </p:cNvPr>
                      <p:cNvPicPr>
                        <a:picLocks noChangeAspect="1" noChangeArrowheads="1"/>
                      </p:cNvPicPr>
                      <p:nvPr/>
                    </p:nvPicPr>
                    <p:blipFill>
                      <a:blip r:embed="rId9"/>
                      <a:srcRect/>
                      <a:stretch>
                        <a:fillRect/>
                      </a:stretch>
                    </p:blipFill>
                    <p:spPr bwMode="auto">
                      <a:xfrm>
                        <a:off x="5152817" y="2579525"/>
                        <a:ext cx="267202" cy="1781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CA44FCCE-011D-1766-430B-216362BA82DA}"/>
              </a:ext>
            </a:extLst>
          </p:cNvPr>
          <p:cNvGraphicFramePr>
            <a:graphicFrameLocks noChangeAspect="1"/>
          </p:cNvGraphicFramePr>
          <p:nvPr>
            <p:extLst>
              <p:ext uri="{D42A27DB-BD31-4B8C-83A1-F6EECF244321}">
                <p14:modId xmlns:p14="http://schemas.microsoft.com/office/powerpoint/2010/main" val="296338230"/>
              </p:ext>
            </p:extLst>
          </p:nvPr>
        </p:nvGraphicFramePr>
        <p:xfrm>
          <a:off x="3823493" y="2837425"/>
          <a:ext cx="125413" cy="161925"/>
        </p:xfrm>
        <a:graphic>
          <a:graphicData uri="http://schemas.openxmlformats.org/presentationml/2006/ole">
            <mc:AlternateContent xmlns:mc="http://schemas.openxmlformats.org/markup-compatibility/2006">
              <mc:Choice xmlns:v="urn:schemas-microsoft-com:vml" Requires="v">
                <p:oleObj name="Equation" r:id="rId10" imgW="126720" imgH="164880" progId="Equation.DSMT4">
                  <p:embed/>
                </p:oleObj>
              </mc:Choice>
              <mc:Fallback>
                <p:oleObj name="Equation" r:id="rId10" imgW="126720" imgH="164880" progId="Equation.DSMT4">
                  <p:embed/>
                  <p:pic>
                    <p:nvPicPr>
                      <p:cNvPr id="11" name="Object 10">
                        <a:extLst>
                          <a:ext uri="{FF2B5EF4-FFF2-40B4-BE49-F238E27FC236}">
                            <a16:creationId xmlns:a16="http://schemas.microsoft.com/office/drawing/2014/main" id="{CA44FCCE-011D-1766-430B-216362BA82DA}"/>
                          </a:ext>
                        </a:extLst>
                      </p:cNvPr>
                      <p:cNvPicPr>
                        <a:picLocks noChangeAspect="1" noChangeArrowheads="1"/>
                      </p:cNvPicPr>
                      <p:nvPr/>
                    </p:nvPicPr>
                    <p:blipFill>
                      <a:blip r:embed="rId11"/>
                      <a:srcRect/>
                      <a:stretch>
                        <a:fillRect/>
                      </a:stretch>
                    </p:blipFill>
                    <p:spPr bwMode="auto">
                      <a:xfrm>
                        <a:off x="3823493" y="2837425"/>
                        <a:ext cx="125413"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a:extLst>
              <a:ext uri="{FF2B5EF4-FFF2-40B4-BE49-F238E27FC236}">
                <a16:creationId xmlns:a16="http://schemas.microsoft.com/office/drawing/2014/main" id="{D7A067D7-688C-7318-B9E4-AB984D682500}"/>
              </a:ext>
            </a:extLst>
          </p:cNvPr>
          <p:cNvGraphicFramePr>
            <a:graphicFrameLocks noChangeAspect="1"/>
          </p:cNvGraphicFramePr>
          <p:nvPr>
            <p:extLst>
              <p:ext uri="{D42A27DB-BD31-4B8C-83A1-F6EECF244321}">
                <p14:modId xmlns:p14="http://schemas.microsoft.com/office/powerpoint/2010/main" val="2183400694"/>
              </p:ext>
            </p:extLst>
          </p:nvPr>
        </p:nvGraphicFramePr>
        <p:xfrm>
          <a:off x="5153008" y="2853627"/>
          <a:ext cx="274638" cy="174625"/>
        </p:xfrm>
        <a:graphic>
          <a:graphicData uri="http://schemas.openxmlformats.org/presentationml/2006/ole">
            <mc:AlternateContent xmlns:mc="http://schemas.openxmlformats.org/markup-compatibility/2006">
              <mc:Choice xmlns:v="urn:schemas-microsoft-com:vml" Requires="v">
                <p:oleObj name="Equation" r:id="rId12" imgW="279360" imgH="177480" progId="Equation.DSMT4">
                  <p:embed/>
                </p:oleObj>
              </mc:Choice>
              <mc:Fallback>
                <p:oleObj name="Equation" r:id="rId12" imgW="279360" imgH="177480" progId="Equation.DSMT4">
                  <p:embed/>
                  <p:pic>
                    <p:nvPicPr>
                      <p:cNvPr id="12" name="Object 11">
                        <a:extLst>
                          <a:ext uri="{FF2B5EF4-FFF2-40B4-BE49-F238E27FC236}">
                            <a16:creationId xmlns:a16="http://schemas.microsoft.com/office/drawing/2014/main" id="{D7A067D7-688C-7318-B9E4-AB984D682500}"/>
                          </a:ext>
                        </a:extLst>
                      </p:cNvPr>
                      <p:cNvPicPr>
                        <a:picLocks noChangeAspect="1" noChangeArrowheads="1"/>
                      </p:cNvPicPr>
                      <p:nvPr/>
                    </p:nvPicPr>
                    <p:blipFill>
                      <a:blip r:embed="rId13"/>
                      <a:srcRect/>
                      <a:stretch>
                        <a:fillRect/>
                      </a:stretch>
                    </p:blipFill>
                    <p:spPr bwMode="auto">
                      <a:xfrm>
                        <a:off x="5153008" y="2853627"/>
                        <a:ext cx="274638"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AD2F9395-E5E2-C57A-2584-D8B6BCA06C04}"/>
              </a:ext>
            </a:extLst>
          </p:cNvPr>
          <p:cNvGraphicFramePr>
            <a:graphicFrameLocks noChangeAspect="1"/>
          </p:cNvGraphicFramePr>
          <p:nvPr>
            <p:extLst>
              <p:ext uri="{D42A27DB-BD31-4B8C-83A1-F6EECF244321}">
                <p14:modId xmlns:p14="http://schemas.microsoft.com/office/powerpoint/2010/main" val="3751035793"/>
              </p:ext>
            </p:extLst>
          </p:nvPr>
        </p:nvGraphicFramePr>
        <p:xfrm>
          <a:off x="3819033" y="3111814"/>
          <a:ext cx="112713" cy="174625"/>
        </p:xfrm>
        <a:graphic>
          <a:graphicData uri="http://schemas.openxmlformats.org/presentationml/2006/ole">
            <mc:AlternateContent xmlns:mc="http://schemas.openxmlformats.org/markup-compatibility/2006">
              <mc:Choice xmlns:v="urn:schemas-microsoft-com:vml" Requires="v">
                <p:oleObj name="Equation" r:id="rId14" imgW="114120" imgH="177480" progId="Equation.DSMT4">
                  <p:embed/>
                </p:oleObj>
              </mc:Choice>
              <mc:Fallback>
                <p:oleObj name="Equation" r:id="rId14" imgW="114120" imgH="177480" progId="Equation.DSMT4">
                  <p:embed/>
                  <p:pic>
                    <p:nvPicPr>
                      <p:cNvPr id="13" name="Object 12">
                        <a:extLst>
                          <a:ext uri="{FF2B5EF4-FFF2-40B4-BE49-F238E27FC236}">
                            <a16:creationId xmlns:a16="http://schemas.microsoft.com/office/drawing/2014/main" id="{AD2F9395-E5E2-C57A-2584-D8B6BCA06C04}"/>
                          </a:ext>
                        </a:extLst>
                      </p:cNvPr>
                      <p:cNvPicPr>
                        <a:picLocks noChangeAspect="1" noChangeArrowheads="1"/>
                      </p:cNvPicPr>
                      <p:nvPr/>
                    </p:nvPicPr>
                    <p:blipFill>
                      <a:blip r:embed="rId15"/>
                      <a:srcRect/>
                      <a:stretch>
                        <a:fillRect/>
                      </a:stretch>
                    </p:blipFill>
                    <p:spPr bwMode="auto">
                      <a:xfrm>
                        <a:off x="3819033" y="3111814"/>
                        <a:ext cx="1127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a:extLst>
              <a:ext uri="{FF2B5EF4-FFF2-40B4-BE49-F238E27FC236}">
                <a16:creationId xmlns:a16="http://schemas.microsoft.com/office/drawing/2014/main" id="{90946A2C-BC5B-CFF8-E59E-FF069E929F2B}"/>
              </a:ext>
            </a:extLst>
          </p:cNvPr>
          <p:cNvGraphicFramePr>
            <a:graphicFrameLocks noChangeAspect="1"/>
          </p:cNvGraphicFramePr>
          <p:nvPr>
            <p:extLst>
              <p:ext uri="{D42A27DB-BD31-4B8C-83A1-F6EECF244321}">
                <p14:modId xmlns:p14="http://schemas.microsoft.com/office/powerpoint/2010/main" val="495111109"/>
              </p:ext>
            </p:extLst>
          </p:nvPr>
        </p:nvGraphicFramePr>
        <p:xfrm>
          <a:off x="5152477" y="3132202"/>
          <a:ext cx="274638" cy="174625"/>
        </p:xfrm>
        <a:graphic>
          <a:graphicData uri="http://schemas.openxmlformats.org/presentationml/2006/ole">
            <mc:AlternateContent xmlns:mc="http://schemas.openxmlformats.org/markup-compatibility/2006">
              <mc:Choice xmlns:v="urn:schemas-microsoft-com:vml" Requires="v">
                <p:oleObj name="Equation" r:id="rId16" imgW="279360" imgH="177480" progId="Equation.DSMT4">
                  <p:embed/>
                </p:oleObj>
              </mc:Choice>
              <mc:Fallback>
                <p:oleObj name="Equation" r:id="rId16" imgW="279360" imgH="177480" progId="Equation.DSMT4">
                  <p:embed/>
                  <p:pic>
                    <p:nvPicPr>
                      <p:cNvPr id="14" name="Object 13">
                        <a:extLst>
                          <a:ext uri="{FF2B5EF4-FFF2-40B4-BE49-F238E27FC236}">
                            <a16:creationId xmlns:a16="http://schemas.microsoft.com/office/drawing/2014/main" id="{90946A2C-BC5B-CFF8-E59E-FF069E929F2B}"/>
                          </a:ext>
                        </a:extLst>
                      </p:cNvPr>
                      <p:cNvPicPr>
                        <a:picLocks noChangeAspect="1" noChangeArrowheads="1"/>
                      </p:cNvPicPr>
                      <p:nvPr/>
                    </p:nvPicPr>
                    <p:blipFill>
                      <a:blip r:embed="rId17"/>
                      <a:srcRect/>
                      <a:stretch>
                        <a:fillRect/>
                      </a:stretch>
                    </p:blipFill>
                    <p:spPr bwMode="auto">
                      <a:xfrm>
                        <a:off x="5152477" y="3132202"/>
                        <a:ext cx="274638"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a:extLst>
              <a:ext uri="{FF2B5EF4-FFF2-40B4-BE49-F238E27FC236}">
                <a16:creationId xmlns:a16="http://schemas.microsoft.com/office/drawing/2014/main" id="{A73A6E81-6720-D922-D75E-C0E91A7E2F3A}"/>
              </a:ext>
            </a:extLst>
          </p:cNvPr>
          <p:cNvGraphicFramePr>
            <a:graphicFrameLocks noChangeAspect="1"/>
          </p:cNvGraphicFramePr>
          <p:nvPr>
            <p:extLst>
              <p:ext uri="{D42A27DB-BD31-4B8C-83A1-F6EECF244321}">
                <p14:modId xmlns:p14="http://schemas.microsoft.com/office/powerpoint/2010/main" val="589322779"/>
              </p:ext>
            </p:extLst>
          </p:nvPr>
        </p:nvGraphicFramePr>
        <p:xfrm>
          <a:off x="3819033" y="3402607"/>
          <a:ext cx="125413" cy="161925"/>
        </p:xfrm>
        <a:graphic>
          <a:graphicData uri="http://schemas.openxmlformats.org/presentationml/2006/ole">
            <mc:AlternateContent xmlns:mc="http://schemas.openxmlformats.org/markup-compatibility/2006">
              <mc:Choice xmlns:v="urn:schemas-microsoft-com:vml" Requires="v">
                <p:oleObj name="Equation" r:id="rId18" imgW="126720" imgH="164880" progId="Equation.DSMT4">
                  <p:embed/>
                </p:oleObj>
              </mc:Choice>
              <mc:Fallback>
                <p:oleObj name="Equation" r:id="rId18" imgW="126720" imgH="164880" progId="Equation.DSMT4">
                  <p:embed/>
                  <p:pic>
                    <p:nvPicPr>
                      <p:cNvPr id="15" name="Object 14">
                        <a:extLst>
                          <a:ext uri="{FF2B5EF4-FFF2-40B4-BE49-F238E27FC236}">
                            <a16:creationId xmlns:a16="http://schemas.microsoft.com/office/drawing/2014/main" id="{A73A6E81-6720-D922-D75E-C0E91A7E2F3A}"/>
                          </a:ext>
                        </a:extLst>
                      </p:cNvPr>
                      <p:cNvPicPr>
                        <a:picLocks noChangeAspect="1" noChangeArrowheads="1"/>
                      </p:cNvPicPr>
                      <p:nvPr/>
                    </p:nvPicPr>
                    <p:blipFill>
                      <a:blip r:embed="rId19"/>
                      <a:srcRect/>
                      <a:stretch>
                        <a:fillRect/>
                      </a:stretch>
                    </p:blipFill>
                    <p:spPr bwMode="auto">
                      <a:xfrm>
                        <a:off x="3819033" y="3402607"/>
                        <a:ext cx="125413"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a:extLst>
              <a:ext uri="{FF2B5EF4-FFF2-40B4-BE49-F238E27FC236}">
                <a16:creationId xmlns:a16="http://schemas.microsoft.com/office/drawing/2014/main" id="{9D77368B-B46C-497E-3C49-663C221D01CA}"/>
              </a:ext>
            </a:extLst>
          </p:cNvPr>
          <p:cNvGraphicFramePr>
            <a:graphicFrameLocks noChangeAspect="1"/>
          </p:cNvGraphicFramePr>
          <p:nvPr>
            <p:extLst>
              <p:ext uri="{D42A27DB-BD31-4B8C-83A1-F6EECF244321}">
                <p14:modId xmlns:p14="http://schemas.microsoft.com/office/powerpoint/2010/main" val="217200159"/>
              </p:ext>
            </p:extLst>
          </p:nvPr>
        </p:nvGraphicFramePr>
        <p:xfrm>
          <a:off x="5141677" y="3413721"/>
          <a:ext cx="276225" cy="174625"/>
        </p:xfrm>
        <a:graphic>
          <a:graphicData uri="http://schemas.openxmlformats.org/presentationml/2006/ole">
            <mc:AlternateContent xmlns:mc="http://schemas.openxmlformats.org/markup-compatibility/2006">
              <mc:Choice xmlns:v="urn:schemas-microsoft-com:vml" Requires="v">
                <p:oleObj name="Equation" r:id="rId20" imgW="279360" imgH="177480" progId="Equation.DSMT4">
                  <p:embed/>
                </p:oleObj>
              </mc:Choice>
              <mc:Fallback>
                <p:oleObj name="Equation" r:id="rId20" imgW="279360" imgH="177480" progId="Equation.DSMT4">
                  <p:embed/>
                  <p:pic>
                    <p:nvPicPr>
                      <p:cNvPr id="16" name="Object 15">
                        <a:extLst>
                          <a:ext uri="{FF2B5EF4-FFF2-40B4-BE49-F238E27FC236}">
                            <a16:creationId xmlns:a16="http://schemas.microsoft.com/office/drawing/2014/main" id="{9D77368B-B46C-497E-3C49-663C221D01CA}"/>
                          </a:ext>
                        </a:extLst>
                      </p:cNvPr>
                      <p:cNvPicPr>
                        <a:picLocks noChangeAspect="1" noChangeArrowheads="1"/>
                      </p:cNvPicPr>
                      <p:nvPr/>
                    </p:nvPicPr>
                    <p:blipFill>
                      <a:blip r:embed="rId21"/>
                      <a:srcRect/>
                      <a:stretch>
                        <a:fillRect/>
                      </a:stretch>
                    </p:blipFill>
                    <p:spPr bwMode="auto">
                      <a:xfrm>
                        <a:off x="5141677" y="3413721"/>
                        <a:ext cx="276225"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a:extLst>
              <a:ext uri="{FF2B5EF4-FFF2-40B4-BE49-F238E27FC236}">
                <a16:creationId xmlns:a16="http://schemas.microsoft.com/office/drawing/2014/main" id="{EAFF60CE-F607-5E64-B50C-D00E832C7F42}"/>
              </a:ext>
            </a:extLst>
          </p:cNvPr>
          <p:cNvGraphicFramePr>
            <a:graphicFrameLocks noChangeAspect="1"/>
          </p:cNvGraphicFramePr>
          <p:nvPr>
            <p:extLst>
              <p:ext uri="{D42A27DB-BD31-4B8C-83A1-F6EECF244321}">
                <p14:modId xmlns:p14="http://schemas.microsoft.com/office/powerpoint/2010/main" val="522734436"/>
              </p:ext>
            </p:extLst>
          </p:nvPr>
        </p:nvGraphicFramePr>
        <p:xfrm>
          <a:off x="3825382" y="3689696"/>
          <a:ext cx="112713" cy="174625"/>
        </p:xfrm>
        <a:graphic>
          <a:graphicData uri="http://schemas.openxmlformats.org/presentationml/2006/ole">
            <mc:AlternateContent xmlns:mc="http://schemas.openxmlformats.org/markup-compatibility/2006">
              <mc:Choice xmlns:v="urn:schemas-microsoft-com:vml" Requires="v">
                <p:oleObj name="Equation" r:id="rId22" imgW="114120" imgH="177480" progId="Equation.DSMT4">
                  <p:embed/>
                </p:oleObj>
              </mc:Choice>
              <mc:Fallback>
                <p:oleObj name="Equation" r:id="rId22" imgW="114120" imgH="177480" progId="Equation.DSMT4">
                  <p:embed/>
                  <p:pic>
                    <p:nvPicPr>
                      <p:cNvPr id="17" name="Object 16">
                        <a:extLst>
                          <a:ext uri="{FF2B5EF4-FFF2-40B4-BE49-F238E27FC236}">
                            <a16:creationId xmlns:a16="http://schemas.microsoft.com/office/drawing/2014/main" id="{EAFF60CE-F607-5E64-B50C-D00E832C7F42}"/>
                          </a:ext>
                        </a:extLst>
                      </p:cNvPr>
                      <p:cNvPicPr>
                        <a:picLocks noChangeAspect="1" noChangeArrowheads="1"/>
                      </p:cNvPicPr>
                      <p:nvPr/>
                    </p:nvPicPr>
                    <p:blipFill>
                      <a:blip r:embed="rId23"/>
                      <a:srcRect/>
                      <a:stretch>
                        <a:fillRect/>
                      </a:stretch>
                    </p:blipFill>
                    <p:spPr bwMode="auto">
                      <a:xfrm>
                        <a:off x="3825382" y="3689696"/>
                        <a:ext cx="1127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a:extLst>
              <a:ext uri="{FF2B5EF4-FFF2-40B4-BE49-F238E27FC236}">
                <a16:creationId xmlns:a16="http://schemas.microsoft.com/office/drawing/2014/main" id="{8518A9BC-59F2-82C0-FE6F-1FC33C64350B}"/>
              </a:ext>
            </a:extLst>
          </p:cNvPr>
          <p:cNvGraphicFramePr>
            <a:graphicFrameLocks noChangeAspect="1"/>
          </p:cNvGraphicFramePr>
          <p:nvPr>
            <p:extLst>
              <p:ext uri="{D42A27DB-BD31-4B8C-83A1-F6EECF244321}">
                <p14:modId xmlns:p14="http://schemas.microsoft.com/office/powerpoint/2010/main" val="1886258320"/>
              </p:ext>
            </p:extLst>
          </p:nvPr>
        </p:nvGraphicFramePr>
        <p:xfrm>
          <a:off x="5153008" y="3691871"/>
          <a:ext cx="276225" cy="174625"/>
        </p:xfrm>
        <a:graphic>
          <a:graphicData uri="http://schemas.openxmlformats.org/presentationml/2006/ole">
            <mc:AlternateContent xmlns:mc="http://schemas.openxmlformats.org/markup-compatibility/2006">
              <mc:Choice xmlns:v="urn:schemas-microsoft-com:vml" Requires="v">
                <p:oleObj name="Equation" r:id="rId24" imgW="279360" imgH="177480" progId="Equation.DSMT4">
                  <p:embed/>
                </p:oleObj>
              </mc:Choice>
              <mc:Fallback>
                <p:oleObj name="Equation" r:id="rId24" imgW="279360" imgH="177480" progId="Equation.DSMT4">
                  <p:embed/>
                  <p:pic>
                    <p:nvPicPr>
                      <p:cNvPr id="18" name="Object 17">
                        <a:extLst>
                          <a:ext uri="{FF2B5EF4-FFF2-40B4-BE49-F238E27FC236}">
                            <a16:creationId xmlns:a16="http://schemas.microsoft.com/office/drawing/2014/main" id="{8518A9BC-59F2-82C0-FE6F-1FC33C64350B}"/>
                          </a:ext>
                        </a:extLst>
                      </p:cNvPr>
                      <p:cNvPicPr>
                        <a:picLocks noChangeAspect="1" noChangeArrowheads="1"/>
                      </p:cNvPicPr>
                      <p:nvPr/>
                    </p:nvPicPr>
                    <p:blipFill>
                      <a:blip r:embed="rId13"/>
                      <a:srcRect/>
                      <a:stretch>
                        <a:fillRect/>
                      </a:stretch>
                    </p:blipFill>
                    <p:spPr bwMode="auto">
                      <a:xfrm>
                        <a:off x="5153008" y="3691871"/>
                        <a:ext cx="276225"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a:extLst>
              <a:ext uri="{FF2B5EF4-FFF2-40B4-BE49-F238E27FC236}">
                <a16:creationId xmlns:a16="http://schemas.microsoft.com/office/drawing/2014/main" id="{6A773526-52AF-B951-511C-47A81C8D3EEB}"/>
              </a:ext>
            </a:extLst>
          </p:cNvPr>
          <p:cNvGraphicFramePr>
            <a:graphicFrameLocks noChangeAspect="1"/>
          </p:cNvGraphicFramePr>
          <p:nvPr>
            <p:extLst>
              <p:ext uri="{D42A27DB-BD31-4B8C-83A1-F6EECF244321}">
                <p14:modId xmlns:p14="http://schemas.microsoft.com/office/powerpoint/2010/main" val="2439784242"/>
              </p:ext>
            </p:extLst>
          </p:nvPr>
        </p:nvGraphicFramePr>
        <p:xfrm>
          <a:off x="3854447" y="3961001"/>
          <a:ext cx="74613" cy="174625"/>
        </p:xfrm>
        <a:graphic>
          <a:graphicData uri="http://schemas.openxmlformats.org/presentationml/2006/ole">
            <mc:AlternateContent xmlns:mc="http://schemas.openxmlformats.org/markup-compatibility/2006">
              <mc:Choice xmlns:v="urn:schemas-microsoft-com:vml" Requires="v">
                <p:oleObj name="Equation" r:id="rId25" imgW="75960" imgH="177480" progId="Equation.DSMT4">
                  <p:embed/>
                </p:oleObj>
              </mc:Choice>
              <mc:Fallback>
                <p:oleObj name="Equation" r:id="rId25" imgW="75960" imgH="177480" progId="Equation.DSMT4">
                  <p:embed/>
                  <p:pic>
                    <p:nvPicPr>
                      <p:cNvPr id="19" name="Object 18">
                        <a:extLst>
                          <a:ext uri="{FF2B5EF4-FFF2-40B4-BE49-F238E27FC236}">
                            <a16:creationId xmlns:a16="http://schemas.microsoft.com/office/drawing/2014/main" id="{6A773526-52AF-B951-511C-47A81C8D3EEB}"/>
                          </a:ext>
                        </a:extLst>
                      </p:cNvPr>
                      <p:cNvPicPr>
                        <a:picLocks noChangeAspect="1" noChangeArrowheads="1"/>
                      </p:cNvPicPr>
                      <p:nvPr/>
                    </p:nvPicPr>
                    <p:blipFill>
                      <a:blip r:embed="rId26"/>
                      <a:srcRect/>
                      <a:stretch>
                        <a:fillRect/>
                      </a:stretch>
                    </p:blipFill>
                    <p:spPr bwMode="auto">
                      <a:xfrm>
                        <a:off x="3854447" y="3961001"/>
                        <a:ext cx="746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a:extLst>
              <a:ext uri="{FF2B5EF4-FFF2-40B4-BE49-F238E27FC236}">
                <a16:creationId xmlns:a16="http://schemas.microsoft.com/office/drawing/2014/main" id="{15608433-FC2D-1A56-9020-D228D0AEF48B}"/>
              </a:ext>
            </a:extLst>
          </p:cNvPr>
          <p:cNvGraphicFramePr>
            <a:graphicFrameLocks noChangeAspect="1"/>
          </p:cNvGraphicFramePr>
          <p:nvPr>
            <p:extLst>
              <p:ext uri="{D42A27DB-BD31-4B8C-83A1-F6EECF244321}">
                <p14:modId xmlns:p14="http://schemas.microsoft.com/office/powerpoint/2010/main" val="3546165114"/>
              </p:ext>
            </p:extLst>
          </p:nvPr>
        </p:nvGraphicFramePr>
        <p:xfrm>
          <a:off x="5282651" y="3938777"/>
          <a:ext cx="74613" cy="174625"/>
        </p:xfrm>
        <a:graphic>
          <a:graphicData uri="http://schemas.openxmlformats.org/presentationml/2006/ole">
            <mc:AlternateContent xmlns:mc="http://schemas.openxmlformats.org/markup-compatibility/2006">
              <mc:Choice xmlns:v="urn:schemas-microsoft-com:vml" Requires="v">
                <p:oleObj name="Equation" r:id="rId25" imgW="75960" imgH="177480" progId="Equation.DSMT4">
                  <p:embed/>
                </p:oleObj>
              </mc:Choice>
              <mc:Fallback>
                <p:oleObj name="Equation" r:id="rId25" imgW="75960" imgH="177480" progId="Equation.DSMT4">
                  <p:embed/>
                  <p:pic>
                    <p:nvPicPr>
                      <p:cNvPr id="20" name="Object 19">
                        <a:extLst>
                          <a:ext uri="{FF2B5EF4-FFF2-40B4-BE49-F238E27FC236}">
                            <a16:creationId xmlns:a16="http://schemas.microsoft.com/office/drawing/2014/main" id="{15608433-FC2D-1A56-9020-D228D0AEF48B}"/>
                          </a:ext>
                        </a:extLst>
                      </p:cNvPr>
                      <p:cNvPicPr>
                        <a:picLocks noChangeAspect="1" noChangeArrowheads="1"/>
                      </p:cNvPicPr>
                      <p:nvPr/>
                    </p:nvPicPr>
                    <p:blipFill>
                      <a:blip r:embed="rId26"/>
                      <a:srcRect/>
                      <a:stretch>
                        <a:fillRect/>
                      </a:stretch>
                    </p:blipFill>
                    <p:spPr bwMode="auto">
                      <a:xfrm>
                        <a:off x="5282651" y="3938777"/>
                        <a:ext cx="746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a:extLst>
              <a:ext uri="{FF2B5EF4-FFF2-40B4-BE49-F238E27FC236}">
                <a16:creationId xmlns:a16="http://schemas.microsoft.com/office/drawing/2014/main" id="{32B42562-639A-9771-23D9-917D4EE81598}"/>
              </a:ext>
            </a:extLst>
          </p:cNvPr>
          <p:cNvGraphicFramePr>
            <a:graphicFrameLocks noChangeAspect="1"/>
          </p:cNvGraphicFramePr>
          <p:nvPr>
            <p:extLst>
              <p:ext uri="{D42A27DB-BD31-4B8C-83A1-F6EECF244321}">
                <p14:modId xmlns:p14="http://schemas.microsoft.com/office/powerpoint/2010/main" val="2627602947"/>
              </p:ext>
            </p:extLst>
          </p:nvPr>
        </p:nvGraphicFramePr>
        <p:xfrm>
          <a:off x="3803646" y="4255822"/>
          <a:ext cx="176213" cy="174625"/>
        </p:xfrm>
        <a:graphic>
          <a:graphicData uri="http://schemas.openxmlformats.org/presentationml/2006/ole">
            <mc:AlternateContent xmlns:mc="http://schemas.openxmlformats.org/markup-compatibility/2006">
              <mc:Choice xmlns:v="urn:schemas-microsoft-com:vml" Requires="v">
                <p:oleObj name="Equation" r:id="rId27" imgW="177480" imgH="177480" progId="Equation.DSMT4">
                  <p:embed/>
                </p:oleObj>
              </mc:Choice>
              <mc:Fallback>
                <p:oleObj name="Equation" r:id="rId27" imgW="177480" imgH="177480" progId="Equation.DSMT4">
                  <p:embed/>
                  <p:pic>
                    <p:nvPicPr>
                      <p:cNvPr id="21" name="Object 20">
                        <a:extLst>
                          <a:ext uri="{FF2B5EF4-FFF2-40B4-BE49-F238E27FC236}">
                            <a16:creationId xmlns:a16="http://schemas.microsoft.com/office/drawing/2014/main" id="{32B42562-639A-9771-23D9-917D4EE81598}"/>
                          </a:ext>
                        </a:extLst>
                      </p:cNvPr>
                      <p:cNvPicPr>
                        <a:picLocks noChangeAspect="1" noChangeArrowheads="1"/>
                      </p:cNvPicPr>
                      <p:nvPr/>
                    </p:nvPicPr>
                    <p:blipFill>
                      <a:blip r:embed="rId28"/>
                      <a:srcRect/>
                      <a:stretch>
                        <a:fillRect/>
                      </a:stretch>
                    </p:blipFill>
                    <p:spPr bwMode="auto">
                      <a:xfrm>
                        <a:off x="3803646" y="4255822"/>
                        <a:ext cx="1762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a:extLst>
              <a:ext uri="{FF2B5EF4-FFF2-40B4-BE49-F238E27FC236}">
                <a16:creationId xmlns:a16="http://schemas.microsoft.com/office/drawing/2014/main" id="{B9E00C1F-D3AD-D5A4-629F-E58E4B12A4D5}"/>
              </a:ext>
            </a:extLst>
          </p:cNvPr>
          <p:cNvGraphicFramePr>
            <a:graphicFrameLocks noChangeAspect="1"/>
          </p:cNvGraphicFramePr>
          <p:nvPr>
            <p:extLst>
              <p:ext uri="{D42A27DB-BD31-4B8C-83A1-F6EECF244321}">
                <p14:modId xmlns:p14="http://schemas.microsoft.com/office/powerpoint/2010/main" val="3342852883"/>
              </p:ext>
            </p:extLst>
          </p:nvPr>
        </p:nvGraphicFramePr>
        <p:xfrm>
          <a:off x="5151202" y="4231322"/>
          <a:ext cx="265113" cy="174625"/>
        </p:xfrm>
        <a:graphic>
          <a:graphicData uri="http://schemas.openxmlformats.org/presentationml/2006/ole">
            <mc:AlternateContent xmlns:mc="http://schemas.openxmlformats.org/markup-compatibility/2006">
              <mc:Choice xmlns:v="urn:schemas-microsoft-com:vml" Requires="v">
                <p:oleObj name="Equation" r:id="rId29" imgW="266400" imgH="177480" progId="Equation.DSMT4">
                  <p:embed/>
                </p:oleObj>
              </mc:Choice>
              <mc:Fallback>
                <p:oleObj name="Equation" r:id="rId29" imgW="266400" imgH="177480" progId="Equation.DSMT4">
                  <p:embed/>
                  <p:pic>
                    <p:nvPicPr>
                      <p:cNvPr id="22" name="Object 21">
                        <a:extLst>
                          <a:ext uri="{FF2B5EF4-FFF2-40B4-BE49-F238E27FC236}">
                            <a16:creationId xmlns:a16="http://schemas.microsoft.com/office/drawing/2014/main" id="{B9E00C1F-D3AD-D5A4-629F-E58E4B12A4D5}"/>
                          </a:ext>
                        </a:extLst>
                      </p:cNvPr>
                      <p:cNvPicPr>
                        <a:picLocks noChangeAspect="1" noChangeArrowheads="1"/>
                      </p:cNvPicPr>
                      <p:nvPr/>
                    </p:nvPicPr>
                    <p:blipFill>
                      <a:blip r:embed="rId30"/>
                      <a:srcRect/>
                      <a:stretch>
                        <a:fillRect/>
                      </a:stretch>
                    </p:blipFill>
                    <p:spPr bwMode="auto">
                      <a:xfrm>
                        <a:off x="5151202" y="4231322"/>
                        <a:ext cx="2651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a:extLst>
              <a:ext uri="{FF2B5EF4-FFF2-40B4-BE49-F238E27FC236}">
                <a16:creationId xmlns:a16="http://schemas.microsoft.com/office/drawing/2014/main" id="{407ABF2A-D5B4-8493-46B7-6FED0B42E71A}"/>
              </a:ext>
            </a:extLst>
          </p:cNvPr>
          <p:cNvGraphicFramePr>
            <a:graphicFrameLocks noChangeAspect="1"/>
          </p:cNvGraphicFramePr>
          <p:nvPr>
            <p:extLst>
              <p:ext uri="{D42A27DB-BD31-4B8C-83A1-F6EECF244321}">
                <p14:modId xmlns:p14="http://schemas.microsoft.com/office/powerpoint/2010/main" val="2639569895"/>
              </p:ext>
            </p:extLst>
          </p:nvPr>
        </p:nvGraphicFramePr>
        <p:xfrm>
          <a:off x="3797698" y="4506530"/>
          <a:ext cx="201613" cy="174625"/>
        </p:xfrm>
        <a:graphic>
          <a:graphicData uri="http://schemas.openxmlformats.org/presentationml/2006/ole">
            <mc:AlternateContent xmlns:mc="http://schemas.openxmlformats.org/markup-compatibility/2006">
              <mc:Choice xmlns:v="urn:schemas-microsoft-com:vml" Requires="v">
                <p:oleObj name="Equation" r:id="rId31" imgW="203040" imgH="177480" progId="Equation.DSMT4">
                  <p:embed/>
                </p:oleObj>
              </mc:Choice>
              <mc:Fallback>
                <p:oleObj name="Equation" r:id="rId31" imgW="203040" imgH="177480" progId="Equation.DSMT4">
                  <p:embed/>
                  <p:pic>
                    <p:nvPicPr>
                      <p:cNvPr id="23" name="Object 22">
                        <a:extLst>
                          <a:ext uri="{FF2B5EF4-FFF2-40B4-BE49-F238E27FC236}">
                            <a16:creationId xmlns:a16="http://schemas.microsoft.com/office/drawing/2014/main" id="{407ABF2A-D5B4-8493-46B7-6FED0B42E71A}"/>
                          </a:ext>
                        </a:extLst>
                      </p:cNvPr>
                      <p:cNvPicPr>
                        <a:picLocks noChangeAspect="1" noChangeArrowheads="1"/>
                      </p:cNvPicPr>
                      <p:nvPr/>
                    </p:nvPicPr>
                    <p:blipFill>
                      <a:blip r:embed="rId32"/>
                      <a:srcRect/>
                      <a:stretch>
                        <a:fillRect/>
                      </a:stretch>
                    </p:blipFill>
                    <p:spPr bwMode="auto">
                      <a:xfrm>
                        <a:off x="3797698" y="4506530"/>
                        <a:ext cx="2016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a:extLst>
              <a:ext uri="{FF2B5EF4-FFF2-40B4-BE49-F238E27FC236}">
                <a16:creationId xmlns:a16="http://schemas.microsoft.com/office/drawing/2014/main" id="{704CBCD0-FD6E-7967-ED1B-0A2096F058DB}"/>
              </a:ext>
            </a:extLst>
          </p:cNvPr>
          <p:cNvGraphicFramePr>
            <a:graphicFrameLocks noChangeAspect="1"/>
          </p:cNvGraphicFramePr>
          <p:nvPr>
            <p:extLst>
              <p:ext uri="{D42A27DB-BD31-4B8C-83A1-F6EECF244321}">
                <p14:modId xmlns:p14="http://schemas.microsoft.com/office/powerpoint/2010/main" val="1055882291"/>
              </p:ext>
            </p:extLst>
          </p:nvPr>
        </p:nvGraphicFramePr>
        <p:xfrm>
          <a:off x="5140882" y="4516526"/>
          <a:ext cx="277813" cy="174625"/>
        </p:xfrm>
        <a:graphic>
          <a:graphicData uri="http://schemas.openxmlformats.org/presentationml/2006/ole">
            <mc:AlternateContent xmlns:mc="http://schemas.openxmlformats.org/markup-compatibility/2006">
              <mc:Choice xmlns:v="urn:schemas-microsoft-com:vml" Requires="v">
                <p:oleObj name="Equation" r:id="rId33" imgW="279360" imgH="177480" progId="Equation.DSMT4">
                  <p:embed/>
                </p:oleObj>
              </mc:Choice>
              <mc:Fallback>
                <p:oleObj name="Equation" r:id="rId33" imgW="279360" imgH="177480" progId="Equation.DSMT4">
                  <p:embed/>
                  <p:pic>
                    <p:nvPicPr>
                      <p:cNvPr id="24" name="Object 23">
                        <a:extLst>
                          <a:ext uri="{FF2B5EF4-FFF2-40B4-BE49-F238E27FC236}">
                            <a16:creationId xmlns:a16="http://schemas.microsoft.com/office/drawing/2014/main" id="{704CBCD0-FD6E-7967-ED1B-0A2096F058DB}"/>
                          </a:ext>
                        </a:extLst>
                      </p:cNvPr>
                      <p:cNvPicPr>
                        <a:picLocks noChangeAspect="1" noChangeArrowheads="1"/>
                      </p:cNvPicPr>
                      <p:nvPr/>
                    </p:nvPicPr>
                    <p:blipFill>
                      <a:blip r:embed="rId34"/>
                      <a:srcRect/>
                      <a:stretch>
                        <a:fillRect/>
                      </a:stretch>
                    </p:blipFill>
                    <p:spPr bwMode="auto">
                      <a:xfrm>
                        <a:off x="5140882" y="4516526"/>
                        <a:ext cx="2778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4">
            <a:extLst>
              <a:ext uri="{FF2B5EF4-FFF2-40B4-BE49-F238E27FC236}">
                <a16:creationId xmlns:a16="http://schemas.microsoft.com/office/drawing/2014/main" id="{F4C45108-D877-F887-5987-A51B2D4743E3}"/>
              </a:ext>
            </a:extLst>
          </p:cNvPr>
          <p:cNvGraphicFramePr>
            <a:graphicFrameLocks noChangeAspect="1"/>
          </p:cNvGraphicFramePr>
          <p:nvPr>
            <p:extLst>
              <p:ext uri="{D42A27DB-BD31-4B8C-83A1-F6EECF244321}">
                <p14:modId xmlns:p14="http://schemas.microsoft.com/office/powerpoint/2010/main" val="3139760716"/>
              </p:ext>
            </p:extLst>
          </p:nvPr>
        </p:nvGraphicFramePr>
        <p:xfrm>
          <a:off x="3805397" y="4761811"/>
          <a:ext cx="188913" cy="161925"/>
        </p:xfrm>
        <a:graphic>
          <a:graphicData uri="http://schemas.openxmlformats.org/presentationml/2006/ole">
            <mc:AlternateContent xmlns:mc="http://schemas.openxmlformats.org/markup-compatibility/2006">
              <mc:Choice xmlns:v="urn:schemas-microsoft-com:vml" Requires="v">
                <p:oleObj name="Equation" r:id="rId35" imgW="190440" imgH="164880" progId="Equation.DSMT4">
                  <p:embed/>
                </p:oleObj>
              </mc:Choice>
              <mc:Fallback>
                <p:oleObj name="Equation" r:id="rId35" imgW="190440" imgH="164880" progId="Equation.DSMT4">
                  <p:embed/>
                  <p:pic>
                    <p:nvPicPr>
                      <p:cNvPr id="25" name="Object 24">
                        <a:extLst>
                          <a:ext uri="{FF2B5EF4-FFF2-40B4-BE49-F238E27FC236}">
                            <a16:creationId xmlns:a16="http://schemas.microsoft.com/office/drawing/2014/main" id="{F4C45108-D877-F887-5987-A51B2D4743E3}"/>
                          </a:ext>
                        </a:extLst>
                      </p:cNvPr>
                      <p:cNvPicPr>
                        <a:picLocks noChangeAspect="1" noChangeArrowheads="1"/>
                      </p:cNvPicPr>
                      <p:nvPr/>
                    </p:nvPicPr>
                    <p:blipFill>
                      <a:blip r:embed="rId36"/>
                      <a:srcRect/>
                      <a:stretch>
                        <a:fillRect/>
                      </a:stretch>
                    </p:blipFill>
                    <p:spPr bwMode="auto">
                      <a:xfrm>
                        <a:off x="3805397" y="4761811"/>
                        <a:ext cx="188913"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25">
            <a:extLst>
              <a:ext uri="{FF2B5EF4-FFF2-40B4-BE49-F238E27FC236}">
                <a16:creationId xmlns:a16="http://schemas.microsoft.com/office/drawing/2014/main" id="{2DFEA05E-7BD5-D0BB-9601-9452086BDD4B}"/>
              </a:ext>
            </a:extLst>
          </p:cNvPr>
          <p:cNvGraphicFramePr>
            <a:graphicFrameLocks noChangeAspect="1"/>
          </p:cNvGraphicFramePr>
          <p:nvPr>
            <p:extLst>
              <p:ext uri="{D42A27DB-BD31-4B8C-83A1-F6EECF244321}">
                <p14:modId xmlns:p14="http://schemas.microsoft.com/office/powerpoint/2010/main" val="2512639277"/>
              </p:ext>
            </p:extLst>
          </p:nvPr>
        </p:nvGraphicFramePr>
        <p:xfrm>
          <a:off x="5137092" y="4776170"/>
          <a:ext cx="275877" cy="180063"/>
        </p:xfrm>
        <a:graphic>
          <a:graphicData uri="http://schemas.openxmlformats.org/presentationml/2006/ole">
            <mc:AlternateContent xmlns:mc="http://schemas.openxmlformats.org/markup-compatibility/2006">
              <mc:Choice xmlns:v="urn:schemas-microsoft-com:vml" Requires="v">
                <p:oleObj name="Equation" r:id="rId37" imgW="266400" imgH="177480" progId="Equation.DSMT4">
                  <p:embed/>
                </p:oleObj>
              </mc:Choice>
              <mc:Fallback>
                <p:oleObj name="Equation" r:id="rId37" imgW="266400" imgH="177480" progId="Equation.DSMT4">
                  <p:embed/>
                  <p:pic>
                    <p:nvPicPr>
                      <p:cNvPr id="26" name="Object 25">
                        <a:extLst>
                          <a:ext uri="{FF2B5EF4-FFF2-40B4-BE49-F238E27FC236}">
                            <a16:creationId xmlns:a16="http://schemas.microsoft.com/office/drawing/2014/main" id="{2DFEA05E-7BD5-D0BB-9601-9452086BDD4B}"/>
                          </a:ext>
                        </a:extLst>
                      </p:cNvPr>
                      <p:cNvPicPr>
                        <a:picLocks noChangeAspect="1" noChangeArrowheads="1"/>
                      </p:cNvPicPr>
                      <p:nvPr/>
                    </p:nvPicPr>
                    <p:blipFill>
                      <a:blip r:embed="rId9"/>
                      <a:srcRect/>
                      <a:stretch>
                        <a:fillRect/>
                      </a:stretch>
                    </p:blipFill>
                    <p:spPr bwMode="auto">
                      <a:xfrm>
                        <a:off x="5137092" y="4776170"/>
                        <a:ext cx="275877" cy="18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3491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B547-EE2A-0E7A-2600-228B52916518}"/>
              </a:ext>
            </a:extLst>
          </p:cNvPr>
          <p:cNvSpPr>
            <a:spLocks noGrp="1"/>
          </p:cNvSpPr>
          <p:nvPr>
            <p:ph type="title"/>
          </p:nvPr>
        </p:nvSpPr>
        <p:spPr/>
        <p:txBody>
          <a:bodyPr/>
          <a:lstStyle/>
          <a:p>
            <a:r>
              <a:rPr lang="en-US" dirty="0"/>
              <a:t>Moving Average Method</a:t>
            </a:r>
          </a:p>
        </p:txBody>
      </p:sp>
      <p:sp>
        <p:nvSpPr>
          <p:cNvPr id="3" name="Slide Number Placeholder 2">
            <a:extLst>
              <a:ext uri="{FF2B5EF4-FFF2-40B4-BE49-F238E27FC236}">
                <a16:creationId xmlns:a16="http://schemas.microsoft.com/office/drawing/2014/main" id="{A2067F32-CBFF-036D-91D3-3ABBDCD30507}"/>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Content Placeholder 3">
            <a:extLst>
              <a:ext uri="{FF2B5EF4-FFF2-40B4-BE49-F238E27FC236}">
                <a16:creationId xmlns:a16="http://schemas.microsoft.com/office/drawing/2014/main" id="{022A8125-9337-CA03-65C2-5E7BDD631F84}"/>
              </a:ext>
            </a:extLst>
          </p:cNvPr>
          <p:cNvSpPr>
            <a:spLocks noGrp="1"/>
          </p:cNvSpPr>
          <p:nvPr>
            <p:ph sz="quarter" idx="1"/>
          </p:nvPr>
        </p:nvSpPr>
        <p:spPr>
          <a:xfrm>
            <a:off x="1115616" y="1412776"/>
            <a:ext cx="7289072" cy="4968552"/>
          </a:xfrm>
        </p:spPr>
        <p:txBody>
          <a:bodyPr>
            <a:normAutofit/>
          </a:bodyPr>
          <a:lstStyle/>
          <a:p>
            <a:pPr marL="0" indent="0">
              <a:buNone/>
            </a:pPr>
            <a:r>
              <a:rPr lang="en-US" sz="2800" b="1" dirty="0"/>
              <a:t>Example 5.2:</a:t>
            </a:r>
            <a:r>
              <a:rPr lang="en-US" sz="2800" dirty="0"/>
              <a:t> Food trucks have become a common sight on Canadian campuses. They serve scores of hungry students strolling through campus and looking fore trendy food served fast. The data file “</a:t>
            </a:r>
            <a:r>
              <a:rPr lang="en-US" sz="2800" dirty="0" err="1"/>
              <a:t>FoodTruck</a:t>
            </a:r>
            <a:r>
              <a:rPr lang="en-US" sz="2800" dirty="0"/>
              <a:t>” contains the number of students served on weekdays on a small campus in Ontario. Use the 3-period moving average to make a forecast for weekday 41</a:t>
            </a:r>
          </a:p>
        </p:txBody>
      </p:sp>
    </p:spTree>
    <p:extLst>
      <p:ext uri="{BB962C8B-B14F-4D97-AF65-F5344CB8AC3E}">
        <p14:creationId xmlns:p14="http://schemas.microsoft.com/office/powerpoint/2010/main" val="1316860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CB9C-FD57-96FF-9C3A-9C29E5610E5B}"/>
              </a:ext>
            </a:extLst>
          </p:cNvPr>
          <p:cNvSpPr>
            <a:spLocks noGrp="1"/>
          </p:cNvSpPr>
          <p:nvPr>
            <p:ph type="title"/>
          </p:nvPr>
        </p:nvSpPr>
        <p:spPr/>
        <p:txBody>
          <a:bodyPr/>
          <a:lstStyle/>
          <a:p>
            <a:r>
              <a:rPr lang="en-US" dirty="0"/>
              <a:t>Moving Average Method</a:t>
            </a:r>
          </a:p>
        </p:txBody>
      </p:sp>
      <p:sp>
        <p:nvSpPr>
          <p:cNvPr id="3" name="Slide Number Placeholder 2">
            <a:extLst>
              <a:ext uri="{FF2B5EF4-FFF2-40B4-BE49-F238E27FC236}">
                <a16:creationId xmlns:a16="http://schemas.microsoft.com/office/drawing/2014/main" id="{3DFD800A-C08D-0CD8-8F82-056B6C680139}"/>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5" name="Group 3">
            <a:extLst>
              <a:ext uri="{FF2B5EF4-FFF2-40B4-BE49-F238E27FC236}">
                <a16:creationId xmlns:a16="http://schemas.microsoft.com/office/drawing/2014/main" id="{51C2E4A3-6286-C895-62FA-7A352A100554}"/>
              </a:ext>
            </a:extLst>
          </p:cNvPr>
          <p:cNvGrpSpPr>
            <a:grpSpLocks/>
          </p:cNvGrpSpPr>
          <p:nvPr/>
        </p:nvGrpSpPr>
        <p:grpSpPr bwMode="auto">
          <a:xfrm>
            <a:off x="1087926" y="1844824"/>
            <a:ext cx="6580188" cy="3995738"/>
            <a:chOff x="639" y="1426"/>
            <a:chExt cx="4145" cy="2517"/>
          </a:xfrm>
        </p:grpSpPr>
        <p:sp>
          <p:nvSpPr>
            <p:cNvPr id="6" name="Rectangle 4">
              <a:extLst>
                <a:ext uri="{FF2B5EF4-FFF2-40B4-BE49-F238E27FC236}">
                  <a16:creationId xmlns:a16="http://schemas.microsoft.com/office/drawing/2014/main" id="{5E0FCEA5-3681-70A3-2020-B37AD482D7B5}"/>
                </a:ext>
              </a:extLst>
            </p:cNvPr>
            <p:cNvSpPr>
              <a:spLocks noChangeArrowheads="1"/>
            </p:cNvSpPr>
            <p:nvPr/>
          </p:nvSpPr>
          <p:spPr bwMode="auto">
            <a:xfrm>
              <a:off x="1070" y="3453"/>
              <a:ext cx="3704" cy="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1pPr>
              <a:lvl2pPr marL="742950" indent="-285750">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2pPr>
              <a:lvl3pPr marL="1143000" indent="-228600">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3pPr>
              <a:lvl4pPr marL="1600200" indent="-228600">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4pPr>
              <a:lvl5pPr marL="2057400" indent="-228600">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tabLst>
                  <a:tab pos="381000" algn="ctr"/>
                  <a:tab pos="863600" algn="ctr"/>
                  <a:tab pos="1333500" algn="ctr"/>
                  <a:tab pos="1816100" algn="ctr"/>
                  <a:tab pos="2286000" algn="ctr"/>
                  <a:tab pos="2768600" algn="ctr"/>
                  <a:tab pos="3238500" algn="ctr"/>
                  <a:tab pos="3721100" algn="ctr"/>
                  <a:tab pos="4191000" algn="ctr"/>
                  <a:tab pos="4673600" algn="ctr"/>
                  <a:tab pos="5143500" algn="ctr"/>
                  <a:tab pos="5613400" algn="ctr"/>
                </a:tabLst>
                <a:defRPr sz="2400">
                  <a:solidFill>
                    <a:schemeClr val="tx1"/>
                  </a:solidFill>
                  <a:latin typeface="Arial" charset="0"/>
                  <a:ea typeface="ＭＳ Ｐゴシック" charset="-128"/>
                </a:defRPr>
              </a:lvl9pPr>
            </a:lstStyle>
            <a:p>
              <a:pPr algn="l">
                <a:lnSpc>
                  <a:spcPct val="125000"/>
                </a:lnSpc>
              </a:pPr>
              <a:r>
                <a:rPr lang="en-US" altLang="en-US" sz="1800" b="1"/>
                <a:t>	|	|	|	|	|	|	|	|	|	|	|	|</a:t>
              </a:r>
            </a:p>
            <a:p>
              <a:pPr algn="l">
                <a:lnSpc>
                  <a:spcPct val="125000"/>
                </a:lnSpc>
              </a:pPr>
              <a:r>
                <a:rPr lang="en-US" altLang="en-US" sz="1800" b="1"/>
                <a:t>	J	F	M	A	M	J	J	A	S	O	N	D</a:t>
              </a:r>
            </a:p>
          </p:txBody>
        </p:sp>
        <p:sp>
          <p:nvSpPr>
            <p:cNvPr id="7" name="Freeform 5">
              <a:extLst>
                <a:ext uri="{FF2B5EF4-FFF2-40B4-BE49-F238E27FC236}">
                  <a16:creationId xmlns:a16="http://schemas.microsoft.com/office/drawing/2014/main" id="{CA38E1B3-E721-409B-FD57-14891C5A7194}"/>
                </a:ext>
              </a:extLst>
            </p:cNvPr>
            <p:cNvSpPr>
              <a:spLocks/>
            </p:cNvSpPr>
            <p:nvPr/>
          </p:nvSpPr>
          <p:spPr bwMode="auto">
            <a:xfrm>
              <a:off x="1192" y="1456"/>
              <a:ext cx="3592" cy="2224"/>
            </a:xfrm>
            <a:custGeom>
              <a:avLst/>
              <a:gdLst>
                <a:gd name="T0" fmla="*/ 0 w 3592"/>
                <a:gd name="T1" fmla="*/ 0 h 2224"/>
                <a:gd name="T2" fmla="*/ 0 w 3592"/>
                <a:gd name="T3" fmla="*/ 2224 h 2224"/>
                <a:gd name="T4" fmla="*/ 3592 w 3592"/>
                <a:gd name="T5" fmla="*/ 2224 h 2224"/>
                <a:gd name="T6" fmla="*/ 0 60000 65536"/>
                <a:gd name="T7" fmla="*/ 0 60000 65536"/>
                <a:gd name="T8" fmla="*/ 0 60000 65536"/>
                <a:gd name="T9" fmla="*/ 0 w 3592"/>
                <a:gd name="T10" fmla="*/ 0 h 2224"/>
                <a:gd name="T11" fmla="*/ 3592 w 3592"/>
                <a:gd name="T12" fmla="*/ 2224 h 2224"/>
              </a:gdLst>
              <a:ahLst/>
              <a:cxnLst>
                <a:cxn ang="T6">
                  <a:pos x="T0" y="T1"/>
                </a:cxn>
                <a:cxn ang="T7">
                  <a:pos x="T2" y="T3"/>
                </a:cxn>
                <a:cxn ang="T8">
                  <a:pos x="T4" y="T5"/>
                </a:cxn>
              </a:cxnLst>
              <a:rect l="T9" t="T10" r="T11" b="T12"/>
              <a:pathLst>
                <a:path w="3592" h="2224">
                  <a:moveTo>
                    <a:pt x="0" y="0"/>
                  </a:moveTo>
                  <a:lnTo>
                    <a:pt x="0" y="2224"/>
                  </a:lnTo>
                  <a:lnTo>
                    <a:pt x="3592" y="2224"/>
                  </a:ln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sp>
          <p:nvSpPr>
            <p:cNvPr id="8" name="Rectangle 6">
              <a:extLst>
                <a:ext uri="{FF2B5EF4-FFF2-40B4-BE49-F238E27FC236}">
                  <a16:creationId xmlns:a16="http://schemas.microsoft.com/office/drawing/2014/main" id="{40014DD6-51E9-95F2-2CAF-0CF0F10BBF38}"/>
                </a:ext>
              </a:extLst>
            </p:cNvPr>
            <p:cNvSpPr>
              <a:spLocks noChangeArrowheads="1"/>
            </p:cNvSpPr>
            <p:nvPr/>
          </p:nvSpPr>
          <p:spPr bwMode="auto">
            <a:xfrm rot="16200000">
              <a:off x="508" y="2387"/>
              <a:ext cx="4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algn="l"/>
              <a:r>
                <a:rPr lang="en-US" altLang="en-US" sz="1800" b="1" dirty="0"/>
                <a:t>Sales</a:t>
              </a:r>
            </a:p>
          </p:txBody>
        </p:sp>
        <p:sp>
          <p:nvSpPr>
            <p:cNvPr id="9" name="Rectangle 7">
              <a:extLst>
                <a:ext uri="{FF2B5EF4-FFF2-40B4-BE49-F238E27FC236}">
                  <a16:creationId xmlns:a16="http://schemas.microsoft.com/office/drawing/2014/main" id="{A98FC3C9-5EAF-C8CA-86D7-684488365EE7}"/>
                </a:ext>
              </a:extLst>
            </p:cNvPr>
            <p:cNvSpPr>
              <a:spLocks noChangeArrowheads="1"/>
            </p:cNvSpPr>
            <p:nvPr/>
          </p:nvSpPr>
          <p:spPr bwMode="auto">
            <a:xfrm>
              <a:off x="926" y="1426"/>
              <a:ext cx="396" cy="2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algn="r">
                <a:lnSpc>
                  <a:spcPct val="110000"/>
                </a:lnSpc>
              </a:pPr>
              <a:r>
                <a:rPr lang="en-US" altLang="en-US" sz="1800" b="1"/>
                <a:t>30 –</a:t>
              </a:r>
            </a:p>
            <a:p>
              <a:pPr algn="r">
                <a:lnSpc>
                  <a:spcPct val="110000"/>
                </a:lnSpc>
              </a:pPr>
              <a:r>
                <a:rPr lang="en-US" altLang="en-US" sz="1800" b="1"/>
                <a:t>28 –</a:t>
              </a:r>
            </a:p>
            <a:p>
              <a:pPr algn="r">
                <a:lnSpc>
                  <a:spcPct val="110000"/>
                </a:lnSpc>
              </a:pPr>
              <a:r>
                <a:rPr lang="en-US" altLang="en-US" sz="1800" b="1"/>
                <a:t>26 –</a:t>
              </a:r>
            </a:p>
            <a:p>
              <a:pPr algn="r">
                <a:lnSpc>
                  <a:spcPct val="110000"/>
                </a:lnSpc>
              </a:pPr>
              <a:r>
                <a:rPr lang="en-US" altLang="en-US" sz="1800" b="1"/>
                <a:t>24 –</a:t>
              </a:r>
            </a:p>
            <a:p>
              <a:pPr algn="r">
                <a:lnSpc>
                  <a:spcPct val="110000"/>
                </a:lnSpc>
              </a:pPr>
              <a:r>
                <a:rPr lang="en-US" altLang="en-US" sz="1800" b="1"/>
                <a:t>22 –</a:t>
              </a:r>
            </a:p>
            <a:p>
              <a:pPr algn="r">
                <a:lnSpc>
                  <a:spcPct val="110000"/>
                </a:lnSpc>
              </a:pPr>
              <a:r>
                <a:rPr lang="en-US" altLang="en-US" sz="1800" b="1"/>
                <a:t>20 –</a:t>
              </a:r>
            </a:p>
            <a:p>
              <a:pPr algn="r">
                <a:lnSpc>
                  <a:spcPct val="110000"/>
                </a:lnSpc>
              </a:pPr>
              <a:r>
                <a:rPr lang="en-US" altLang="en-US" sz="1800" b="1"/>
                <a:t>18 –</a:t>
              </a:r>
            </a:p>
            <a:p>
              <a:pPr algn="r">
                <a:lnSpc>
                  <a:spcPct val="110000"/>
                </a:lnSpc>
              </a:pPr>
              <a:r>
                <a:rPr lang="en-US" altLang="en-US" sz="1800" b="1"/>
                <a:t>16 –</a:t>
              </a:r>
            </a:p>
            <a:p>
              <a:pPr algn="r">
                <a:lnSpc>
                  <a:spcPct val="110000"/>
                </a:lnSpc>
              </a:pPr>
              <a:r>
                <a:rPr lang="en-US" altLang="en-US" sz="1800" b="1"/>
                <a:t>14 –</a:t>
              </a:r>
            </a:p>
            <a:p>
              <a:pPr algn="r">
                <a:lnSpc>
                  <a:spcPct val="110000"/>
                </a:lnSpc>
              </a:pPr>
              <a:r>
                <a:rPr lang="en-US" altLang="en-US" sz="1800" b="1"/>
                <a:t>12 –</a:t>
              </a:r>
            </a:p>
            <a:p>
              <a:pPr algn="r">
                <a:lnSpc>
                  <a:spcPct val="110000"/>
                </a:lnSpc>
              </a:pPr>
              <a:r>
                <a:rPr lang="en-US" altLang="en-US" sz="1800" b="1"/>
                <a:t>10 –</a:t>
              </a:r>
            </a:p>
          </p:txBody>
        </p:sp>
      </p:grpSp>
      <p:sp>
        <p:nvSpPr>
          <p:cNvPr id="10" name="Freeform 8">
            <a:extLst>
              <a:ext uri="{FF2B5EF4-FFF2-40B4-BE49-F238E27FC236}">
                <a16:creationId xmlns:a16="http://schemas.microsoft.com/office/drawing/2014/main" id="{474A546E-4196-B25A-E275-93F4AD30F8E5}"/>
              </a:ext>
            </a:extLst>
          </p:cNvPr>
          <p:cNvSpPr>
            <a:spLocks/>
          </p:cNvSpPr>
          <p:nvPr/>
        </p:nvSpPr>
        <p:spPr bwMode="auto">
          <a:xfrm>
            <a:off x="2245213" y="2070249"/>
            <a:ext cx="5232400" cy="3009900"/>
          </a:xfrm>
          <a:custGeom>
            <a:avLst/>
            <a:gdLst>
              <a:gd name="T0" fmla="*/ 0 w 3296"/>
              <a:gd name="T1" fmla="*/ 2147483647 h 1896"/>
              <a:gd name="T2" fmla="*/ 2147483647 w 3296"/>
              <a:gd name="T3" fmla="*/ 2147483647 h 1896"/>
              <a:gd name="T4" fmla="*/ 2147483647 w 3296"/>
              <a:gd name="T5" fmla="*/ 2147483647 h 1896"/>
              <a:gd name="T6" fmla="*/ 2147483647 w 3296"/>
              <a:gd name="T7" fmla="*/ 2147483647 h 1896"/>
              <a:gd name="T8" fmla="*/ 2147483647 w 3296"/>
              <a:gd name="T9" fmla="*/ 2147483647 h 1896"/>
              <a:gd name="T10" fmla="*/ 2147483647 w 3296"/>
              <a:gd name="T11" fmla="*/ 2147483647 h 1896"/>
              <a:gd name="T12" fmla="*/ 2147483647 w 3296"/>
              <a:gd name="T13" fmla="*/ 2147483647 h 1896"/>
              <a:gd name="T14" fmla="*/ 2147483647 w 3296"/>
              <a:gd name="T15" fmla="*/ 0 h 1896"/>
              <a:gd name="T16" fmla="*/ 2147483647 w 3296"/>
              <a:gd name="T17" fmla="*/ 2147483647 h 1896"/>
              <a:gd name="T18" fmla="*/ 2147483647 w 3296"/>
              <a:gd name="T19" fmla="*/ 2147483647 h 1896"/>
              <a:gd name="T20" fmla="*/ 2147483647 w 3296"/>
              <a:gd name="T21" fmla="*/ 2147483647 h 1896"/>
              <a:gd name="T22" fmla="*/ 2147483647 w 3296"/>
              <a:gd name="T23" fmla="*/ 2147483647 h 18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96"/>
              <a:gd name="T37" fmla="*/ 0 h 1896"/>
              <a:gd name="T38" fmla="*/ 3296 w 3296"/>
              <a:gd name="T39" fmla="*/ 1896 h 18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96" h="1896">
                <a:moveTo>
                  <a:pt x="0" y="1896"/>
                </a:moveTo>
                <a:lnTo>
                  <a:pt x="296" y="1704"/>
                </a:lnTo>
                <a:lnTo>
                  <a:pt x="600" y="1616"/>
                </a:lnTo>
                <a:lnTo>
                  <a:pt x="896" y="1328"/>
                </a:lnTo>
                <a:lnTo>
                  <a:pt x="1200" y="1048"/>
                </a:lnTo>
                <a:lnTo>
                  <a:pt x="1496" y="672"/>
                </a:lnTo>
                <a:lnTo>
                  <a:pt x="1808" y="368"/>
                </a:lnTo>
                <a:lnTo>
                  <a:pt x="2096" y="0"/>
                </a:lnTo>
                <a:lnTo>
                  <a:pt x="2400" y="192"/>
                </a:lnTo>
                <a:lnTo>
                  <a:pt x="2696" y="1136"/>
                </a:lnTo>
                <a:lnTo>
                  <a:pt x="3000" y="1328"/>
                </a:lnTo>
                <a:lnTo>
                  <a:pt x="3296" y="1520"/>
                </a:lnTo>
              </a:path>
            </a:pathLst>
          </a:custGeom>
          <a:noFill/>
          <a:ln w="1016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sp>
        <p:nvSpPr>
          <p:cNvPr id="11" name="Freeform 9">
            <a:extLst>
              <a:ext uri="{FF2B5EF4-FFF2-40B4-BE49-F238E27FC236}">
                <a16:creationId xmlns:a16="http://schemas.microsoft.com/office/drawing/2014/main" id="{1AFB708C-4186-CBCB-FD60-64335DD62CF1}"/>
              </a:ext>
            </a:extLst>
          </p:cNvPr>
          <p:cNvSpPr>
            <a:spLocks/>
          </p:cNvSpPr>
          <p:nvPr/>
        </p:nvSpPr>
        <p:spPr bwMode="auto">
          <a:xfrm>
            <a:off x="3667613" y="2362349"/>
            <a:ext cx="3810000" cy="2501900"/>
          </a:xfrm>
          <a:custGeom>
            <a:avLst/>
            <a:gdLst>
              <a:gd name="T0" fmla="*/ 0 w 2400"/>
              <a:gd name="T1" fmla="*/ 2147483647 h 1576"/>
              <a:gd name="T2" fmla="*/ 2147483647 w 2400"/>
              <a:gd name="T3" fmla="*/ 2147483647 h 1576"/>
              <a:gd name="T4" fmla="*/ 2147483647 w 2400"/>
              <a:gd name="T5" fmla="*/ 2147483647 h 1576"/>
              <a:gd name="T6" fmla="*/ 2147483647 w 2400"/>
              <a:gd name="T7" fmla="*/ 2147483647 h 1576"/>
              <a:gd name="T8" fmla="*/ 2147483647 w 2400"/>
              <a:gd name="T9" fmla="*/ 2147483647 h 1576"/>
              <a:gd name="T10" fmla="*/ 2147483647 w 2400"/>
              <a:gd name="T11" fmla="*/ 2147483647 h 1576"/>
              <a:gd name="T12" fmla="*/ 2147483647 w 2400"/>
              <a:gd name="T13" fmla="*/ 0 h 1576"/>
              <a:gd name="T14" fmla="*/ 2147483647 w 2400"/>
              <a:gd name="T15" fmla="*/ 2147483647 h 1576"/>
              <a:gd name="T16" fmla="*/ 2147483647 w 2400"/>
              <a:gd name="T17" fmla="*/ 2147483647 h 1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00"/>
              <a:gd name="T28" fmla="*/ 0 h 1576"/>
              <a:gd name="T29" fmla="*/ 2400 w 2400"/>
              <a:gd name="T30" fmla="*/ 1576 h 15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00" h="1576">
                <a:moveTo>
                  <a:pt x="0" y="1576"/>
                </a:moveTo>
                <a:lnTo>
                  <a:pt x="304" y="1376"/>
                </a:lnTo>
                <a:lnTo>
                  <a:pt x="600" y="1144"/>
                </a:lnTo>
                <a:lnTo>
                  <a:pt x="904" y="824"/>
                </a:lnTo>
                <a:lnTo>
                  <a:pt x="1200" y="504"/>
                </a:lnTo>
                <a:lnTo>
                  <a:pt x="1504" y="144"/>
                </a:lnTo>
                <a:lnTo>
                  <a:pt x="1800" y="0"/>
                </a:lnTo>
                <a:lnTo>
                  <a:pt x="2104" y="248"/>
                </a:lnTo>
                <a:lnTo>
                  <a:pt x="2400" y="688"/>
                </a:lnTo>
              </a:path>
            </a:pathLst>
          </a:custGeom>
          <a:noFill/>
          <a:ln w="101600">
            <a:solidFill>
              <a:srgbClr val="24BDB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a:p>
        </p:txBody>
      </p:sp>
      <p:grpSp>
        <p:nvGrpSpPr>
          <p:cNvPr id="12" name="Group 10">
            <a:extLst>
              <a:ext uri="{FF2B5EF4-FFF2-40B4-BE49-F238E27FC236}">
                <a16:creationId xmlns:a16="http://schemas.microsoft.com/office/drawing/2014/main" id="{325FB1A5-EF0E-3E95-EA65-ADB2F43D8C8F}"/>
              </a:ext>
            </a:extLst>
          </p:cNvPr>
          <p:cNvGrpSpPr>
            <a:grpSpLocks/>
          </p:cNvGrpSpPr>
          <p:nvPr/>
        </p:nvGrpSpPr>
        <p:grpSpPr bwMode="auto">
          <a:xfrm>
            <a:off x="3029438" y="2351237"/>
            <a:ext cx="1450975" cy="1154112"/>
            <a:chOff x="1862" y="1745"/>
            <a:chExt cx="914" cy="727"/>
          </a:xfrm>
        </p:grpSpPr>
        <p:sp>
          <p:nvSpPr>
            <p:cNvPr id="13" name="Rectangle 11">
              <a:extLst>
                <a:ext uri="{FF2B5EF4-FFF2-40B4-BE49-F238E27FC236}">
                  <a16:creationId xmlns:a16="http://schemas.microsoft.com/office/drawing/2014/main" id="{E8155FB5-8CBE-026F-6470-79515EA78A97}"/>
                </a:ext>
              </a:extLst>
            </p:cNvPr>
            <p:cNvSpPr>
              <a:spLocks noChangeArrowheads="1"/>
            </p:cNvSpPr>
            <p:nvPr/>
          </p:nvSpPr>
          <p:spPr bwMode="auto">
            <a:xfrm>
              <a:off x="1862" y="1745"/>
              <a:ext cx="91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a:lnSpc>
                  <a:spcPct val="85000"/>
                </a:lnSpc>
              </a:pPr>
              <a:r>
                <a:rPr lang="en-US" altLang="en-US" b="1"/>
                <a:t>Actual Sales</a:t>
              </a:r>
            </a:p>
          </p:txBody>
        </p:sp>
        <p:sp>
          <p:nvSpPr>
            <p:cNvPr id="14" name="Line 12">
              <a:extLst>
                <a:ext uri="{FF2B5EF4-FFF2-40B4-BE49-F238E27FC236}">
                  <a16:creationId xmlns:a16="http://schemas.microsoft.com/office/drawing/2014/main" id="{A0DFB90A-1DDC-6F95-F6FC-021B4ED1042F}"/>
                </a:ext>
              </a:extLst>
            </p:cNvPr>
            <p:cNvSpPr>
              <a:spLocks noChangeShapeType="1"/>
            </p:cNvSpPr>
            <p:nvPr/>
          </p:nvSpPr>
          <p:spPr bwMode="auto">
            <a:xfrm>
              <a:off x="2336" y="2160"/>
              <a:ext cx="264" cy="31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5" name="Group 13">
            <a:extLst>
              <a:ext uri="{FF2B5EF4-FFF2-40B4-BE49-F238E27FC236}">
                <a16:creationId xmlns:a16="http://schemas.microsoft.com/office/drawing/2014/main" id="{F975F1CA-CD78-6157-F3AC-F0CC8D9A1D9E}"/>
              </a:ext>
            </a:extLst>
          </p:cNvPr>
          <p:cNvGrpSpPr>
            <a:grpSpLocks/>
          </p:cNvGrpSpPr>
          <p:nvPr/>
        </p:nvGrpSpPr>
        <p:grpSpPr bwMode="auto">
          <a:xfrm>
            <a:off x="6648938" y="1386037"/>
            <a:ext cx="1758950" cy="1458912"/>
            <a:chOff x="4142" y="1137"/>
            <a:chExt cx="1108" cy="919"/>
          </a:xfrm>
        </p:grpSpPr>
        <p:sp>
          <p:nvSpPr>
            <p:cNvPr id="16" name="Rectangle 14">
              <a:extLst>
                <a:ext uri="{FF2B5EF4-FFF2-40B4-BE49-F238E27FC236}">
                  <a16:creationId xmlns:a16="http://schemas.microsoft.com/office/drawing/2014/main" id="{88A06B63-7E6B-C54B-C32D-E00A4C0DB000}"/>
                </a:ext>
              </a:extLst>
            </p:cNvPr>
            <p:cNvSpPr>
              <a:spLocks noChangeArrowheads="1"/>
            </p:cNvSpPr>
            <p:nvPr/>
          </p:nvSpPr>
          <p:spPr bwMode="auto">
            <a:xfrm>
              <a:off x="4142" y="1137"/>
              <a:ext cx="1108"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algn="ctr" eaLnBrk="0" fontAlgn="base" hangingPunct="0">
                <a:spcBef>
                  <a:spcPct val="0"/>
                </a:spcBef>
                <a:spcAft>
                  <a:spcPct val="0"/>
                </a:spcAft>
                <a:defRPr sz="2400">
                  <a:solidFill>
                    <a:schemeClr val="tx1"/>
                  </a:solidFill>
                  <a:latin typeface="Arial" charset="0"/>
                  <a:ea typeface="ＭＳ Ｐゴシック" charset="-128"/>
                </a:defRPr>
              </a:lvl6pPr>
              <a:lvl7pPr marL="2971800" indent="-228600" algn="ctr" eaLnBrk="0" fontAlgn="base" hangingPunct="0">
                <a:spcBef>
                  <a:spcPct val="0"/>
                </a:spcBef>
                <a:spcAft>
                  <a:spcPct val="0"/>
                </a:spcAft>
                <a:defRPr sz="2400">
                  <a:solidFill>
                    <a:schemeClr val="tx1"/>
                  </a:solidFill>
                  <a:latin typeface="Arial" charset="0"/>
                  <a:ea typeface="ＭＳ Ｐゴシック" charset="-128"/>
                </a:defRPr>
              </a:lvl7pPr>
              <a:lvl8pPr marL="3429000" indent="-228600" algn="ctr" eaLnBrk="0" fontAlgn="base" hangingPunct="0">
                <a:spcBef>
                  <a:spcPct val="0"/>
                </a:spcBef>
                <a:spcAft>
                  <a:spcPct val="0"/>
                </a:spcAft>
                <a:defRPr sz="2400">
                  <a:solidFill>
                    <a:schemeClr val="tx1"/>
                  </a:solidFill>
                  <a:latin typeface="Arial" charset="0"/>
                  <a:ea typeface="ＭＳ Ｐゴシック" charset="-128"/>
                </a:defRPr>
              </a:lvl8pPr>
              <a:lvl9pPr marL="3886200" indent="-228600" algn="ctr" eaLnBrk="0" fontAlgn="base" hangingPunct="0">
                <a:spcBef>
                  <a:spcPct val="0"/>
                </a:spcBef>
                <a:spcAft>
                  <a:spcPct val="0"/>
                </a:spcAft>
                <a:defRPr sz="2400">
                  <a:solidFill>
                    <a:schemeClr val="tx1"/>
                  </a:solidFill>
                  <a:latin typeface="Arial" charset="0"/>
                  <a:ea typeface="ＭＳ Ｐゴシック" charset="-128"/>
                </a:defRPr>
              </a:lvl9pPr>
            </a:lstStyle>
            <a:p>
              <a:pPr>
                <a:lnSpc>
                  <a:spcPct val="85000"/>
                </a:lnSpc>
              </a:pPr>
              <a:r>
                <a:rPr lang="en-US" altLang="en-US" b="1"/>
                <a:t>Moving Average Forecast</a:t>
              </a:r>
            </a:p>
          </p:txBody>
        </p:sp>
        <p:sp>
          <p:nvSpPr>
            <p:cNvPr id="17" name="Line 15">
              <a:extLst>
                <a:ext uri="{FF2B5EF4-FFF2-40B4-BE49-F238E27FC236}">
                  <a16:creationId xmlns:a16="http://schemas.microsoft.com/office/drawing/2014/main" id="{DAB61211-9027-562B-C7EE-7072DE9982DE}"/>
                </a:ext>
              </a:extLst>
            </p:cNvPr>
            <p:cNvSpPr>
              <a:spLocks noChangeShapeType="1"/>
            </p:cNvSpPr>
            <p:nvPr/>
          </p:nvSpPr>
          <p:spPr bwMode="auto">
            <a:xfrm flipH="1">
              <a:off x="4520" y="1768"/>
              <a:ext cx="168" cy="28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spTree>
    <p:extLst>
      <p:ext uri="{BB962C8B-B14F-4D97-AF65-F5344CB8AC3E}">
        <p14:creationId xmlns:p14="http://schemas.microsoft.com/office/powerpoint/2010/main" val="2435330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171B-1D77-96AC-AFA9-E7DCF68450A1}"/>
              </a:ext>
            </a:extLst>
          </p:cNvPr>
          <p:cNvSpPr>
            <a:spLocks noGrp="1"/>
          </p:cNvSpPr>
          <p:nvPr>
            <p:ph type="title"/>
          </p:nvPr>
        </p:nvSpPr>
        <p:spPr/>
        <p:txBody>
          <a:bodyPr/>
          <a:lstStyle/>
          <a:p>
            <a:r>
              <a:rPr lang="en-US" dirty="0"/>
              <a:t>Exponential Smoothing</a:t>
            </a:r>
          </a:p>
        </p:txBody>
      </p:sp>
      <p:sp>
        <p:nvSpPr>
          <p:cNvPr id="3" name="Slide Number Placeholder 2">
            <a:extLst>
              <a:ext uri="{FF2B5EF4-FFF2-40B4-BE49-F238E27FC236}">
                <a16:creationId xmlns:a16="http://schemas.microsoft.com/office/drawing/2014/main" id="{661A90BA-CFAF-9F41-BA62-8832A9036183}"/>
              </a:ext>
            </a:extLst>
          </p:cNvPr>
          <p:cNvSpPr>
            <a:spLocks noGrp="1"/>
          </p:cNvSpPr>
          <p:nvPr>
            <p:ph type="sldNum" sz="quarter" idx="12"/>
          </p:nvPr>
        </p:nvSpPr>
        <p:spPr/>
        <p:txBody>
          <a:bodyPr/>
          <a:lstStyle/>
          <a:p>
            <a:fld id="{B6F15528-21DE-4FAA-801E-634DDDAF4B2B}" type="slidenum">
              <a:rPr lang="en-US" smtClean="0"/>
              <a:pPr/>
              <a:t>13</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16F3E2B-33A2-EC8E-8DBE-C7C096AC1A3F}"/>
                  </a:ext>
                </a:extLst>
              </p:cNvPr>
              <p:cNvSpPr>
                <a:spLocks noGrp="1"/>
              </p:cNvSpPr>
              <p:nvPr>
                <p:ph sz="quarter" idx="1"/>
              </p:nvPr>
            </p:nvSpPr>
            <p:spPr>
              <a:xfrm>
                <a:off x="665824" y="1412776"/>
                <a:ext cx="8260192" cy="5839106"/>
              </a:xfrm>
            </p:spPr>
            <p:txBody>
              <a:bodyPr>
                <a:normAutofit/>
              </a:bodyPr>
              <a:lstStyle/>
              <a:p>
                <a:r>
                  <a:rPr lang="en-US" dirty="0"/>
                  <a:t>Shortcomings of moving average technique:</a:t>
                </a:r>
              </a:p>
              <a:p>
                <a:pPr marL="777240" lvl="1" indent="-457200">
                  <a:buFont typeface="+mj-lt"/>
                  <a:buAutoNum type="arabicPeriod"/>
                </a:pPr>
                <a:r>
                  <a:rPr lang="en-US" dirty="0"/>
                  <a:t>Choice of </a:t>
                </a:r>
                <a14:m>
                  <m:oMath xmlns:m="http://schemas.openxmlformats.org/officeDocument/2006/math">
                    <m:r>
                      <a:rPr lang="en-CA" b="0" i="1" smtClean="0">
                        <a:latin typeface="Cambria Math" panose="02040503050406030204" pitchFamily="18" charset="0"/>
                      </a:rPr>
                      <m:t>𝑚</m:t>
                    </m:r>
                  </m:oMath>
                </a14:m>
                <a:r>
                  <a:rPr lang="en-US" dirty="0"/>
                  <a:t> is arbitrary.</a:t>
                </a:r>
              </a:p>
              <a:p>
                <a:pPr marL="777240" lvl="1" indent="-457200">
                  <a:buFont typeface="+mj-lt"/>
                  <a:buAutoNum type="arabicPeriod"/>
                </a:pPr>
                <a:r>
                  <a:rPr lang="en-US" dirty="0"/>
                  <a:t>All </a:t>
                </a:r>
                <a14:m>
                  <m:oMath xmlns:m="http://schemas.openxmlformats.org/officeDocument/2006/math">
                    <m:r>
                      <a:rPr lang="en-CA" b="0" i="1" smtClean="0">
                        <a:latin typeface="Cambria Math" panose="02040503050406030204" pitchFamily="18" charset="0"/>
                      </a:rPr>
                      <m:t>𝑚</m:t>
                    </m:r>
                  </m:oMath>
                </a14:m>
                <a:r>
                  <a:rPr lang="en-US" dirty="0"/>
                  <a:t> observations have the same weight.</a:t>
                </a:r>
              </a:p>
              <a:p>
                <a:pPr marL="502920" indent="-457200"/>
                <a:r>
                  <a:rPr lang="en-US" dirty="0"/>
                  <a:t>Exponential smoothing technique assigns exponentially decreasing weights as the observations get older.</a:t>
                </a:r>
              </a:p>
              <a:p>
                <a:pPr marL="502920" indent="-457200"/>
                <a:r>
                  <a:rPr lang="en-US" dirty="0"/>
                  <a:t>Let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CA" b="0" i="1" smtClean="0">
                                <a:latin typeface="Cambria Math" panose="02040503050406030204" pitchFamily="18" charset="0"/>
                              </a:rPr>
                              <m:t>𝑦</m:t>
                            </m:r>
                          </m:e>
                        </m:acc>
                      </m:e>
                      <m:sub>
                        <m:r>
                          <a:rPr lang="en-CA" b="0" i="1" smtClean="0">
                            <a:latin typeface="Cambria Math" panose="02040503050406030204" pitchFamily="18" charset="0"/>
                          </a:rPr>
                          <m:t>𝑡</m:t>
                        </m:r>
                        <m:r>
                          <a:rPr lang="en-CA" b="0" i="1" smtClean="0">
                            <a:latin typeface="Cambria Math" panose="02040503050406030204" pitchFamily="18" charset="0"/>
                          </a:rPr>
                          <m:t>+1</m:t>
                        </m:r>
                      </m:sub>
                    </m:sSub>
                  </m:oMath>
                </a14:m>
                <a:r>
                  <a:rPr lang="en-US" dirty="0"/>
                  <a:t> denote the estimated level of a series for period </a:t>
                </a:r>
                <a14:m>
                  <m:oMath xmlns:m="http://schemas.openxmlformats.org/officeDocument/2006/math">
                    <m:r>
                      <a:rPr lang="en-CA" b="0" i="1" smtClean="0">
                        <a:latin typeface="Cambria Math" panose="02040503050406030204" pitchFamily="18" charset="0"/>
                      </a:rPr>
                      <m:t>𝑡</m:t>
                    </m:r>
                    <m:r>
                      <a:rPr lang="en-CA" b="0" i="1" smtClean="0">
                        <a:latin typeface="Cambria Math" panose="02040503050406030204" pitchFamily="18" charset="0"/>
                      </a:rPr>
                      <m:t>+1</m:t>
                    </m:r>
                  </m:oMath>
                </a14:m>
                <a:endParaRPr lang="en-CA" b="0" i="1" dirty="0">
                  <a:latin typeface="Cambria Math" panose="02040503050406030204" pitchFamily="18" charset="0"/>
                </a:endParaRPr>
              </a:p>
              <a:p>
                <a:pPr marL="4572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acc>
                            <m:accPr>
                              <m:chr m:val="̂"/>
                              <m:ctrlPr>
                                <a:rPr lang="en-US" sz="2000" i="1" smtClean="0">
                                  <a:latin typeface="Cambria Math" panose="02040503050406030204" pitchFamily="18" charset="0"/>
                                </a:rPr>
                              </m:ctrlPr>
                            </m:accPr>
                            <m:e>
                              <m:r>
                                <a:rPr lang="en-CA" sz="2000" b="0" i="1" smtClean="0">
                                  <a:latin typeface="Cambria Math" panose="02040503050406030204" pitchFamily="18" charset="0"/>
                                </a:rPr>
                                <m:t>𝑦</m:t>
                              </m:r>
                            </m:e>
                          </m:acc>
                        </m:e>
                        <m:sub>
                          <m:r>
                            <a:rPr lang="en-CA" sz="2000" b="0" i="1" smtClean="0">
                              <a:latin typeface="Cambria Math" panose="02040503050406030204" pitchFamily="18" charset="0"/>
                            </a:rPr>
                            <m:t>𝑡</m:t>
                          </m:r>
                          <m:r>
                            <a:rPr lang="en-CA" sz="2000" b="0" i="1" smtClean="0">
                              <a:latin typeface="Cambria Math" panose="02040503050406030204" pitchFamily="18" charset="0"/>
                            </a:rPr>
                            <m:t>+1</m:t>
                          </m:r>
                        </m:sub>
                      </m:sSub>
                      <m:r>
                        <a:rPr lang="en-CA" sz="2000" b="0" i="1" smtClean="0">
                          <a:latin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𝛼</m:t>
                      </m:r>
                      <m:sSub>
                        <m:sSubPr>
                          <m:ctrlPr>
                            <a:rPr lang="en-CA" sz="2000" b="0" i="1" smtClean="0">
                              <a:latin typeface="Cambria Math" panose="02040503050406030204" pitchFamily="18" charset="0"/>
                              <a:ea typeface="Cambria Math" panose="02040503050406030204" pitchFamily="18" charset="0"/>
                            </a:rPr>
                          </m:ctrlPr>
                        </m:sSubPr>
                        <m:e>
                          <m:r>
                            <a:rPr lang="en-CA" sz="2000" b="0" i="1" smtClean="0">
                              <a:latin typeface="Cambria Math" panose="02040503050406030204" pitchFamily="18" charset="0"/>
                              <a:ea typeface="Cambria Math" panose="02040503050406030204" pitchFamily="18" charset="0"/>
                            </a:rPr>
                            <m:t>𝑦</m:t>
                          </m:r>
                        </m:e>
                        <m:sub>
                          <m:r>
                            <a:rPr lang="en-CA" sz="2000" b="0" i="1" smtClean="0">
                              <a:latin typeface="Cambria Math" panose="02040503050406030204" pitchFamily="18" charset="0"/>
                              <a:ea typeface="Cambria Math" panose="02040503050406030204" pitchFamily="18" charset="0"/>
                            </a:rPr>
                            <m:t>𝑡</m:t>
                          </m:r>
                        </m:sub>
                      </m:sSub>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𝛼</m:t>
                      </m:r>
                      <m:d>
                        <m:dPr>
                          <m:ctrlPr>
                            <a:rPr lang="en-CA" sz="2000" b="0" i="1" smtClean="0">
                              <a:latin typeface="Cambria Math" panose="02040503050406030204" pitchFamily="18" charset="0"/>
                              <a:ea typeface="Cambria Math" panose="02040503050406030204" pitchFamily="18" charset="0"/>
                            </a:rPr>
                          </m:ctrlPr>
                        </m:dPr>
                        <m:e>
                          <m:r>
                            <a:rPr lang="en-CA" sz="2000" b="0" i="1" smtClean="0">
                              <a:latin typeface="Cambria Math" panose="02040503050406030204" pitchFamily="18" charset="0"/>
                              <a:ea typeface="Cambria Math" panose="02040503050406030204" pitchFamily="18" charset="0"/>
                            </a:rPr>
                            <m:t>1−</m:t>
                          </m:r>
                          <m:r>
                            <a:rPr lang="en-CA" sz="2000" b="0" i="1" smtClean="0">
                              <a:latin typeface="Cambria Math" panose="02040503050406030204" pitchFamily="18" charset="0"/>
                              <a:ea typeface="Cambria Math" panose="02040503050406030204" pitchFamily="18" charset="0"/>
                            </a:rPr>
                            <m:t>𝛼</m:t>
                          </m:r>
                        </m:e>
                      </m:d>
                      <m:sSub>
                        <m:sSubPr>
                          <m:ctrlPr>
                            <a:rPr lang="en-CA" sz="2000" b="0" i="1" smtClean="0">
                              <a:latin typeface="Cambria Math" panose="02040503050406030204" pitchFamily="18" charset="0"/>
                              <a:ea typeface="Cambria Math" panose="02040503050406030204" pitchFamily="18" charset="0"/>
                            </a:rPr>
                          </m:ctrlPr>
                        </m:sSubPr>
                        <m:e>
                          <m:r>
                            <a:rPr lang="en-CA" sz="2000" b="0" i="1" smtClean="0">
                              <a:latin typeface="Cambria Math" panose="02040503050406030204" pitchFamily="18" charset="0"/>
                              <a:ea typeface="Cambria Math" panose="02040503050406030204" pitchFamily="18" charset="0"/>
                            </a:rPr>
                            <m:t>𝑦</m:t>
                          </m:r>
                        </m:e>
                        <m:sub>
                          <m:r>
                            <a:rPr lang="en-CA" sz="2000" b="0" i="1" smtClean="0">
                              <a:latin typeface="Cambria Math" panose="02040503050406030204" pitchFamily="18" charset="0"/>
                              <a:ea typeface="Cambria Math" panose="02040503050406030204" pitchFamily="18" charset="0"/>
                            </a:rPr>
                            <m:t>𝑡</m:t>
                          </m:r>
                          <m:r>
                            <a:rPr lang="en-CA" sz="2000" b="0" i="1" smtClean="0">
                              <a:latin typeface="Cambria Math" panose="02040503050406030204" pitchFamily="18" charset="0"/>
                              <a:ea typeface="Cambria Math" panose="02040503050406030204" pitchFamily="18" charset="0"/>
                            </a:rPr>
                            <m:t>−1</m:t>
                          </m:r>
                        </m:sub>
                      </m:sSub>
                      <m:r>
                        <a:rPr lang="en-CA" sz="2000" b="0" i="1" smtClean="0">
                          <a:latin typeface="Cambria Math" panose="02040503050406030204" pitchFamily="18" charset="0"/>
                          <a:ea typeface="Cambria Math" panose="02040503050406030204" pitchFamily="18" charset="0"/>
                        </a:rPr>
                        <m:t>+</m:t>
                      </m:r>
                      <m:r>
                        <a:rPr lang="en-CA" sz="2000" b="0" i="1" smtClean="0">
                          <a:latin typeface="Cambria Math" panose="02040503050406030204" pitchFamily="18" charset="0"/>
                          <a:ea typeface="Cambria Math" panose="02040503050406030204" pitchFamily="18" charset="0"/>
                        </a:rPr>
                        <m:t>𝛼</m:t>
                      </m:r>
                      <m:sSup>
                        <m:sSupPr>
                          <m:ctrlPr>
                            <a:rPr lang="en-CA" sz="2000" b="0" i="1" smtClean="0">
                              <a:latin typeface="Cambria Math" panose="02040503050406030204" pitchFamily="18" charset="0"/>
                              <a:ea typeface="Cambria Math" panose="02040503050406030204" pitchFamily="18" charset="0"/>
                            </a:rPr>
                          </m:ctrlPr>
                        </m:sSupPr>
                        <m:e>
                          <m:r>
                            <a:rPr lang="en-CA" sz="2000" b="0" i="1" smtClean="0">
                              <a:latin typeface="Cambria Math" panose="02040503050406030204" pitchFamily="18" charset="0"/>
                              <a:ea typeface="Cambria Math" panose="02040503050406030204" pitchFamily="18" charset="0"/>
                            </a:rPr>
                            <m:t>(1−</m:t>
                          </m:r>
                          <m:r>
                            <a:rPr lang="en-CA" sz="2000" b="0" i="1" smtClean="0">
                              <a:latin typeface="Cambria Math" panose="02040503050406030204" pitchFamily="18" charset="0"/>
                              <a:ea typeface="Cambria Math" panose="02040503050406030204" pitchFamily="18" charset="0"/>
                            </a:rPr>
                            <m:t>𝛼</m:t>
                          </m:r>
                          <m:r>
                            <a:rPr lang="en-CA" sz="2000" b="0" i="1" smtClean="0">
                              <a:latin typeface="Cambria Math" panose="02040503050406030204" pitchFamily="18" charset="0"/>
                              <a:ea typeface="Cambria Math" panose="02040503050406030204" pitchFamily="18" charset="0"/>
                            </a:rPr>
                            <m:t>)</m:t>
                          </m:r>
                        </m:e>
                        <m:sup>
                          <m:r>
                            <a:rPr lang="en-CA" sz="2000" b="0" i="1" smtClean="0">
                              <a:latin typeface="Cambria Math" panose="02040503050406030204" pitchFamily="18" charset="0"/>
                              <a:ea typeface="Cambria Math" panose="02040503050406030204" pitchFamily="18" charset="0"/>
                            </a:rPr>
                            <m:t>2</m:t>
                          </m:r>
                        </m:sup>
                      </m:sSup>
                      <m:sSub>
                        <m:sSubPr>
                          <m:ctrlPr>
                            <a:rPr lang="en-CA" sz="2000" i="1">
                              <a:latin typeface="Cambria Math" panose="02040503050406030204" pitchFamily="18" charset="0"/>
                              <a:ea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𝑦</m:t>
                          </m:r>
                        </m:e>
                        <m:sub>
                          <m:r>
                            <a:rPr lang="en-CA" sz="2000" i="1">
                              <a:latin typeface="Cambria Math" panose="02040503050406030204" pitchFamily="18" charset="0"/>
                              <a:ea typeface="Cambria Math" panose="02040503050406030204" pitchFamily="18" charset="0"/>
                            </a:rPr>
                            <m:t>𝑡</m:t>
                          </m:r>
                          <m:r>
                            <a:rPr lang="en-CA" sz="2000" i="1">
                              <a:latin typeface="Cambria Math" panose="02040503050406030204" pitchFamily="18" charset="0"/>
                              <a:ea typeface="Cambria Math" panose="02040503050406030204" pitchFamily="18" charset="0"/>
                            </a:rPr>
                            <m:t>−2</m:t>
                          </m:r>
                        </m:sub>
                      </m:sSub>
                      <m:r>
                        <a:rPr lang="en-CA" sz="2000" b="0" i="1" smtClean="0">
                          <a:latin typeface="Cambria Math" panose="02040503050406030204" pitchFamily="18" charset="0"/>
                          <a:ea typeface="Cambria Math" panose="02040503050406030204" pitchFamily="18" charset="0"/>
                        </a:rPr>
                        <m:t>+</m:t>
                      </m:r>
                      <m:r>
                        <a:rPr lang="en-CA" sz="2000" i="1">
                          <a:latin typeface="Cambria Math" panose="02040503050406030204" pitchFamily="18" charset="0"/>
                          <a:ea typeface="Cambria Math" panose="02040503050406030204" pitchFamily="18" charset="0"/>
                        </a:rPr>
                        <m:t>𝛼</m:t>
                      </m:r>
                      <m:sSup>
                        <m:sSupPr>
                          <m:ctrlPr>
                            <a:rPr lang="en-CA" sz="2000" i="1">
                              <a:latin typeface="Cambria Math" panose="02040503050406030204" pitchFamily="18" charset="0"/>
                              <a:ea typeface="Cambria Math" panose="02040503050406030204" pitchFamily="18" charset="0"/>
                            </a:rPr>
                          </m:ctrlPr>
                        </m:sSupPr>
                        <m:e>
                          <m:r>
                            <a:rPr lang="en-CA" sz="2000" i="1">
                              <a:latin typeface="Cambria Math" panose="02040503050406030204" pitchFamily="18" charset="0"/>
                              <a:ea typeface="Cambria Math" panose="02040503050406030204" pitchFamily="18" charset="0"/>
                            </a:rPr>
                            <m:t>(1−</m:t>
                          </m:r>
                          <m:r>
                            <a:rPr lang="en-CA" sz="2000" i="1">
                              <a:latin typeface="Cambria Math" panose="02040503050406030204" pitchFamily="18" charset="0"/>
                              <a:ea typeface="Cambria Math" panose="02040503050406030204" pitchFamily="18" charset="0"/>
                            </a:rPr>
                            <m:t>𝛼</m:t>
                          </m:r>
                          <m:r>
                            <a:rPr lang="en-CA" sz="2000" i="1">
                              <a:latin typeface="Cambria Math" panose="02040503050406030204" pitchFamily="18" charset="0"/>
                              <a:ea typeface="Cambria Math" panose="02040503050406030204" pitchFamily="18" charset="0"/>
                            </a:rPr>
                            <m:t>)</m:t>
                          </m:r>
                        </m:e>
                        <m:sup>
                          <m:r>
                            <a:rPr lang="en-CA" sz="2000" b="0" i="1" smtClean="0">
                              <a:latin typeface="Cambria Math" panose="02040503050406030204" pitchFamily="18" charset="0"/>
                              <a:ea typeface="Cambria Math" panose="02040503050406030204" pitchFamily="18" charset="0"/>
                            </a:rPr>
                            <m:t>3</m:t>
                          </m:r>
                        </m:sup>
                      </m:sSup>
                      <m:sSub>
                        <m:sSubPr>
                          <m:ctrlPr>
                            <a:rPr lang="en-CA" sz="2000" i="1">
                              <a:latin typeface="Cambria Math" panose="02040503050406030204" pitchFamily="18" charset="0"/>
                              <a:ea typeface="Cambria Math" panose="02040503050406030204" pitchFamily="18" charset="0"/>
                            </a:rPr>
                          </m:ctrlPr>
                        </m:sSubPr>
                        <m:e>
                          <m:r>
                            <a:rPr lang="en-CA" sz="2000" i="1">
                              <a:latin typeface="Cambria Math" panose="02040503050406030204" pitchFamily="18" charset="0"/>
                              <a:ea typeface="Cambria Math" panose="02040503050406030204" pitchFamily="18" charset="0"/>
                            </a:rPr>
                            <m:t>𝑦</m:t>
                          </m:r>
                        </m:e>
                        <m:sub>
                          <m:r>
                            <a:rPr lang="en-CA" sz="2000" i="1">
                              <a:latin typeface="Cambria Math" panose="02040503050406030204" pitchFamily="18" charset="0"/>
                              <a:ea typeface="Cambria Math" panose="02040503050406030204" pitchFamily="18" charset="0"/>
                            </a:rPr>
                            <m:t>𝑡</m:t>
                          </m:r>
                          <m:r>
                            <a:rPr lang="en-CA" sz="2000" i="1">
                              <a:latin typeface="Cambria Math" panose="02040503050406030204" pitchFamily="18" charset="0"/>
                              <a:ea typeface="Cambria Math" panose="02040503050406030204" pitchFamily="18" charset="0"/>
                            </a:rPr>
                            <m:t>−3</m:t>
                          </m:r>
                        </m:sub>
                      </m:sSub>
                      <m:r>
                        <a:rPr lang="en-CA" sz="2000" b="0" i="1" smtClean="0">
                          <a:latin typeface="Cambria Math" panose="02040503050406030204" pitchFamily="18" charset="0"/>
                          <a:ea typeface="Cambria Math" panose="02040503050406030204" pitchFamily="18" charset="0"/>
                        </a:rPr>
                        <m:t>+…</m:t>
                      </m:r>
                    </m:oMath>
                  </m:oMathPara>
                </a14:m>
                <a:endParaRPr lang="en-US" dirty="0"/>
              </a:p>
              <a:p>
                <a:pPr marL="502920" indent="-457200"/>
                <a14:m>
                  <m:oMath xmlns:m="http://schemas.openxmlformats.org/officeDocument/2006/math">
                    <m:r>
                      <a:rPr lang="en-CA" b="0" i="1" smtClean="0">
                        <a:latin typeface="Cambria Math" panose="02040503050406030204" pitchFamily="18" charset="0"/>
                      </a:rPr>
                      <m:t>0&lt;</m:t>
                    </m:r>
                    <m:r>
                      <a:rPr lang="en-CA" b="0" i="1" smtClean="0">
                        <a:latin typeface="Cambria Math" panose="02040503050406030204" pitchFamily="18" charset="0"/>
                        <a:ea typeface="Cambria Math" panose="02040503050406030204" pitchFamily="18" charset="0"/>
                      </a:rPr>
                      <m:t>𝛼</m:t>
                    </m:r>
                    <m:r>
                      <a:rPr lang="en-CA" b="0" i="1" smtClean="0">
                        <a:latin typeface="Cambria Math" panose="02040503050406030204" pitchFamily="18" charset="0"/>
                        <a:ea typeface="Cambria Math" panose="02040503050406030204" pitchFamily="18" charset="0"/>
                      </a:rPr>
                      <m:t>&lt;1</m:t>
                    </m:r>
                  </m:oMath>
                </a14:m>
                <a:r>
                  <a:rPr lang="en-US" dirty="0"/>
                  <a:t>, dictates the speed of decline (smoothing factor)</a:t>
                </a:r>
              </a:p>
              <a:p>
                <a:pPr marL="502920" indent="-457200"/>
                <a:r>
                  <a:rPr lang="en-US" dirty="0"/>
                  <a:t>The forecast equation simplifies to:</a:t>
                </a:r>
              </a:p>
              <a:p>
                <a:pPr marL="45720" indent="0">
                  <a:buNone/>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CA" sz="2800" b="0" i="1" smtClean="0">
                                  <a:latin typeface="Cambria Math" panose="02040503050406030204" pitchFamily="18" charset="0"/>
                                </a:rPr>
                                <m:t>𝑦</m:t>
                              </m:r>
                            </m:e>
                          </m:acc>
                        </m:e>
                        <m:sub>
                          <m:r>
                            <a:rPr lang="en-CA" sz="2800" b="0" i="1" smtClean="0">
                              <a:latin typeface="Cambria Math" panose="02040503050406030204" pitchFamily="18" charset="0"/>
                            </a:rPr>
                            <m:t>𝑡</m:t>
                          </m:r>
                          <m:r>
                            <a:rPr lang="en-CA" sz="2800" b="0" i="1" smtClean="0">
                              <a:latin typeface="Cambria Math" panose="02040503050406030204" pitchFamily="18" charset="0"/>
                            </a:rPr>
                            <m:t>+1</m:t>
                          </m:r>
                        </m:sub>
                      </m:sSub>
                      <m:r>
                        <a:rPr lang="en-CA" sz="2800" b="0" i="1" smtClean="0">
                          <a:latin typeface="Cambria Math" panose="02040503050406030204" pitchFamily="18" charset="0"/>
                        </a:rPr>
                        <m:t>=</m:t>
                      </m:r>
                      <m:r>
                        <a:rPr lang="en-CA" sz="2800" b="0" i="1" smtClean="0">
                          <a:latin typeface="Cambria Math" panose="02040503050406030204" pitchFamily="18" charset="0"/>
                          <a:ea typeface="Cambria Math" panose="02040503050406030204" pitchFamily="18" charset="0"/>
                        </a:rPr>
                        <m:t>𝛼</m:t>
                      </m:r>
                      <m:sSub>
                        <m:sSubPr>
                          <m:ctrlPr>
                            <a:rPr lang="en-CA" sz="2800" b="0" i="1" smtClean="0">
                              <a:latin typeface="Cambria Math" panose="02040503050406030204" pitchFamily="18" charset="0"/>
                              <a:ea typeface="Cambria Math" panose="02040503050406030204" pitchFamily="18" charset="0"/>
                            </a:rPr>
                          </m:ctrlPr>
                        </m:sSubPr>
                        <m:e>
                          <m:r>
                            <a:rPr lang="en-CA" sz="2800" b="0" i="1" smtClean="0">
                              <a:latin typeface="Cambria Math" panose="02040503050406030204" pitchFamily="18" charset="0"/>
                              <a:ea typeface="Cambria Math" panose="02040503050406030204" pitchFamily="18" charset="0"/>
                            </a:rPr>
                            <m:t>𝑦</m:t>
                          </m:r>
                        </m:e>
                        <m:sub>
                          <m:r>
                            <a:rPr lang="en-CA" sz="2800" b="0" i="1" smtClean="0">
                              <a:latin typeface="Cambria Math" panose="02040503050406030204" pitchFamily="18" charset="0"/>
                              <a:ea typeface="Cambria Math" panose="02040503050406030204" pitchFamily="18" charset="0"/>
                            </a:rPr>
                            <m:t>𝑡</m:t>
                          </m:r>
                        </m:sub>
                      </m:sSub>
                      <m:r>
                        <a:rPr lang="en-CA" sz="2800" b="0" i="1" smtClean="0">
                          <a:latin typeface="Cambria Math" panose="02040503050406030204" pitchFamily="18" charset="0"/>
                          <a:ea typeface="Cambria Math" panose="02040503050406030204" pitchFamily="18" charset="0"/>
                        </a:rPr>
                        <m:t>+</m:t>
                      </m:r>
                      <m:d>
                        <m:dPr>
                          <m:ctrlPr>
                            <a:rPr lang="en-CA" sz="2800" b="0" i="1" smtClean="0">
                              <a:latin typeface="Cambria Math" panose="02040503050406030204" pitchFamily="18" charset="0"/>
                              <a:ea typeface="Cambria Math" panose="02040503050406030204" pitchFamily="18" charset="0"/>
                            </a:rPr>
                          </m:ctrlPr>
                        </m:dPr>
                        <m:e>
                          <m:r>
                            <a:rPr lang="en-CA" sz="2800" b="0" i="1" smtClean="0">
                              <a:latin typeface="Cambria Math" panose="02040503050406030204" pitchFamily="18" charset="0"/>
                              <a:ea typeface="Cambria Math" panose="02040503050406030204" pitchFamily="18" charset="0"/>
                            </a:rPr>
                            <m:t>1−</m:t>
                          </m:r>
                          <m:r>
                            <a:rPr lang="en-CA" sz="2800" b="0" i="1" smtClean="0">
                              <a:latin typeface="Cambria Math" panose="02040503050406030204" pitchFamily="18" charset="0"/>
                              <a:ea typeface="Cambria Math" panose="02040503050406030204" pitchFamily="18" charset="0"/>
                            </a:rPr>
                            <m:t>𝛼</m:t>
                          </m:r>
                        </m:e>
                      </m:d>
                      <m:sSub>
                        <m:sSubPr>
                          <m:ctrlPr>
                            <a:rPr lang="en-CA" sz="2800" b="0" i="1" smtClean="0">
                              <a:latin typeface="Cambria Math" panose="02040503050406030204" pitchFamily="18" charset="0"/>
                              <a:ea typeface="Cambria Math" panose="02040503050406030204" pitchFamily="18" charset="0"/>
                            </a:rPr>
                          </m:ctrlPr>
                        </m:sSubPr>
                        <m:e>
                          <m:acc>
                            <m:accPr>
                              <m:chr m:val="̂"/>
                              <m:ctrlPr>
                                <a:rPr lang="en-CA" sz="2800" b="0" i="1" smtClean="0">
                                  <a:latin typeface="Cambria Math" panose="02040503050406030204" pitchFamily="18" charset="0"/>
                                  <a:ea typeface="Cambria Math" panose="02040503050406030204" pitchFamily="18" charset="0"/>
                                </a:rPr>
                              </m:ctrlPr>
                            </m:accPr>
                            <m:e>
                              <m:r>
                                <a:rPr lang="en-CA" sz="2800" b="0" i="1" smtClean="0">
                                  <a:latin typeface="Cambria Math" panose="02040503050406030204" pitchFamily="18" charset="0"/>
                                  <a:ea typeface="Cambria Math" panose="02040503050406030204" pitchFamily="18" charset="0"/>
                                </a:rPr>
                                <m:t>𝑦</m:t>
                              </m:r>
                            </m:e>
                          </m:acc>
                        </m:e>
                        <m:sub>
                          <m:r>
                            <a:rPr lang="en-CA" sz="2800" b="0" i="1" smtClean="0">
                              <a:latin typeface="Cambria Math" panose="02040503050406030204" pitchFamily="18" charset="0"/>
                              <a:ea typeface="Cambria Math" panose="02040503050406030204" pitchFamily="18" charset="0"/>
                            </a:rPr>
                            <m:t>𝑡</m:t>
                          </m:r>
                        </m:sub>
                      </m:sSub>
                    </m:oMath>
                  </m:oMathPara>
                </a14:m>
                <a:endParaRPr lang="en-US" dirty="0"/>
              </a:p>
            </p:txBody>
          </p:sp>
        </mc:Choice>
        <mc:Fallback xmlns="">
          <p:sp>
            <p:nvSpPr>
              <p:cNvPr id="4" name="Content Placeholder 3">
                <a:extLst>
                  <a:ext uri="{FF2B5EF4-FFF2-40B4-BE49-F238E27FC236}">
                    <a16:creationId xmlns:a16="http://schemas.microsoft.com/office/drawing/2014/main" id="{516F3E2B-33A2-EC8E-8DBE-C7C096AC1A3F}"/>
                  </a:ext>
                </a:extLst>
              </p:cNvPr>
              <p:cNvSpPr>
                <a:spLocks noGrp="1" noRot="1" noChangeAspect="1" noMove="1" noResize="1" noEditPoints="1" noAdjustHandles="1" noChangeArrowheads="1" noChangeShapeType="1" noTextEdit="1"/>
              </p:cNvSpPr>
              <p:nvPr>
                <p:ph sz="quarter" idx="1"/>
              </p:nvPr>
            </p:nvSpPr>
            <p:spPr>
              <a:xfrm>
                <a:off x="665824" y="1412776"/>
                <a:ext cx="8260192" cy="5839106"/>
              </a:xfrm>
              <a:blipFill>
                <a:blip r:embed="rId3"/>
                <a:stretch>
                  <a:fillRect l="-614" t="-868" r="-1075"/>
                </a:stretch>
              </a:blipFill>
            </p:spPr>
            <p:txBody>
              <a:bodyPr/>
              <a:lstStyle/>
              <a:p>
                <a:r>
                  <a:rPr lang="en-US">
                    <a:noFill/>
                  </a:rPr>
                  <a:t> </a:t>
                </a:r>
              </a:p>
            </p:txBody>
          </p:sp>
        </mc:Fallback>
      </mc:AlternateContent>
    </p:spTree>
    <p:extLst>
      <p:ext uri="{BB962C8B-B14F-4D97-AF65-F5344CB8AC3E}">
        <p14:creationId xmlns:p14="http://schemas.microsoft.com/office/powerpoint/2010/main" val="1505139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749394046"/>
              </p:ext>
            </p:extLst>
          </p:nvPr>
        </p:nvGraphicFramePr>
        <p:xfrm>
          <a:off x="971600" y="2564904"/>
          <a:ext cx="7848872" cy="3839031"/>
        </p:xfrm>
        <a:graphic>
          <a:graphicData uri="http://schemas.openxmlformats.org/drawingml/2006/table">
            <a:tbl>
              <a:tblPr firstRow="1" bandRow="1">
                <a:tableStyleId>{9D7B26C5-4107-4FEC-AEDC-1716B250A1EF}</a:tableStyleId>
              </a:tblPr>
              <a:tblGrid>
                <a:gridCol w="1152128">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5112568">
                  <a:extLst>
                    <a:ext uri="{9D8B030D-6E8A-4147-A177-3AD203B41FA5}">
                      <a16:colId xmlns:a16="http://schemas.microsoft.com/office/drawing/2014/main" val="20002"/>
                    </a:ext>
                  </a:extLst>
                </a:gridCol>
              </a:tblGrid>
              <a:tr h="548433">
                <a:tc>
                  <a:txBody>
                    <a:bodyPr/>
                    <a:lstStyle/>
                    <a:p>
                      <a:pPr algn="ctr"/>
                      <a:r>
                        <a:rPr lang="en-CA" sz="2400" dirty="0">
                          <a:latin typeface="Times New Roman" panose="02020603050405020304" pitchFamily="18" charset="0"/>
                          <a:cs typeface="Times New Roman" panose="02020603050405020304" pitchFamily="18" charset="0"/>
                        </a:rPr>
                        <a:t>Year</a:t>
                      </a:r>
                    </a:p>
                  </a:txBody>
                  <a:tcPr/>
                </a:tc>
                <a:tc>
                  <a:txBody>
                    <a:bodyPr/>
                    <a:lstStyle/>
                    <a:p>
                      <a:pPr algn="ctr"/>
                      <a:r>
                        <a:rPr lang="en-CA" sz="2400" dirty="0">
                          <a:latin typeface="Times New Roman" panose="02020603050405020304" pitchFamily="18" charset="0"/>
                          <a:cs typeface="Times New Roman" panose="02020603050405020304" pitchFamily="18" charset="0"/>
                        </a:rPr>
                        <a:t>Sale</a:t>
                      </a:r>
                    </a:p>
                  </a:txBody>
                  <a:tcPr/>
                </a:tc>
                <a:tc>
                  <a:txBody>
                    <a:bodyPr/>
                    <a:lstStyle/>
                    <a:p>
                      <a:pPr algn="ctr"/>
                      <a:r>
                        <a:rPr lang="en-CA" sz="2400" dirty="0">
                          <a:latin typeface="Times New Roman" panose="02020603050405020304" pitchFamily="18" charset="0"/>
                          <a:cs typeface="Times New Roman" panose="02020603050405020304" pitchFamily="18" charset="0"/>
                        </a:rPr>
                        <a:t>Forecast</a:t>
                      </a:r>
                    </a:p>
                  </a:txBody>
                  <a:tcPr/>
                </a:tc>
                <a:extLst>
                  <a:ext uri="{0D108BD9-81ED-4DB2-BD59-A6C34878D82A}">
                    <a16:rowId xmlns:a16="http://schemas.microsoft.com/office/drawing/2014/main" val="10000"/>
                  </a:ext>
                </a:extLst>
              </a:tr>
              <a:tr h="548433">
                <a:tc>
                  <a:txBody>
                    <a:bodyPr/>
                    <a:lstStyle/>
                    <a:p>
                      <a:pPr algn="ctr"/>
                      <a:r>
                        <a:rPr lang="en-CA" sz="2400" dirty="0">
                          <a:latin typeface="Times New Roman" panose="02020603050405020304" pitchFamily="18" charset="0"/>
                          <a:cs typeface="Times New Roman" panose="02020603050405020304" pitchFamily="18" charset="0"/>
                        </a:rPr>
                        <a:t>1</a:t>
                      </a:r>
                    </a:p>
                  </a:txBody>
                  <a:tcPr/>
                </a:tc>
                <a:tc>
                  <a:txBody>
                    <a:bodyPr/>
                    <a:lstStyle/>
                    <a:p>
                      <a:pPr algn="ctr"/>
                      <a:r>
                        <a:rPr lang="en-CA" sz="2400" dirty="0">
                          <a:latin typeface="Times New Roman" panose="02020603050405020304" pitchFamily="18" charset="0"/>
                          <a:cs typeface="Times New Roman" panose="02020603050405020304" pitchFamily="18" charset="0"/>
                        </a:rPr>
                        <a:t>3000</a:t>
                      </a:r>
                    </a:p>
                  </a:txBody>
                  <a:tcPr/>
                </a:tc>
                <a:tc>
                  <a:txBody>
                    <a:bodyPr/>
                    <a:lstStyle/>
                    <a:p>
                      <a:pPr algn="ctr"/>
                      <a:r>
                        <a:rPr lang="en-CA" sz="2400" dirty="0">
                          <a:latin typeface="Times New Roman" panose="02020603050405020304" pitchFamily="18" charset="0"/>
                          <a:cs typeface="Times New Roman" panose="02020603050405020304" pitchFamily="18" charset="0"/>
                        </a:rPr>
                        <a:t>3000</a:t>
                      </a:r>
                    </a:p>
                  </a:txBody>
                  <a:tcPr/>
                </a:tc>
                <a:extLst>
                  <a:ext uri="{0D108BD9-81ED-4DB2-BD59-A6C34878D82A}">
                    <a16:rowId xmlns:a16="http://schemas.microsoft.com/office/drawing/2014/main" val="10001"/>
                  </a:ext>
                </a:extLst>
              </a:tr>
              <a:tr h="548433">
                <a:tc>
                  <a:txBody>
                    <a:bodyPr/>
                    <a:lstStyle/>
                    <a:p>
                      <a:pPr algn="ctr"/>
                      <a:r>
                        <a:rPr lang="en-CA" sz="2400" dirty="0">
                          <a:latin typeface="Times New Roman" panose="02020603050405020304" pitchFamily="18" charset="0"/>
                          <a:cs typeface="Times New Roman" panose="02020603050405020304" pitchFamily="18" charset="0"/>
                        </a:rPr>
                        <a:t>2</a:t>
                      </a:r>
                    </a:p>
                  </a:txBody>
                  <a:tcPr/>
                </a:tc>
                <a:tc>
                  <a:txBody>
                    <a:bodyPr/>
                    <a:lstStyle/>
                    <a:p>
                      <a:pPr algn="ctr"/>
                      <a:r>
                        <a:rPr lang="en-CA" sz="2400" dirty="0">
                          <a:latin typeface="Times New Roman" panose="02020603050405020304" pitchFamily="18" charset="0"/>
                          <a:cs typeface="Times New Roman" panose="02020603050405020304" pitchFamily="18" charset="0"/>
                        </a:rPr>
                        <a:t>4000</a:t>
                      </a:r>
                    </a:p>
                  </a:txBody>
                  <a:tcPr/>
                </a:tc>
                <a:tc>
                  <a:txBody>
                    <a:bodyPr/>
                    <a:lstStyle/>
                    <a:p>
                      <a:pPr algn="ctr"/>
                      <a:r>
                        <a:rPr lang="en-US" sz="2400" dirty="0">
                          <a:latin typeface="Times New Roman" panose="02020603050405020304" pitchFamily="18" charset="0"/>
                          <a:cs typeface="Times New Roman" panose="02020603050405020304" pitchFamily="18" charset="0"/>
                        </a:rPr>
                        <a:t>0.5×3000+(1-0.5)×3000=3000</a:t>
                      </a: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548433">
                <a:tc>
                  <a:txBody>
                    <a:bodyPr/>
                    <a:lstStyle/>
                    <a:p>
                      <a:pPr algn="ctr"/>
                      <a:r>
                        <a:rPr lang="en-CA" sz="2400" dirty="0">
                          <a:latin typeface="Times New Roman" panose="02020603050405020304" pitchFamily="18" charset="0"/>
                          <a:cs typeface="Times New Roman" panose="02020603050405020304" pitchFamily="18" charset="0"/>
                        </a:rPr>
                        <a:t>3</a:t>
                      </a:r>
                    </a:p>
                  </a:txBody>
                  <a:tcPr/>
                </a:tc>
                <a:tc>
                  <a:txBody>
                    <a:bodyPr/>
                    <a:lstStyle/>
                    <a:p>
                      <a:pPr algn="ctr"/>
                      <a:r>
                        <a:rPr lang="en-CA" sz="2400" dirty="0">
                          <a:latin typeface="Times New Roman" panose="02020603050405020304" pitchFamily="18" charset="0"/>
                          <a:cs typeface="Times New Roman" panose="02020603050405020304" pitchFamily="18" charset="0"/>
                        </a:rPr>
                        <a:t>3400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0.5×4000+(1-0.5)×3000=3500</a:t>
                      </a: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548433">
                <a:tc>
                  <a:txBody>
                    <a:bodyPr/>
                    <a:lstStyle/>
                    <a:p>
                      <a:pPr algn="ctr"/>
                      <a:r>
                        <a:rPr lang="en-CA" sz="2400" dirty="0">
                          <a:latin typeface="Times New Roman" panose="02020603050405020304" pitchFamily="18" charset="0"/>
                          <a:cs typeface="Times New Roman" panose="02020603050405020304" pitchFamily="18" charset="0"/>
                        </a:rPr>
                        <a:t>4</a:t>
                      </a:r>
                    </a:p>
                  </a:txBody>
                  <a:tcPr/>
                </a:tc>
                <a:tc>
                  <a:txBody>
                    <a:bodyPr/>
                    <a:lstStyle/>
                    <a:p>
                      <a:pPr algn="ctr"/>
                      <a:r>
                        <a:rPr lang="en-CA" sz="2400" dirty="0">
                          <a:latin typeface="Times New Roman" panose="02020603050405020304" pitchFamily="18" charset="0"/>
                          <a:cs typeface="Times New Roman" panose="02020603050405020304" pitchFamily="18" charset="0"/>
                        </a:rPr>
                        <a:t>3800</a:t>
                      </a:r>
                    </a:p>
                  </a:txBody>
                  <a:tcPr/>
                </a:tc>
                <a:tc>
                  <a:txBody>
                    <a:bodyPr/>
                    <a:lstStyle/>
                    <a:p>
                      <a:pPr algn="ctr"/>
                      <a:r>
                        <a:rPr lang="en-US" sz="2400" dirty="0">
                          <a:latin typeface="Times New Roman" panose="02020603050405020304" pitchFamily="18" charset="0"/>
                          <a:cs typeface="Times New Roman" panose="02020603050405020304" pitchFamily="18" charset="0"/>
                        </a:rPr>
                        <a:t>0.5×3400+(1-0.5)×3500=3450</a:t>
                      </a: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548433">
                <a:tc>
                  <a:txBody>
                    <a:bodyPr/>
                    <a:lstStyle/>
                    <a:p>
                      <a:pPr algn="ctr"/>
                      <a:r>
                        <a:rPr lang="en-CA" sz="2400" dirty="0">
                          <a:latin typeface="Times New Roman" panose="02020603050405020304" pitchFamily="18" charset="0"/>
                          <a:cs typeface="Times New Roman" panose="02020603050405020304" pitchFamily="18" charset="0"/>
                        </a:rPr>
                        <a:t>5</a:t>
                      </a:r>
                    </a:p>
                  </a:txBody>
                  <a:tcPr/>
                </a:tc>
                <a:tc>
                  <a:txBody>
                    <a:bodyPr/>
                    <a:lstStyle/>
                    <a:p>
                      <a:pPr algn="ctr"/>
                      <a:r>
                        <a:rPr lang="en-CA" sz="2400" dirty="0">
                          <a:latin typeface="Times New Roman" panose="02020603050405020304" pitchFamily="18" charset="0"/>
                          <a:cs typeface="Times New Roman" panose="02020603050405020304" pitchFamily="18" charset="0"/>
                        </a:rPr>
                        <a:t>3700</a:t>
                      </a:r>
                    </a:p>
                  </a:txBody>
                  <a:tcPr/>
                </a:tc>
                <a:tc>
                  <a:txBody>
                    <a:bodyPr/>
                    <a:lstStyle/>
                    <a:p>
                      <a:pPr algn="ctr"/>
                      <a:r>
                        <a:rPr lang="en-US" sz="2400" dirty="0">
                          <a:latin typeface="Times New Roman" panose="02020603050405020304" pitchFamily="18" charset="0"/>
                          <a:cs typeface="Times New Roman" panose="02020603050405020304" pitchFamily="18" charset="0"/>
                        </a:rPr>
                        <a:t>0.5×3800+(1-0.5)×3450=3625</a:t>
                      </a: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548433">
                <a:tc>
                  <a:txBody>
                    <a:bodyPr/>
                    <a:lstStyle/>
                    <a:p>
                      <a:pPr algn="ctr"/>
                      <a:r>
                        <a:rPr lang="en-CA" sz="2400" dirty="0">
                          <a:latin typeface="Times New Roman" panose="02020603050405020304" pitchFamily="18" charset="0"/>
                          <a:cs typeface="Times New Roman" panose="02020603050405020304" pitchFamily="18" charset="0"/>
                        </a:rPr>
                        <a:t>6</a:t>
                      </a:r>
                    </a:p>
                  </a:txBody>
                  <a:tcPr/>
                </a:tc>
                <a:tc>
                  <a:txBody>
                    <a:bodyPr/>
                    <a:lstStyle/>
                    <a:p>
                      <a:pPr algn="ctr"/>
                      <a:r>
                        <a:rPr lang="en-CA" sz="2400" dirty="0">
                          <a:latin typeface="Times New Roman" panose="02020603050405020304" pitchFamily="18" charset="0"/>
                          <a:cs typeface="Times New Roman" panose="02020603050405020304" pitchFamily="18" charset="0"/>
                        </a:rPr>
                        <a:t>-</a:t>
                      </a:r>
                    </a:p>
                  </a:txBody>
                  <a:tcPr/>
                </a:tc>
                <a:tc>
                  <a:txBody>
                    <a:bodyPr/>
                    <a:lstStyle/>
                    <a:p>
                      <a:pPr algn="ctr"/>
                      <a:r>
                        <a:rPr lang="en-US" sz="2400" dirty="0">
                          <a:latin typeface="Times New Roman" panose="02020603050405020304" pitchFamily="18" charset="0"/>
                          <a:cs typeface="Times New Roman" panose="02020603050405020304" pitchFamily="18" charset="0"/>
                        </a:rPr>
                        <a:t>0.5×3700</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(1-0.5)</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3625=3662.5</a:t>
                      </a: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108520" y="1628800"/>
                <a:ext cx="3810000"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A" sz="2800" b="1" i="1" dirty="0" smtClean="0">
                          <a:latin typeface="Cambria Math"/>
                          <a:ea typeface="Cambria Math"/>
                          <a:cs typeface="Times New Roman" panose="02020603050405020304" pitchFamily="18" charset="0"/>
                        </a:rPr>
                        <m:t>𝜶</m:t>
                      </m:r>
                      <m:r>
                        <a:rPr lang="en-CA" sz="2800" b="1" i="1" dirty="0" smtClean="0">
                          <a:latin typeface="Cambria Math"/>
                          <a:ea typeface="Cambria Math"/>
                          <a:cs typeface="Times New Roman" panose="02020603050405020304" pitchFamily="18" charset="0"/>
                        </a:rPr>
                        <m:t>=</m:t>
                      </m:r>
                      <m:r>
                        <a:rPr lang="en-CA" sz="2800" b="1" i="1" dirty="0" smtClean="0">
                          <a:latin typeface="Cambria Math"/>
                          <a:ea typeface="Cambria Math"/>
                          <a:cs typeface="Times New Roman" panose="02020603050405020304" pitchFamily="18" charset="0"/>
                        </a:rPr>
                        <m:t>𝟎</m:t>
                      </m:r>
                      <m:r>
                        <a:rPr lang="en-CA" sz="2800" b="1" i="1" dirty="0" smtClean="0">
                          <a:latin typeface="Cambria Math"/>
                          <a:ea typeface="Cambria Math"/>
                          <a:cs typeface="Times New Roman" panose="02020603050405020304" pitchFamily="18" charset="0"/>
                        </a:rPr>
                        <m:t>.</m:t>
                      </m:r>
                      <m:r>
                        <a:rPr lang="en-CA" sz="2800" b="1" i="1" dirty="0" smtClean="0">
                          <a:latin typeface="Cambria Math"/>
                          <a:ea typeface="Cambria Math"/>
                          <a:cs typeface="Times New Roman" panose="02020603050405020304" pitchFamily="18" charset="0"/>
                        </a:rPr>
                        <m:t>𝟓</m:t>
                      </m:r>
                    </m:oMath>
                  </m:oMathPara>
                </a14:m>
                <a:endParaRPr lang="en-CA" sz="2800" b="1" dirty="0">
                  <a:latin typeface="Times New Roman" panose="02020603050405020304" pitchFamily="18"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08520" y="1628800"/>
                <a:ext cx="3810000" cy="523220"/>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3995936" y="1628800"/>
                <a:ext cx="4392488" cy="800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CA" sz="2800" b="0" i="1" smtClean="0">
                                  <a:latin typeface="Cambria Math" panose="02040503050406030204" pitchFamily="18" charset="0"/>
                                </a:rPr>
                                <m:t>𝑦</m:t>
                              </m:r>
                            </m:e>
                          </m:acc>
                        </m:e>
                        <m:sub>
                          <m:r>
                            <a:rPr lang="en-CA" sz="2800" b="0" i="1" smtClean="0">
                              <a:latin typeface="Cambria Math" panose="02040503050406030204" pitchFamily="18" charset="0"/>
                            </a:rPr>
                            <m:t>𝑡</m:t>
                          </m:r>
                          <m:r>
                            <a:rPr lang="en-CA" sz="2800" b="0" i="1" smtClean="0">
                              <a:latin typeface="Cambria Math" panose="02040503050406030204" pitchFamily="18" charset="0"/>
                            </a:rPr>
                            <m:t>+1</m:t>
                          </m:r>
                        </m:sub>
                      </m:sSub>
                      <m:r>
                        <a:rPr lang="en-CA" sz="2800" b="0" i="1" smtClean="0">
                          <a:latin typeface="Cambria Math" panose="02040503050406030204" pitchFamily="18" charset="0"/>
                        </a:rPr>
                        <m:t>=</m:t>
                      </m:r>
                      <m:r>
                        <a:rPr lang="en-CA" sz="2800" b="0" i="1" smtClean="0">
                          <a:latin typeface="Cambria Math" panose="02040503050406030204" pitchFamily="18" charset="0"/>
                          <a:ea typeface="Cambria Math" panose="02040503050406030204" pitchFamily="18" charset="0"/>
                        </a:rPr>
                        <m:t>𝛼</m:t>
                      </m:r>
                      <m:sSub>
                        <m:sSubPr>
                          <m:ctrlPr>
                            <a:rPr lang="en-CA" sz="2800" b="0" i="1" smtClean="0">
                              <a:latin typeface="Cambria Math" panose="02040503050406030204" pitchFamily="18" charset="0"/>
                              <a:ea typeface="Cambria Math" panose="02040503050406030204" pitchFamily="18" charset="0"/>
                            </a:rPr>
                          </m:ctrlPr>
                        </m:sSubPr>
                        <m:e>
                          <m:r>
                            <a:rPr lang="en-CA" sz="2800" b="0" i="1" smtClean="0">
                              <a:latin typeface="Cambria Math" panose="02040503050406030204" pitchFamily="18" charset="0"/>
                              <a:ea typeface="Cambria Math" panose="02040503050406030204" pitchFamily="18" charset="0"/>
                            </a:rPr>
                            <m:t>𝑦</m:t>
                          </m:r>
                        </m:e>
                        <m:sub>
                          <m:r>
                            <a:rPr lang="en-CA" sz="2800" b="0" i="1" smtClean="0">
                              <a:latin typeface="Cambria Math" panose="02040503050406030204" pitchFamily="18" charset="0"/>
                              <a:ea typeface="Cambria Math" panose="02040503050406030204" pitchFamily="18" charset="0"/>
                            </a:rPr>
                            <m:t>𝑡</m:t>
                          </m:r>
                        </m:sub>
                      </m:sSub>
                      <m:r>
                        <a:rPr lang="en-CA" sz="2800" b="0" i="1" smtClean="0">
                          <a:latin typeface="Cambria Math" panose="02040503050406030204" pitchFamily="18" charset="0"/>
                          <a:ea typeface="Cambria Math" panose="02040503050406030204" pitchFamily="18" charset="0"/>
                        </a:rPr>
                        <m:t>+</m:t>
                      </m:r>
                      <m:d>
                        <m:dPr>
                          <m:ctrlPr>
                            <a:rPr lang="en-CA" sz="2800" b="0" i="1" smtClean="0">
                              <a:latin typeface="Cambria Math" panose="02040503050406030204" pitchFamily="18" charset="0"/>
                              <a:ea typeface="Cambria Math" panose="02040503050406030204" pitchFamily="18" charset="0"/>
                            </a:rPr>
                          </m:ctrlPr>
                        </m:dPr>
                        <m:e>
                          <m:r>
                            <a:rPr lang="en-CA" sz="2800" b="0" i="1" smtClean="0">
                              <a:latin typeface="Cambria Math" panose="02040503050406030204" pitchFamily="18" charset="0"/>
                              <a:ea typeface="Cambria Math" panose="02040503050406030204" pitchFamily="18" charset="0"/>
                            </a:rPr>
                            <m:t>1−</m:t>
                          </m:r>
                          <m:r>
                            <a:rPr lang="en-CA" sz="2800" b="0" i="1" smtClean="0">
                              <a:latin typeface="Cambria Math" panose="02040503050406030204" pitchFamily="18" charset="0"/>
                              <a:ea typeface="Cambria Math" panose="02040503050406030204" pitchFamily="18" charset="0"/>
                            </a:rPr>
                            <m:t>𝛼</m:t>
                          </m:r>
                        </m:e>
                      </m:d>
                      <m:sSub>
                        <m:sSubPr>
                          <m:ctrlPr>
                            <a:rPr lang="en-CA" sz="2800" b="0" i="1" smtClean="0">
                              <a:latin typeface="Cambria Math" panose="02040503050406030204" pitchFamily="18" charset="0"/>
                              <a:ea typeface="Cambria Math" panose="02040503050406030204" pitchFamily="18" charset="0"/>
                            </a:rPr>
                          </m:ctrlPr>
                        </m:sSubPr>
                        <m:e>
                          <m:acc>
                            <m:accPr>
                              <m:chr m:val="̂"/>
                              <m:ctrlPr>
                                <a:rPr lang="en-CA" sz="2800" b="0" i="1" smtClean="0">
                                  <a:latin typeface="Cambria Math" panose="02040503050406030204" pitchFamily="18" charset="0"/>
                                  <a:ea typeface="Cambria Math" panose="02040503050406030204" pitchFamily="18" charset="0"/>
                                </a:rPr>
                              </m:ctrlPr>
                            </m:accPr>
                            <m:e>
                              <m:r>
                                <a:rPr lang="en-CA" sz="2800" b="0" i="1" smtClean="0">
                                  <a:latin typeface="Cambria Math" panose="02040503050406030204" pitchFamily="18" charset="0"/>
                                  <a:ea typeface="Cambria Math" panose="02040503050406030204" pitchFamily="18" charset="0"/>
                                </a:rPr>
                                <m:t>𝑦</m:t>
                              </m:r>
                            </m:e>
                          </m:acc>
                        </m:e>
                        <m:sub>
                          <m:r>
                            <a:rPr lang="en-CA" sz="2800" b="0" i="1" smtClean="0">
                              <a:latin typeface="Cambria Math" panose="02040503050406030204" pitchFamily="18" charset="0"/>
                              <a:ea typeface="Cambria Math" panose="02040503050406030204" pitchFamily="18" charset="0"/>
                            </a:rPr>
                            <m:t>𝑡</m:t>
                          </m:r>
                        </m:sub>
                      </m:sSub>
                    </m:oMath>
                  </m:oMathPara>
                </a14:m>
                <a:endParaRPr lang="en-US" sz="2800" dirty="0">
                  <a:latin typeface="Times New Roman" panose="02020603050405020304" pitchFamily="18" charset="0"/>
                  <a:cs typeface="Times New Roman" panose="02020603050405020304" pitchFamily="18" charset="0"/>
                </a:endParaRPr>
              </a:p>
              <a:p>
                <a:endParaRPr lang="en-CA" dirty="0"/>
              </a:p>
            </p:txBody>
          </p:sp>
        </mc:Choice>
        <mc:Fallback xmlns="">
          <p:sp>
            <p:nvSpPr>
              <p:cNvPr id="2" name="TextBox 1"/>
              <p:cNvSpPr txBox="1">
                <a:spLocks noRot="1" noChangeAspect="1" noMove="1" noResize="1" noEditPoints="1" noAdjustHandles="1" noChangeArrowheads="1" noChangeShapeType="1" noTextEdit="1"/>
              </p:cNvSpPr>
              <p:nvPr/>
            </p:nvSpPr>
            <p:spPr>
              <a:xfrm>
                <a:off x="3995936" y="1628800"/>
                <a:ext cx="4392488" cy="800219"/>
              </a:xfrm>
              <a:prstGeom prst="rect">
                <a:avLst/>
              </a:prstGeom>
              <a:blipFill>
                <a:blip r:embed="rId4"/>
                <a:stretch>
                  <a:fillRect t="-3125"/>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84CF1108-7997-10EA-02E9-DBB236C6416A}"/>
              </a:ext>
            </a:extLst>
          </p:cNvPr>
          <p:cNvSpPr>
            <a:spLocks noGrp="1"/>
          </p:cNvSpPr>
          <p:nvPr>
            <p:ph type="title"/>
          </p:nvPr>
        </p:nvSpPr>
        <p:spPr/>
        <p:txBody>
          <a:bodyPr/>
          <a:lstStyle/>
          <a:p>
            <a:r>
              <a:rPr lang="en-US" dirty="0"/>
              <a:t>Exponential Smoothing</a:t>
            </a:r>
          </a:p>
        </p:txBody>
      </p:sp>
    </p:spTree>
    <p:extLst>
      <p:ext uri="{BB962C8B-B14F-4D97-AF65-F5344CB8AC3E}">
        <p14:creationId xmlns:p14="http://schemas.microsoft.com/office/powerpoint/2010/main" val="7772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171B-1D77-96AC-AFA9-E7DCF68450A1}"/>
              </a:ext>
            </a:extLst>
          </p:cNvPr>
          <p:cNvSpPr>
            <a:spLocks noGrp="1"/>
          </p:cNvSpPr>
          <p:nvPr>
            <p:ph type="title"/>
          </p:nvPr>
        </p:nvSpPr>
        <p:spPr/>
        <p:txBody>
          <a:bodyPr/>
          <a:lstStyle/>
          <a:p>
            <a:r>
              <a:rPr lang="en-US" dirty="0"/>
              <a:t>Exponential Smoothing</a:t>
            </a:r>
          </a:p>
        </p:txBody>
      </p:sp>
      <p:sp>
        <p:nvSpPr>
          <p:cNvPr id="3" name="Slide Number Placeholder 2">
            <a:extLst>
              <a:ext uri="{FF2B5EF4-FFF2-40B4-BE49-F238E27FC236}">
                <a16:creationId xmlns:a16="http://schemas.microsoft.com/office/drawing/2014/main" id="{661A90BA-CFAF-9F41-BA62-8832A9036183}"/>
              </a:ext>
            </a:extLst>
          </p:cNvPr>
          <p:cNvSpPr>
            <a:spLocks noGrp="1"/>
          </p:cNvSpPr>
          <p:nvPr>
            <p:ph type="sldNum" sz="quarter" idx="12"/>
          </p:nvPr>
        </p:nvSpPr>
        <p:spPr/>
        <p:txBody>
          <a:bodyPr/>
          <a:lstStyle/>
          <a:p>
            <a:fld id="{B6F15528-21DE-4FAA-801E-634DDDAF4B2B}" type="slidenum">
              <a:rPr lang="en-US" smtClean="0"/>
              <a:pPr/>
              <a:t>15</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16F3E2B-33A2-EC8E-8DBE-C7C096AC1A3F}"/>
                  </a:ext>
                </a:extLst>
              </p:cNvPr>
              <p:cNvSpPr>
                <a:spLocks noGrp="1"/>
              </p:cNvSpPr>
              <p:nvPr>
                <p:ph sz="quarter" idx="1"/>
              </p:nvPr>
            </p:nvSpPr>
            <p:spPr>
              <a:xfrm>
                <a:off x="848202" y="1412776"/>
                <a:ext cx="7447596" cy="4680520"/>
              </a:xfrm>
            </p:spPr>
            <p:txBody>
              <a:bodyPr>
                <a:normAutofit/>
              </a:bodyPr>
              <a:lstStyle/>
              <a:p>
                <a:pPr marL="502920" indent="-457200"/>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CA" b="0" i="1" smtClean="0">
                                <a:latin typeface="Cambria Math" panose="02040503050406030204" pitchFamily="18" charset="0"/>
                              </a:rPr>
                              <m:t>𝑦</m:t>
                            </m:r>
                          </m:e>
                        </m:acc>
                      </m:e>
                      <m:sub>
                        <m:r>
                          <a:rPr lang="en-CA" b="0" i="1" smtClean="0">
                            <a:latin typeface="Cambria Math" panose="02040503050406030204" pitchFamily="18" charset="0"/>
                          </a:rPr>
                          <m:t>1</m:t>
                        </m:r>
                      </m:sub>
                    </m:sSub>
                  </m:oMath>
                </a14:m>
                <a:r>
                  <a:rPr lang="en-US" dirty="0"/>
                  <a:t>is usually taken to be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1</m:t>
                        </m:r>
                      </m:sub>
                    </m:sSub>
                  </m:oMath>
                </a14:m>
                <a:endParaRPr lang="en-US" dirty="0"/>
              </a:p>
              <a:p>
                <a:pPr marL="502920" indent="-457200"/>
                <a:r>
                  <a:rPr lang="en-US" dirty="0"/>
                  <a:t>The choice of the initial value is less important if the number of observations is large.</a:t>
                </a:r>
              </a:p>
              <a:p>
                <a:pPr marL="502920" indent="-457200"/>
                <a:r>
                  <a:rPr lang="en-US" dirty="0"/>
                  <a:t>A higher value of</a:t>
                </a:r>
                <a14:m>
                  <m:oMath xmlns:m="http://schemas.openxmlformats.org/officeDocument/2006/math">
                    <m:r>
                      <a:rPr lang="en-CA" b="0" i="0"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𝛼</m:t>
                    </m:r>
                  </m:oMath>
                </a14:m>
                <a:r>
                  <a:rPr lang="en-US" dirty="0"/>
                  <a:t> means we are putting more emphasis on recent data.</a:t>
                </a:r>
              </a:p>
            </p:txBody>
          </p:sp>
        </mc:Choice>
        <mc:Fallback xmlns="">
          <p:sp>
            <p:nvSpPr>
              <p:cNvPr id="4" name="Content Placeholder 3">
                <a:extLst>
                  <a:ext uri="{FF2B5EF4-FFF2-40B4-BE49-F238E27FC236}">
                    <a16:creationId xmlns:a16="http://schemas.microsoft.com/office/drawing/2014/main" id="{516F3E2B-33A2-EC8E-8DBE-C7C096AC1A3F}"/>
                  </a:ext>
                </a:extLst>
              </p:cNvPr>
              <p:cNvSpPr>
                <a:spLocks noGrp="1" noRot="1" noChangeAspect="1" noMove="1" noResize="1" noEditPoints="1" noAdjustHandles="1" noChangeArrowheads="1" noChangeShapeType="1" noTextEdit="1"/>
              </p:cNvSpPr>
              <p:nvPr>
                <p:ph sz="quarter" idx="1"/>
              </p:nvPr>
            </p:nvSpPr>
            <p:spPr>
              <a:xfrm>
                <a:off x="848202" y="1412776"/>
                <a:ext cx="7447596" cy="4680520"/>
              </a:xfrm>
              <a:blipFill>
                <a:blip r:embed="rId3"/>
                <a:stretch>
                  <a:fillRect l="-170" t="-1081"/>
                </a:stretch>
              </a:blipFill>
            </p:spPr>
            <p:txBody>
              <a:bodyPr/>
              <a:lstStyle/>
              <a:p>
                <a:r>
                  <a:rPr lang="en-US">
                    <a:noFill/>
                  </a:rPr>
                  <a:t> </a:t>
                </a:r>
              </a:p>
            </p:txBody>
          </p:sp>
        </mc:Fallback>
      </mc:AlternateContent>
    </p:spTree>
    <p:extLst>
      <p:ext uri="{BB962C8B-B14F-4D97-AF65-F5344CB8AC3E}">
        <p14:creationId xmlns:p14="http://schemas.microsoft.com/office/powerpoint/2010/main" val="548235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B547-EE2A-0E7A-2600-228B52916518}"/>
              </a:ext>
            </a:extLst>
          </p:cNvPr>
          <p:cNvSpPr>
            <a:spLocks noGrp="1"/>
          </p:cNvSpPr>
          <p:nvPr>
            <p:ph type="title"/>
          </p:nvPr>
        </p:nvSpPr>
        <p:spPr/>
        <p:txBody>
          <a:bodyPr/>
          <a:lstStyle/>
          <a:p>
            <a:r>
              <a:rPr lang="en-US" dirty="0"/>
              <a:t>Exponential Smoothing</a:t>
            </a:r>
          </a:p>
        </p:txBody>
      </p:sp>
      <p:sp>
        <p:nvSpPr>
          <p:cNvPr id="3" name="Slide Number Placeholder 2">
            <a:extLst>
              <a:ext uri="{FF2B5EF4-FFF2-40B4-BE49-F238E27FC236}">
                <a16:creationId xmlns:a16="http://schemas.microsoft.com/office/drawing/2014/main" id="{A2067F32-CBFF-036D-91D3-3ABBDCD30507}"/>
              </a:ext>
            </a:extLst>
          </p:cNvPr>
          <p:cNvSpPr>
            <a:spLocks noGrp="1"/>
          </p:cNvSpPr>
          <p:nvPr>
            <p:ph type="sldNum" sz="quarter" idx="12"/>
          </p:nvPr>
        </p:nvSpPr>
        <p:spPr/>
        <p:txBody>
          <a:bodyPr/>
          <a:lstStyle/>
          <a:p>
            <a:fld id="{B6F15528-21DE-4FAA-801E-634DDDAF4B2B}" type="slidenum">
              <a:rPr lang="en-US" smtClean="0"/>
              <a:pPr/>
              <a:t>16</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22A8125-9337-CA03-65C2-5E7BDD631F84}"/>
                  </a:ext>
                </a:extLst>
              </p:cNvPr>
              <p:cNvSpPr>
                <a:spLocks noGrp="1"/>
              </p:cNvSpPr>
              <p:nvPr>
                <p:ph sz="quarter" idx="1"/>
              </p:nvPr>
            </p:nvSpPr>
            <p:spPr>
              <a:xfrm>
                <a:off x="632288" y="1031594"/>
                <a:ext cx="8332200" cy="5349734"/>
              </a:xfrm>
            </p:spPr>
            <p:txBody>
              <a:bodyPr/>
              <a:lstStyle/>
              <a:p>
                <a:pPr marL="0" indent="0">
                  <a:buNone/>
                </a:pPr>
                <a:r>
                  <a:rPr lang="en-US" sz="2400" b="1" dirty="0"/>
                  <a:t>Example 5.3: </a:t>
                </a:r>
                <a:r>
                  <a:rPr lang="en-US" sz="2400" dirty="0"/>
                  <a:t>Revisit Example 5.1.</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Use exponential smoothing to forecast the number of calls for day 22. Assume </a:t>
                </a:r>
                <a14:m>
                  <m:oMath xmlns:m="http://schemas.openxmlformats.org/officeDocument/2006/math">
                    <m:r>
                      <a:rPr lang="en-US" sz="2400" i="1" smtClean="0">
                        <a:latin typeface="Cambria Math" panose="02040503050406030204" pitchFamily="18" charset="0"/>
                        <a:ea typeface="Cambria Math" panose="02040503050406030204" pitchFamily="18" charset="0"/>
                      </a:rPr>
                      <m:t>𝛼</m:t>
                    </m:r>
                  </m:oMath>
                </a14:m>
                <a:r>
                  <a:rPr lang="en-US" sz="2400" dirty="0"/>
                  <a:t>=0.3.</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022A8125-9337-CA03-65C2-5E7BDD631F84}"/>
                  </a:ext>
                </a:extLst>
              </p:cNvPr>
              <p:cNvSpPr>
                <a:spLocks noGrp="1" noRot="1" noChangeAspect="1" noMove="1" noResize="1" noEditPoints="1" noAdjustHandles="1" noChangeArrowheads="1" noChangeShapeType="1" noTextEdit="1"/>
              </p:cNvSpPr>
              <p:nvPr>
                <p:ph sz="quarter" idx="1"/>
              </p:nvPr>
            </p:nvSpPr>
            <p:spPr>
              <a:xfrm>
                <a:off x="632288" y="1031594"/>
                <a:ext cx="8332200" cy="5349734"/>
              </a:xfrm>
              <a:blipFill>
                <a:blip r:embed="rId2"/>
                <a:stretch>
                  <a:fillRect l="-1064" t="-948" r="-760"/>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DFC0325B-5869-8F22-266E-5065DD23BE28}"/>
              </a:ext>
            </a:extLst>
          </p:cNvPr>
          <p:cNvGraphicFramePr>
            <a:graphicFrameLocks noGrp="1"/>
          </p:cNvGraphicFramePr>
          <p:nvPr>
            <p:extLst>
              <p:ext uri="{D42A27DB-BD31-4B8C-83A1-F6EECF244321}">
                <p14:modId xmlns:p14="http://schemas.microsoft.com/office/powerpoint/2010/main" val="9508217"/>
              </p:ext>
            </p:extLst>
          </p:nvPr>
        </p:nvGraphicFramePr>
        <p:xfrm>
          <a:off x="3252787" y="1628800"/>
          <a:ext cx="2638425" cy="2743200"/>
        </p:xfrm>
        <a:graphic>
          <a:graphicData uri="http://schemas.openxmlformats.org/drawingml/2006/table">
            <a:tbl>
              <a:tblPr firstRow="1" bandRow="1">
                <a:tableStyleId>{5C22544A-7EE6-4342-B048-85BDC9FD1C3A}</a:tableStyleId>
              </a:tblPr>
              <a:tblGrid>
                <a:gridCol w="1343025">
                  <a:extLst>
                    <a:ext uri="{9D8B030D-6E8A-4147-A177-3AD203B41FA5}">
                      <a16:colId xmlns:a16="http://schemas.microsoft.com/office/drawing/2014/main" val="359219029"/>
                    </a:ext>
                  </a:extLst>
                </a:gridCol>
                <a:gridCol w="1295400">
                  <a:extLst>
                    <a:ext uri="{9D8B030D-6E8A-4147-A177-3AD203B41FA5}">
                      <a16:colId xmlns:a16="http://schemas.microsoft.com/office/drawing/2014/main" val="135325927"/>
                    </a:ext>
                  </a:extLst>
                </a:gridCol>
              </a:tblGrid>
              <a:tr h="0">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2555563619"/>
                  </a:ext>
                </a:extLst>
              </a:tr>
              <a:tr h="207688">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3532010948"/>
                  </a:ext>
                </a:extLst>
              </a:tr>
              <a:tr h="0">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4049772074"/>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876938913"/>
                  </a:ext>
                </a:extLst>
              </a:tr>
              <a:tr h="0">
                <a:tc>
                  <a:txBody>
                    <a:bodyPr/>
                    <a:lstStyle/>
                    <a:p>
                      <a:endParaRPr lang="en-US" sz="1200"/>
                    </a:p>
                  </a:txBody>
                  <a:tcPr/>
                </a:tc>
                <a:tc>
                  <a:txBody>
                    <a:bodyPr/>
                    <a:lstStyle/>
                    <a:p>
                      <a:endParaRPr lang="en-US" sz="1200"/>
                    </a:p>
                  </a:txBody>
                  <a:tcPr/>
                </a:tc>
                <a:extLst>
                  <a:ext uri="{0D108BD9-81ED-4DB2-BD59-A6C34878D82A}">
                    <a16:rowId xmlns:a16="http://schemas.microsoft.com/office/drawing/2014/main" val="522696089"/>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4221162718"/>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001132939"/>
                  </a:ext>
                </a:extLst>
              </a:tr>
              <a:tr h="0">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3997306906"/>
                  </a:ext>
                </a:extLst>
              </a:tr>
              <a:tr h="0">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83450598"/>
                  </a:ext>
                </a:extLst>
              </a:tr>
              <a:tr h="0">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530721777"/>
                  </a:ext>
                </a:extLst>
              </a:tr>
            </a:tbl>
          </a:graphicData>
        </a:graphic>
      </p:graphicFrame>
      <p:graphicFrame>
        <p:nvGraphicFramePr>
          <p:cNvPr id="7" name="Object 6">
            <a:extLst>
              <a:ext uri="{FF2B5EF4-FFF2-40B4-BE49-F238E27FC236}">
                <a16:creationId xmlns:a16="http://schemas.microsoft.com/office/drawing/2014/main" id="{6EA033BD-AA6F-7AE9-B05D-F77FEF3D646F}"/>
              </a:ext>
            </a:extLst>
          </p:cNvPr>
          <p:cNvGraphicFramePr>
            <a:graphicFrameLocks noChangeAspect="1"/>
          </p:cNvGraphicFramePr>
          <p:nvPr>
            <p:extLst>
              <p:ext uri="{D42A27DB-BD31-4B8C-83A1-F6EECF244321}">
                <p14:modId xmlns:p14="http://schemas.microsoft.com/office/powerpoint/2010/main" val="3839086753"/>
              </p:ext>
            </p:extLst>
          </p:nvPr>
        </p:nvGraphicFramePr>
        <p:xfrm>
          <a:off x="3671887" y="1678327"/>
          <a:ext cx="314325" cy="200025"/>
        </p:xfrm>
        <a:graphic>
          <a:graphicData uri="http://schemas.openxmlformats.org/presentationml/2006/ole">
            <mc:AlternateContent xmlns:mc="http://schemas.openxmlformats.org/markup-compatibility/2006">
              <mc:Choice xmlns:v="urn:schemas-microsoft-com:vml" Requires="v">
                <p:oleObj name="Equation" r:id="rId3" imgW="317160" imgH="203040" progId="Equation.DSMT4">
                  <p:embed/>
                </p:oleObj>
              </mc:Choice>
              <mc:Fallback>
                <p:oleObj name="Equation" r:id="rId3" imgW="317160" imgH="203040" progId="Equation.DSMT4">
                  <p:embed/>
                  <p:pic>
                    <p:nvPicPr>
                      <p:cNvPr id="7" name="Object 6">
                        <a:extLst>
                          <a:ext uri="{FF2B5EF4-FFF2-40B4-BE49-F238E27FC236}">
                            <a16:creationId xmlns:a16="http://schemas.microsoft.com/office/drawing/2014/main" id="{6EA033BD-AA6F-7AE9-B05D-F77FEF3D646F}"/>
                          </a:ext>
                        </a:extLst>
                      </p:cNvPr>
                      <p:cNvPicPr>
                        <a:picLocks noChangeAspect="1" noChangeArrowheads="1"/>
                      </p:cNvPicPr>
                      <p:nvPr/>
                    </p:nvPicPr>
                    <p:blipFill>
                      <a:blip r:embed="rId4"/>
                      <a:srcRect/>
                      <a:stretch>
                        <a:fillRect/>
                      </a:stretch>
                    </p:blipFill>
                    <p:spPr bwMode="auto">
                      <a:xfrm>
                        <a:off x="3671887" y="1678327"/>
                        <a:ext cx="31432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1F6D73E9-BED3-BA10-54B0-31E32380D985}"/>
              </a:ext>
            </a:extLst>
          </p:cNvPr>
          <p:cNvGraphicFramePr>
            <a:graphicFrameLocks noChangeAspect="1"/>
          </p:cNvGraphicFramePr>
          <p:nvPr>
            <p:extLst>
              <p:ext uri="{D42A27DB-BD31-4B8C-83A1-F6EECF244321}">
                <p14:modId xmlns:p14="http://schemas.microsoft.com/office/powerpoint/2010/main" val="3777473348"/>
              </p:ext>
            </p:extLst>
          </p:nvPr>
        </p:nvGraphicFramePr>
        <p:xfrm>
          <a:off x="5055596" y="1666309"/>
          <a:ext cx="376237" cy="174625"/>
        </p:xfrm>
        <a:graphic>
          <a:graphicData uri="http://schemas.openxmlformats.org/presentationml/2006/ole">
            <mc:AlternateContent xmlns:mc="http://schemas.openxmlformats.org/markup-compatibility/2006">
              <mc:Choice xmlns:v="urn:schemas-microsoft-com:vml" Requires="v">
                <p:oleObj name="Equation" r:id="rId5" imgW="380880" imgH="177480" progId="Equation.DSMT4">
                  <p:embed/>
                </p:oleObj>
              </mc:Choice>
              <mc:Fallback>
                <p:oleObj name="Equation" r:id="rId5" imgW="380880" imgH="177480" progId="Equation.DSMT4">
                  <p:embed/>
                  <p:pic>
                    <p:nvPicPr>
                      <p:cNvPr id="8" name="Object 7">
                        <a:extLst>
                          <a:ext uri="{FF2B5EF4-FFF2-40B4-BE49-F238E27FC236}">
                            <a16:creationId xmlns:a16="http://schemas.microsoft.com/office/drawing/2014/main" id="{1F6D73E9-BED3-BA10-54B0-31E32380D985}"/>
                          </a:ext>
                        </a:extLst>
                      </p:cNvPr>
                      <p:cNvPicPr>
                        <a:picLocks noChangeAspect="1" noChangeArrowheads="1"/>
                      </p:cNvPicPr>
                      <p:nvPr/>
                    </p:nvPicPr>
                    <p:blipFill>
                      <a:blip r:embed="rId6"/>
                      <a:srcRect/>
                      <a:stretch>
                        <a:fillRect/>
                      </a:stretch>
                    </p:blipFill>
                    <p:spPr bwMode="auto">
                      <a:xfrm>
                        <a:off x="5055596" y="1666309"/>
                        <a:ext cx="376237"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B2973F8C-EC19-381A-49FC-51D7297435E5}"/>
              </a:ext>
            </a:extLst>
          </p:cNvPr>
          <p:cNvGraphicFramePr>
            <a:graphicFrameLocks noChangeAspect="1"/>
          </p:cNvGraphicFramePr>
          <p:nvPr>
            <p:extLst>
              <p:ext uri="{D42A27DB-BD31-4B8C-83A1-F6EECF244321}">
                <p14:modId xmlns:p14="http://schemas.microsoft.com/office/powerpoint/2010/main" val="1082185362"/>
              </p:ext>
            </p:extLst>
          </p:nvPr>
        </p:nvGraphicFramePr>
        <p:xfrm>
          <a:off x="3785393" y="1948794"/>
          <a:ext cx="87312" cy="161925"/>
        </p:xfrm>
        <a:graphic>
          <a:graphicData uri="http://schemas.openxmlformats.org/presentationml/2006/ole">
            <mc:AlternateContent xmlns:mc="http://schemas.openxmlformats.org/markup-compatibility/2006">
              <mc:Choice xmlns:v="urn:schemas-microsoft-com:vml" Requires="v">
                <p:oleObj name="Equation" r:id="rId7" imgW="88560" imgH="164880" progId="Equation.DSMT4">
                  <p:embed/>
                </p:oleObj>
              </mc:Choice>
              <mc:Fallback>
                <p:oleObj name="Equation" r:id="rId7" imgW="88560" imgH="164880" progId="Equation.DSMT4">
                  <p:embed/>
                  <p:pic>
                    <p:nvPicPr>
                      <p:cNvPr id="9" name="Object 8">
                        <a:extLst>
                          <a:ext uri="{FF2B5EF4-FFF2-40B4-BE49-F238E27FC236}">
                            <a16:creationId xmlns:a16="http://schemas.microsoft.com/office/drawing/2014/main" id="{B2973F8C-EC19-381A-49FC-51D7297435E5}"/>
                          </a:ext>
                        </a:extLst>
                      </p:cNvPr>
                      <p:cNvPicPr>
                        <a:picLocks noChangeAspect="1" noChangeArrowheads="1"/>
                      </p:cNvPicPr>
                      <p:nvPr/>
                    </p:nvPicPr>
                    <p:blipFill>
                      <a:blip r:embed="rId8"/>
                      <a:srcRect/>
                      <a:stretch>
                        <a:fillRect/>
                      </a:stretch>
                    </p:blipFill>
                    <p:spPr bwMode="auto">
                      <a:xfrm>
                        <a:off x="3785393" y="1948794"/>
                        <a:ext cx="87312"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extLst>
              <a:ext uri="{FF2B5EF4-FFF2-40B4-BE49-F238E27FC236}">
                <a16:creationId xmlns:a16="http://schemas.microsoft.com/office/drawing/2014/main" id="{33A8D1B2-C6D0-C7F6-1D63-902BBE4ADCAD}"/>
              </a:ext>
            </a:extLst>
          </p:cNvPr>
          <p:cNvGraphicFramePr>
            <a:graphicFrameLocks noChangeAspect="1"/>
          </p:cNvGraphicFramePr>
          <p:nvPr>
            <p:extLst>
              <p:ext uri="{D42A27DB-BD31-4B8C-83A1-F6EECF244321}">
                <p14:modId xmlns:p14="http://schemas.microsoft.com/office/powerpoint/2010/main" val="1700647957"/>
              </p:ext>
            </p:extLst>
          </p:nvPr>
        </p:nvGraphicFramePr>
        <p:xfrm>
          <a:off x="5114717" y="1947133"/>
          <a:ext cx="267202" cy="178135"/>
        </p:xfrm>
        <a:graphic>
          <a:graphicData uri="http://schemas.openxmlformats.org/presentationml/2006/ole">
            <mc:AlternateContent xmlns:mc="http://schemas.openxmlformats.org/markup-compatibility/2006">
              <mc:Choice xmlns:v="urn:schemas-microsoft-com:vml" Requires="v">
                <p:oleObj name="Equation" r:id="rId9" imgW="266400" imgH="177480" progId="Equation.DSMT4">
                  <p:embed/>
                </p:oleObj>
              </mc:Choice>
              <mc:Fallback>
                <p:oleObj name="Equation" r:id="rId9" imgW="266400" imgH="177480" progId="Equation.DSMT4">
                  <p:embed/>
                  <p:pic>
                    <p:nvPicPr>
                      <p:cNvPr id="10" name="Object 9">
                        <a:extLst>
                          <a:ext uri="{FF2B5EF4-FFF2-40B4-BE49-F238E27FC236}">
                            <a16:creationId xmlns:a16="http://schemas.microsoft.com/office/drawing/2014/main" id="{33A8D1B2-C6D0-C7F6-1D63-902BBE4ADCAD}"/>
                          </a:ext>
                        </a:extLst>
                      </p:cNvPr>
                      <p:cNvPicPr>
                        <a:picLocks noChangeAspect="1" noChangeArrowheads="1"/>
                      </p:cNvPicPr>
                      <p:nvPr/>
                    </p:nvPicPr>
                    <p:blipFill>
                      <a:blip r:embed="rId10"/>
                      <a:srcRect/>
                      <a:stretch>
                        <a:fillRect/>
                      </a:stretch>
                    </p:blipFill>
                    <p:spPr bwMode="auto">
                      <a:xfrm>
                        <a:off x="5114717" y="1947133"/>
                        <a:ext cx="267202" cy="1781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CA44FCCE-011D-1766-430B-216362BA82DA}"/>
              </a:ext>
            </a:extLst>
          </p:cNvPr>
          <p:cNvGraphicFramePr>
            <a:graphicFrameLocks noChangeAspect="1"/>
          </p:cNvGraphicFramePr>
          <p:nvPr>
            <p:extLst>
              <p:ext uri="{D42A27DB-BD31-4B8C-83A1-F6EECF244321}">
                <p14:modId xmlns:p14="http://schemas.microsoft.com/office/powerpoint/2010/main" val="779322509"/>
              </p:ext>
            </p:extLst>
          </p:nvPr>
        </p:nvGraphicFramePr>
        <p:xfrm>
          <a:off x="3785393" y="2205033"/>
          <a:ext cx="125413" cy="161925"/>
        </p:xfrm>
        <a:graphic>
          <a:graphicData uri="http://schemas.openxmlformats.org/presentationml/2006/ole">
            <mc:AlternateContent xmlns:mc="http://schemas.openxmlformats.org/markup-compatibility/2006">
              <mc:Choice xmlns:v="urn:schemas-microsoft-com:vml" Requires="v">
                <p:oleObj name="Equation" r:id="rId11" imgW="126720" imgH="164880" progId="Equation.DSMT4">
                  <p:embed/>
                </p:oleObj>
              </mc:Choice>
              <mc:Fallback>
                <p:oleObj name="Equation" r:id="rId11" imgW="126720" imgH="164880" progId="Equation.DSMT4">
                  <p:embed/>
                  <p:pic>
                    <p:nvPicPr>
                      <p:cNvPr id="11" name="Object 10">
                        <a:extLst>
                          <a:ext uri="{FF2B5EF4-FFF2-40B4-BE49-F238E27FC236}">
                            <a16:creationId xmlns:a16="http://schemas.microsoft.com/office/drawing/2014/main" id="{CA44FCCE-011D-1766-430B-216362BA82DA}"/>
                          </a:ext>
                        </a:extLst>
                      </p:cNvPr>
                      <p:cNvPicPr>
                        <a:picLocks noChangeAspect="1" noChangeArrowheads="1"/>
                      </p:cNvPicPr>
                      <p:nvPr/>
                    </p:nvPicPr>
                    <p:blipFill>
                      <a:blip r:embed="rId12"/>
                      <a:srcRect/>
                      <a:stretch>
                        <a:fillRect/>
                      </a:stretch>
                    </p:blipFill>
                    <p:spPr bwMode="auto">
                      <a:xfrm>
                        <a:off x="3785393" y="2205033"/>
                        <a:ext cx="125413"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a:extLst>
              <a:ext uri="{FF2B5EF4-FFF2-40B4-BE49-F238E27FC236}">
                <a16:creationId xmlns:a16="http://schemas.microsoft.com/office/drawing/2014/main" id="{D7A067D7-688C-7318-B9E4-AB984D682500}"/>
              </a:ext>
            </a:extLst>
          </p:cNvPr>
          <p:cNvGraphicFramePr>
            <a:graphicFrameLocks noChangeAspect="1"/>
          </p:cNvGraphicFramePr>
          <p:nvPr>
            <p:extLst>
              <p:ext uri="{D42A27DB-BD31-4B8C-83A1-F6EECF244321}">
                <p14:modId xmlns:p14="http://schemas.microsoft.com/office/powerpoint/2010/main" val="348592617"/>
              </p:ext>
            </p:extLst>
          </p:nvPr>
        </p:nvGraphicFramePr>
        <p:xfrm>
          <a:off x="5114908" y="2221235"/>
          <a:ext cx="274638" cy="174625"/>
        </p:xfrm>
        <a:graphic>
          <a:graphicData uri="http://schemas.openxmlformats.org/presentationml/2006/ole">
            <mc:AlternateContent xmlns:mc="http://schemas.openxmlformats.org/markup-compatibility/2006">
              <mc:Choice xmlns:v="urn:schemas-microsoft-com:vml" Requires="v">
                <p:oleObj name="Equation" r:id="rId13" imgW="279360" imgH="177480" progId="Equation.DSMT4">
                  <p:embed/>
                </p:oleObj>
              </mc:Choice>
              <mc:Fallback>
                <p:oleObj name="Equation" r:id="rId13" imgW="279360" imgH="177480" progId="Equation.DSMT4">
                  <p:embed/>
                  <p:pic>
                    <p:nvPicPr>
                      <p:cNvPr id="12" name="Object 11">
                        <a:extLst>
                          <a:ext uri="{FF2B5EF4-FFF2-40B4-BE49-F238E27FC236}">
                            <a16:creationId xmlns:a16="http://schemas.microsoft.com/office/drawing/2014/main" id="{D7A067D7-688C-7318-B9E4-AB984D682500}"/>
                          </a:ext>
                        </a:extLst>
                      </p:cNvPr>
                      <p:cNvPicPr>
                        <a:picLocks noChangeAspect="1" noChangeArrowheads="1"/>
                      </p:cNvPicPr>
                      <p:nvPr/>
                    </p:nvPicPr>
                    <p:blipFill>
                      <a:blip r:embed="rId14"/>
                      <a:srcRect/>
                      <a:stretch>
                        <a:fillRect/>
                      </a:stretch>
                    </p:blipFill>
                    <p:spPr bwMode="auto">
                      <a:xfrm>
                        <a:off x="5114908" y="2221235"/>
                        <a:ext cx="274638"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AD2F9395-E5E2-C57A-2584-D8B6BCA06C04}"/>
              </a:ext>
            </a:extLst>
          </p:cNvPr>
          <p:cNvGraphicFramePr>
            <a:graphicFrameLocks noChangeAspect="1"/>
          </p:cNvGraphicFramePr>
          <p:nvPr>
            <p:extLst>
              <p:ext uri="{D42A27DB-BD31-4B8C-83A1-F6EECF244321}">
                <p14:modId xmlns:p14="http://schemas.microsoft.com/office/powerpoint/2010/main" val="2698936282"/>
              </p:ext>
            </p:extLst>
          </p:nvPr>
        </p:nvGraphicFramePr>
        <p:xfrm>
          <a:off x="3780933" y="2479422"/>
          <a:ext cx="112713" cy="174625"/>
        </p:xfrm>
        <a:graphic>
          <a:graphicData uri="http://schemas.openxmlformats.org/presentationml/2006/ole">
            <mc:AlternateContent xmlns:mc="http://schemas.openxmlformats.org/markup-compatibility/2006">
              <mc:Choice xmlns:v="urn:schemas-microsoft-com:vml" Requires="v">
                <p:oleObj name="Equation" r:id="rId15" imgW="114120" imgH="177480" progId="Equation.DSMT4">
                  <p:embed/>
                </p:oleObj>
              </mc:Choice>
              <mc:Fallback>
                <p:oleObj name="Equation" r:id="rId15" imgW="114120" imgH="177480" progId="Equation.DSMT4">
                  <p:embed/>
                  <p:pic>
                    <p:nvPicPr>
                      <p:cNvPr id="13" name="Object 12">
                        <a:extLst>
                          <a:ext uri="{FF2B5EF4-FFF2-40B4-BE49-F238E27FC236}">
                            <a16:creationId xmlns:a16="http://schemas.microsoft.com/office/drawing/2014/main" id="{AD2F9395-E5E2-C57A-2584-D8B6BCA06C04}"/>
                          </a:ext>
                        </a:extLst>
                      </p:cNvPr>
                      <p:cNvPicPr>
                        <a:picLocks noChangeAspect="1" noChangeArrowheads="1"/>
                      </p:cNvPicPr>
                      <p:nvPr/>
                    </p:nvPicPr>
                    <p:blipFill>
                      <a:blip r:embed="rId16"/>
                      <a:srcRect/>
                      <a:stretch>
                        <a:fillRect/>
                      </a:stretch>
                    </p:blipFill>
                    <p:spPr bwMode="auto">
                      <a:xfrm>
                        <a:off x="3780933" y="2479422"/>
                        <a:ext cx="1127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a:extLst>
              <a:ext uri="{FF2B5EF4-FFF2-40B4-BE49-F238E27FC236}">
                <a16:creationId xmlns:a16="http://schemas.microsoft.com/office/drawing/2014/main" id="{90946A2C-BC5B-CFF8-E59E-FF069E929F2B}"/>
              </a:ext>
            </a:extLst>
          </p:cNvPr>
          <p:cNvGraphicFramePr>
            <a:graphicFrameLocks noChangeAspect="1"/>
          </p:cNvGraphicFramePr>
          <p:nvPr>
            <p:extLst>
              <p:ext uri="{D42A27DB-BD31-4B8C-83A1-F6EECF244321}">
                <p14:modId xmlns:p14="http://schemas.microsoft.com/office/powerpoint/2010/main" val="398003667"/>
              </p:ext>
            </p:extLst>
          </p:nvPr>
        </p:nvGraphicFramePr>
        <p:xfrm>
          <a:off x="5114377" y="2499810"/>
          <a:ext cx="274638" cy="174625"/>
        </p:xfrm>
        <a:graphic>
          <a:graphicData uri="http://schemas.openxmlformats.org/presentationml/2006/ole">
            <mc:AlternateContent xmlns:mc="http://schemas.openxmlformats.org/markup-compatibility/2006">
              <mc:Choice xmlns:v="urn:schemas-microsoft-com:vml" Requires="v">
                <p:oleObj name="Equation" r:id="rId17" imgW="279360" imgH="177480" progId="Equation.DSMT4">
                  <p:embed/>
                </p:oleObj>
              </mc:Choice>
              <mc:Fallback>
                <p:oleObj name="Equation" r:id="rId17" imgW="279360" imgH="177480" progId="Equation.DSMT4">
                  <p:embed/>
                  <p:pic>
                    <p:nvPicPr>
                      <p:cNvPr id="14" name="Object 13">
                        <a:extLst>
                          <a:ext uri="{FF2B5EF4-FFF2-40B4-BE49-F238E27FC236}">
                            <a16:creationId xmlns:a16="http://schemas.microsoft.com/office/drawing/2014/main" id="{90946A2C-BC5B-CFF8-E59E-FF069E929F2B}"/>
                          </a:ext>
                        </a:extLst>
                      </p:cNvPr>
                      <p:cNvPicPr>
                        <a:picLocks noChangeAspect="1" noChangeArrowheads="1"/>
                      </p:cNvPicPr>
                      <p:nvPr/>
                    </p:nvPicPr>
                    <p:blipFill>
                      <a:blip r:embed="rId18"/>
                      <a:srcRect/>
                      <a:stretch>
                        <a:fillRect/>
                      </a:stretch>
                    </p:blipFill>
                    <p:spPr bwMode="auto">
                      <a:xfrm>
                        <a:off x="5114377" y="2499810"/>
                        <a:ext cx="274638"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a:extLst>
              <a:ext uri="{FF2B5EF4-FFF2-40B4-BE49-F238E27FC236}">
                <a16:creationId xmlns:a16="http://schemas.microsoft.com/office/drawing/2014/main" id="{A73A6E81-6720-D922-D75E-C0E91A7E2F3A}"/>
              </a:ext>
            </a:extLst>
          </p:cNvPr>
          <p:cNvGraphicFramePr>
            <a:graphicFrameLocks noChangeAspect="1"/>
          </p:cNvGraphicFramePr>
          <p:nvPr>
            <p:extLst>
              <p:ext uri="{D42A27DB-BD31-4B8C-83A1-F6EECF244321}">
                <p14:modId xmlns:p14="http://schemas.microsoft.com/office/powerpoint/2010/main" val="2868188972"/>
              </p:ext>
            </p:extLst>
          </p:nvPr>
        </p:nvGraphicFramePr>
        <p:xfrm>
          <a:off x="3780933" y="2770215"/>
          <a:ext cx="125413" cy="161925"/>
        </p:xfrm>
        <a:graphic>
          <a:graphicData uri="http://schemas.openxmlformats.org/presentationml/2006/ole">
            <mc:AlternateContent xmlns:mc="http://schemas.openxmlformats.org/markup-compatibility/2006">
              <mc:Choice xmlns:v="urn:schemas-microsoft-com:vml" Requires="v">
                <p:oleObj name="Equation" r:id="rId19" imgW="126720" imgH="164880" progId="Equation.DSMT4">
                  <p:embed/>
                </p:oleObj>
              </mc:Choice>
              <mc:Fallback>
                <p:oleObj name="Equation" r:id="rId19" imgW="126720" imgH="164880" progId="Equation.DSMT4">
                  <p:embed/>
                  <p:pic>
                    <p:nvPicPr>
                      <p:cNvPr id="15" name="Object 14">
                        <a:extLst>
                          <a:ext uri="{FF2B5EF4-FFF2-40B4-BE49-F238E27FC236}">
                            <a16:creationId xmlns:a16="http://schemas.microsoft.com/office/drawing/2014/main" id="{A73A6E81-6720-D922-D75E-C0E91A7E2F3A}"/>
                          </a:ext>
                        </a:extLst>
                      </p:cNvPr>
                      <p:cNvPicPr>
                        <a:picLocks noChangeAspect="1" noChangeArrowheads="1"/>
                      </p:cNvPicPr>
                      <p:nvPr/>
                    </p:nvPicPr>
                    <p:blipFill>
                      <a:blip r:embed="rId20"/>
                      <a:srcRect/>
                      <a:stretch>
                        <a:fillRect/>
                      </a:stretch>
                    </p:blipFill>
                    <p:spPr bwMode="auto">
                      <a:xfrm>
                        <a:off x="3780933" y="2770215"/>
                        <a:ext cx="125413"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5">
            <a:extLst>
              <a:ext uri="{FF2B5EF4-FFF2-40B4-BE49-F238E27FC236}">
                <a16:creationId xmlns:a16="http://schemas.microsoft.com/office/drawing/2014/main" id="{9D77368B-B46C-497E-3C49-663C221D01CA}"/>
              </a:ext>
            </a:extLst>
          </p:cNvPr>
          <p:cNvGraphicFramePr>
            <a:graphicFrameLocks noChangeAspect="1"/>
          </p:cNvGraphicFramePr>
          <p:nvPr>
            <p:extLst>
              <p:ext uri="{D42A27DB-BD31-4B8C-83A1-F6EECF244321}">
                <p14:modId xmlns:p14="http://schemas.microsoft.com/office/powerpoint/2010/main" val="3296135360"/>
              </p:ext>
            </p:extLst>
          </p:nvPr>
        </p:nvGraphicFramePr>
        <p:xfrm>
          <a:off x="5103577" y="2781329"/>
          <a:ext cx="276225" cy="174625"/>
        </p:xfrm>
        <a:graphic>
          <a:graphicData uri="http://schemas.openxmlformats.org/presentationml/2006/ole">
            <mc:AlternateContent xmlns:mc="http://schemas.openxmlformats.org/markup-compatibility/2006">
              <mc:Choice xmlns:v="urn:schemas-microsoft-com:vml" Requires="v">
                <p:oleObj name="Equation" r:id="rId21" imgW="279360" imgH="177480" progId="Equation.DSMT4">
                  <p:embed/>
                </p:oleObj>
              </mc:Choice>
              <mc:Fallback>
                <p:oleObj name="Equation" r:id="rId21" imgW="279360" imgH="177480" progId="Equation.DSMT4">
                  <p:embed/>
                  <p:pic>
                    <p:nvPicPr>
                      <p:cNvPr id="16" name="Object 15">
                        <a:extLst>
                          <a:ext uri="{FF2B5EF4-FFF2-40B4-BE49-F238E27FC236}">
                            <a16:creationId xmlns:a16="http://schemas.microsoft.com/office/drawing/2014/main" id="{9D77368B-B46C-497E-3C49-663C221D01CA}"/>
                          </a:ext>
                        </a:extLst>
                      </p:cNvPr>
                      <p:cNvPicPr>
                        <a:picLocks noChangeAspect="1" noChangeArrowheads="1"/>
                      </p:cNvPicPr>
                      <p:nvPr/>
                    </p:nvPicPr>
                    <p:blipFill>
                      <a:blip r:embed="rId22"/>
                      <a:srcRect/>
                      <a:stretch>
                        <a:fillRect/>
                      </a:stretch>
                    </p:blipFill>
                    <p:spPr bwMode="auto">
                      <a:xfrm>
                        <a:off x="5103577" y="2781329"/>
                        <a:ext cx="276225"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6">
            <a:extLst>
              <a:ext uri="{FF2B5EF4-FFF2-40B4-BE49-F238E27FC236}">
                <a16:creationId xmlns:a16="http://schemas.microsoft.com/office/drawing/2014/main" id="{EAFF60CE-F607-5E64-B50C-D00E832C7F42}"/>
              </a:ext>
            </a:extLst>
          </p:cNvPr>
          <p:cNvGraphicFramePr>
            <a:graphicFrameLocks noChangeAspect="1"/>
          </p:cNvGraphicFramePr>
          <p:nvPr>
            <p:extLst>
              <p:ext uri="{D42A27DB-BD31-4B8C-83A1-F6EECF244321}">
                <p14:modId xmlns:p14="http://schemas.microsoft.com/office/powerpoint/2010/main" val="590725980"/>
              </p:ext>
            </p:extLst>
          </p:nvPr>
        </p:nvGraphicFramePr>
        <p:xfrm>
          <a:off x="3787282" y="3057304"/>
          <a:ext cx="112713" cy="174625"/>
        </p:xfrm>
        <a:graphic>
          <a:graphicData uri="http://schemas.openxmlformats.org/presentationml/2006/ole">
            <mc:AlternateContent xmlns:mc="http://schemas.openxmlformats.org/markup-compatibility/2006">
              <mc:Choice xmlns:v="urn:schemas-microsoft-com:vml" Requires="v">
                <p:oleObj name="Equation" r:id="rId23" imgW="114120" imgH="177480" progId="Equation.DSMT4">
                  <p:embed/>
                </p:oleObj>
              </mc:Choice>
              <mc:Fallback>
                <p:oleObj name="Equation" r:id="rId23" imgW="114120" imgH="177480" progId="Equation.DSMT4">
                  <p:embed/>
                  <p:pic>
                    <p:nvPicPr>
                      <p:cNvPr id="17" name="Object 16">
                        <a:extLst>
                          <a:ext uri="{FF2B5EF4-FFF2-40B4-BE49-F238E27FC236}">
                            <a16:creationId xmlns:a16="http://schemas.microsoft.com/office/drawing/2014/main" id="{EAFF60CE-F607-5E64-B50C-D00E832C7F42}"/>
                          </a:ext>
                        </a:extLst>
                      </p:cNvPr>
                      <p:cNvPicPr>
                        <a:picLocks noChangeAspect="1" noChangeArrowheads="1"/>
                      </p:cNvPicPr>
                      <p:nvPr/>
                    </p:nvPicPr>
                    <p:blipFill>
                      <a:blip r:embed="rId24"/>
                      <a:srcRect/>
                      <a:stretch>
                        <a:fillRect/>
                      </a:stretch>
                    </p:blipFill>
                    <p:spPr bwMode="auto">
                      <a:xfrm>
                        <a:off x="3787282" y="3057304"/>
                        <a:ext cx="1127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a:extLst>
              <a:ext uri="{FF2B5EF4-FFF2-40B4-BE49-F238E27FC236}">
                <a16:creationId xmlns:a16="http://schemas.microsoft.com/office/drawing/2014/main" id="{8518A9BC-59F2-82C0-FE6F-1FC33C64350B}"/>
              </a:ext>
            </a:extLst>
          </p:cNvPr>
          <p:cNvGraphicFramePr>
            <a:graphicFrameLocks noChangeAspect="1"/>
          </p:cNvGraphicFramePr>
          <p:nvPr>
            <p:extLst>
              <p:ext uri="{D42A27DB-BD31-4B8C-83A1-F6EECF244321}">
                <p14:modId xmlns:p14="http://schemas.microsoft.com/office/powerpoint/2010/main" val="220770665"/>
              </p:ext>
            </p:extLst>
          </p:nvPr>
        </p:nvGraphicFramePr>
        <p:xfrm>
          <a:off x="5114908" y="3059479"/>
          <a:ext cx="276225" cy="174625"/>
        </p:xfrm>
        <a:graphic>
          <a:graphicData uri="http://schemas.openxmlformats.org/presentationml/2006/ole">
            <mc:AlternateContent xmlns:mc="http://schemas.openxmlformats.org/markup-compatibility/2006">
              <mc:Choice xmlns:v="urn:schemas-microsoft-com:vml" Requires="v">
                <p:oleObj name="Equation" r:id="rId25" imgW="279360" imgH="177480" progId="Equation.DSMT4">
                  <p:embed/>
                </p:oleObj>
              </mc:Choice>
              <mc:Fallback>
                <p:oleObj name="Equation" r:id="rId25" imgW="279360" imgH="177480" progId="Equation.DSMT4">
                  <p:embed/>
                  <p:pic>
                    <p:nvPicPr>
                      <p:cNvPr id="18" name="Object 17">
                        <a:extLst>
                          <a:ext uri="{FF2B5EF4-FFF2-40B4-BE49-F238E27FC236}">
                            <a16:creationId xmlns:a16="http://schemas.microsoft.com/office/drawing/2014/main" id="{8518A9BC-59F2-82C0-FE6F-1FC33C64350B}"/>
                          </a:ext>
                        </a:extLst>
                      </p:cNvPr>
                      <p:cNvPicPr>
                        <a:picLocks noChangeAspect="1" noChangeArrowheads="1"/>
                      </p:cNvPicPr>
                      <p:nvPr/>
                    </p:nvPicPr>
                    <p:blipFill>
                      <a:blip r:embed="rId14"/>
                      <a:srcRect/>
                      <a:stretch>
                        <a:fillRect/>
                      </a:stretch>
                    </p:blipFill>
                    <p:spPr bwMode="auto">
                      <a:xfrm>
                        <a:off x="5114908" y="3059479"/>
                        <a:ext cx="276225"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a:extLst>
              <a:ext uri="{FF2B5EF4-FFF2-40B4-BE49-F238E27FC236}">
                <a16:creationId xmlns:a16="http://schemas.microsoft.com/office/drawing/2014/main" id="{6A773526-52AF-B951-511C-47A81C8D3EEB}"/>
              </a:ext>
            </a:extLst>
          </p:cNvPr>
          <p:cNvGraphicFramePr>
            <a:graphicFrameLocks noChangeAspect="1"/>
          </p:cNvGraphicFramePr>
          <p:nvPr>
            <p:extLst>
              <p:ext uri="{D42A27DB-BD31-4B8C-83A1-F6EECF244321}">
                <p14:modId xmlns:p14="http://schemas.microsoft.com/office/powerpoint/2010/main" val="3298419070"/>
              </p:ext>
            </p:extLst>
          </p:nvPr>
        </p:nvGraphicFramePr>
        <p:xfrm>
          <a:off x="3816347" y="3328609"/>
          <a:ext cx="74613" cy="174625"/>
        </p:xfrm>
        <a:graphic>
          <a:graphicData uri="http://schemas.openxmlformats.org/presentationml/2006/ole">
            <mc:AlternateContent xmlns:mc="http://schemas.openxmlformats.org/markup-compatibility/2006">
              <mc:Choice xmlns:v="urn:schemas-microsoft-com:vml" Requires="v">
                <p:oleObj name="Equation" r:id="rId26" imgW="75960" imgH="177480" progId="Equation.DSMT4">
                  <p:embed/>
                </p:oleObj>
              </mc:Choice>
              <mc:Fallback>
                <p:oleObj name="Equation" r:id="rId26" imgW="75960" imgH="177480" progId="Equation.DSMT4">
                  <p:embed/>
                  <p:pic>
                    <p:nvPicPr>
                      <p:cNvPr id="19" name="Object 18">
                        <a:extLst>
                          <a:ext uri="{FF2B5EF4-FFF2-40B4-BE49-F238E27FC236}">
                            <a16:creationId xmlns:a16="http://schemas.microsoft.com/office/drawing/2014/main" id="{6A773526-52AF-B951-511C-47A81C8D3EEB}"/>
                          </a:ext>
                        </a:extLst>
                      </p:cNvPr>
                      <p:cNvPicPr>
                        <a:picLocks noChangeAspect="1" noChangeArrowheads="1"/>
                      </p:cNvPicPr>
                      <p:nvPr/>
                    </p:nvPicPr>
                    <p:blipFill>
                      <a:blip r:embed="rId27"/>
                      <a:srcRect/>
                      <a:stretch>
                        <a:fillRect/>
                      </a:stretch>
                    </p:blipFill>
                    <p:spPr bwMode="auto">
                      <a:xfrm>
                        <a:off x="3816347" y="3328609"/>
                        <a:ext cx="746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9">
            <a:extLst>
              <a:ext uri="{FF2B5EF4-FFF2-40B4-BE49-F238E27FC236}">
                <a16:creationId xmlns:a16="http://schemas.microsoft.com/office/drawing/2014/main" id="{15608433-FC2D-1A56-9020-D228D0AEF48B}"/>
              </a:ext>
            </a:extLst>
          </p:cNvPr>
          <p:cNvGraphicFramePr>
            <a:graphicFrameLocks noChangeAspect="1"/>
          </p:cNvGraphicFramePr>
          <p:nvPr>
            <p:extLst>
              <p:ext uri="{D42A27DB-BD31-4B8C-83A1-F6EECF244321}">
                <p14:modId xmlns:p14="http://schemas.microsoft.com/office/powerpoint/2010/main" val="4205497068"/>
              </p:ext>
            </p:extLst>
          </p:nvPr>
        </p:nvGraphicFramePr>
        <p:xfrm>
          <a:off x="5244551" y="3306385"/>
          <a:ext cx="74613" cy="174625"/>
        </p:xfrm>
        <a:graphic>
          <a:graphicData uri="http://schemas.openxmlformats.org/presentationml/2006/ole">
            <mc:AlternateContent xmlns:mc="http://schemas.openxmlformats.org/markup-compatibility/2006">
              <mc:Choice xmlns:v="urn:schemas-microsoft-com:vml" Requires="v">
                <p:oleObj name="Equation" r:id="rId26" imgW="75960" imgH="177480" progId="Equation.DSMT4">
                  <p:embed/>
                </p:oleObj>
              </mc:Choice>
              <mc:Fallback>
                <p:oleObj name="Equation" r:id="rId26" imgW="75960" imgH="177480" progId="Equation.DSMT4">
                  <p:embed/>
                  <p:pic>
                    <p:nvPicPr>
                      <p:cNvPr id="20" name="Object 19">
                        <a:extLst>
                          <a:ext uri="{FF2B5EF4-FFF2-40B4-BE49-F238E27FC236}">
                            <a16:creationId xmlns:a16="http://schemas.microsoft.com/office/drawing/2014/main" id="{15608433-FC2D-1A56-9020-D228D0AEF48B}"/>
                          </a:ext>
                        </a:extLst>
                      </p:cNvPr>
                      <p:cNvPicPr>
                        <a:picLocks noChangeAspect="1" noChangeArrowheads="1"/>
                      </p:cNvPicPr>
                      <p:nvPr/>
                    </p:nvPicPr>
                    <p:blipFill>
                      <a:blip r:embed="rId27"/>
                      <a:srcRect/>
                      <a:stretch>
                        <a:fillRect/>
                      </a:stretch>
                    </p:blipFill>
                    <p:spPr bwMode="auto">
                      <a:xfrm>
                        <a:off x="5244551" y="3306385"/>
                        <a:ext cx="746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a:extLst>
              <a:ext uri="{FF2B5EF4-FFF2-40B4-BE49-F238E27FC236}">
                <a16:creationId xmlns:a16="http://schemas.microsoft.com/office/drawing/2014/main" id="{32B42562-639A-9771-23D9-917D4EE81598}"/>
              </a:ext>
            </a:extLst>
          </p:cNvPr>
          <p:cNvGraphicFramePr>
            <a:graphicFrameLocks noChangeAspect="1"/>
          </p:cNvGraphicFramePr>
          <p:nvPr>
            <p:extLst>
              <p:ext uri="{D42A27DB-BD31-4B8C-83A1-F6EECF244321}">
                <p14:modId xmlns:p14="http://schemas.microsoft.com/office/powerpoint/2010/main" val="2826795791"/>
              </p:ext>
            </p:extLst>
          </p:nvPr>
        </p:nvGraphicFramePr>
        <p:xfrm>
          <a:off x="3765546" y="3623430"/>
          <a:ext cx="176213" cy="174625"/>
        </p:xfrm>
        <a:graphic>
          <a:graphicData uri="http://schemas.openxmlformats.org/presentationml/2006/ole">
            <mc:AlternateContent xmlns:mc="http://schemas.openxmlformats.org/markup-compatibility/2006">
              <mc:Choice xmlns:v="urn:schemas-microsoft-com:vml" Requires="v">
                <p:oleObj name="Equation" r:id="rId28" imgW="177480" imgH="177480" progId="Equation.DSMT4">
                  <p:embed/>
                </p:oleObj>
              </mc:Choice>
              <mc:Fallback>
                <p:oleObj name="Equation" r:id="rId28" imgW="177480" imgH="177480" progId="Equation.DSMT4">
                  <p:embed/>
                  <p:pic>
                    <p:nvPicPr>
                      <p:cNvPr id="21" name="Object 20">
                        <a:extLst>
                          <a:ext uri="{FF2B5EF4-FFF2-40B4-BE49-F238E27FC236}">
                            <a16:creationId xmlns:a16="http://schemas.microsoft.com/office/drawing/2014/main" id="{32B42562-639A-9771-23D9-917D4EE81598}"/>
                          </a:ext>
                        </a:extLst>
                      </p:cNvPr>
                      <p:cNvPicPr>
                        <a:picLocks noChangeAspect="1" noChangeArrowheads="1"/>
                      </p:cNvPicPr>
                      <p:nvPr/>
                    </p:nvPicPr>
                    <p:blipFill>
                      <a:blip r:embed="rId29"/>
                      <a:srcRect/>
                      <a:stretch>
                        <a:fillRect/>
                      </a:stretch>
                    </p:blipFill>
                    <p:spPr bwMode="auto">
                      <a:xfrm>
                        <a:off x="3765546" y="3623430"/>
                        <a:ext cx="1762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1">
            <a:extLst>
              <a:ext uri="{FF2B5EF4-FFF2-40B4-BE49-F238E27FC236}">
                <a16:creationId xmlns:a16="http://schemas.microsoft.com/office/drawing/2014/main" id="{B9E00C1F-D3AD-D5A4-629F-E58E4B12A4D5}"/>
              </a:ext>
            </a:extLst>
          </p:cNvPr>
          <p:cNvGraphicFramePr>
            <a:graphicFrameLocks noChangeAspect="1"/>
          </p:cNvGraphicFramePr>
          <p:nvPr>
            <p:extLst>
              <p:ext uri="{D42A27DB-BD31-4B8C-83A1-F6EECF244321}">
                <p14:modId xmlns:p14="http://schemas.microsoft.com/office/powerpoint/2010/main" val="2847083268"/>
              </p:ext>
            </p:extLst>
          </p:nvPr>
        </p:nvGraphicFramePr>
        <p:xfrm>
          <a:off x="5113102" y="3598930"/>
          <a:ext cx="265113" cy="174625"/>
        </p:xfrm>
        <a:graphic>
          <a:graphicData uri="http://schemas.openxmlformats.org/presentationml/2006/ole">
            <mc:AlternateContent xmlns:mc="http://schemas.openxmlformats.org/markup-compatibility/2006">
              <mc:Choice xmlns:v="urn:schemas-microsoft-com:vml" Requires="v">
                <p:oleObj name="Equation" r:id="rId30" imgW="266400" imgH="177480" progId="Equation.DSMT4">
                  <p:embed/>
                </p:oleObj>
              </mc:Choice>
              <mc:Fallback>
                <p:oleObj name="Equation" r:id="rId30" imgW="266400" imgH="177480" progId="Equation.DSMT4">
                  <p:embed/>
                  <p:pic>
                    <p:nvPicPr>
                      <p:cNvPr id="22" name="Object 21">
                        <a:extLst>
                          <a:ext uri="{FF2B5EF4-FFF2-40B4-BE49-F238E27FC236}">
                            <a16:creationId xmlns:a16="http://schemas.microsoft.com/office/drawing/2014/main" id="{B9E00C1F-D3AD-D5A4-629F-E58E4B12A4D5}"/>
                          </a:ext>
                        </a:extLst>
                      </p:cNvPr>
                      <p:cNvPicPr>
                        <a:picLocks noChangeAspect="1" noChangeArrowheads="1"/>
                      </p:cNvPicPr>
                      <p:nvPr/>
                    </p:nvPicPr>
                    <p:blipFill>
                      <a:blip r:embed="rId31"/>
                      <a:srcRect/>
                      <a:stretch>
                        <a:fillRect/>
                      </a:stretch>
                    </p:blipFill>
                    <p:spPr bwMode="auto">
                      <a:xfrm>
                        <a:off x="5113102" y="3598930"/>
                        <a:ext cx="2651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a:extLst>
              <a:ext uri="{FF2B5EF4-FFF2-40B4-BE49-F238E27FC236}">
                <a16:creationId xmlns:a16="http://schemas.microsoft.com/office/drawing/2014/main" id="{407ABF2A-D5B4-8493-46B7-6FED0B42E71A}"/>
              </a:ext>
            </a:extLst>
          </p:cNvPr>
          <p:cNvGraphicFramePr>
            <a:graphicFrameLocks noChangeAspect="1"/>
          </p:cNvGraphicFramePr>
          <p:nvPr>
            <p:extLst>
              <p:ext uri="{D42A27DB-BD31-4B8C-83A1-F6EECF244321}">
                <p14:modId xmlns:p14="http://schemas.microsoft.com/office/powerpoint/2010/main" val="1537838091"/>
              </p:ext>
            </p:extLst>
          </p:nvPr>
        </p:nvGraphicFramePr>
        <p:xfrm>
          <a:off x="3759598" y="3874138"/>
          <a:ext cx="201613" cy="174625"/>
        </p:xfrm>
        <a:graphic>
          <a:graphicData uri="http://schemas.openxmlformats.org/presentationml/2006/ole">
            <mc:AlternateContent xmlns:mc="http://schemas.openxmlformats.org/markup-compatibility/2006">
              <mc:Choice xmlns:v="urn:schemas-microsoft-com:vml" Requires="v">
                <p:oleObj name="Equation" r:id="rId32" imgW="203040" imgH="177480" progId="Equation.DSMT4">
                  <p:embed/>
                </p:oleObj>
              </mc:Choice>
              <mc:Fallback>
                <p:oleObj name="Equation" r:id="rId32" imgW="203040" imgH="177480" progId="Equation.DSMT4">
                  <p:embed/>
                  <p:pic>
                    <p:nvPicPr>
                      <p:cNvPr id="23" name="Object 22">
                        <a:extLst>
                          <a:ext uri="{FF2B5EF4-FFF2-40B4-BE49-F238E27FC236}">
                            <a16:creationId xmlns:a16="http://schemas.microsoft.com/office/drawing/2014/main" id="{407ABF2A-D5B4-8493-46B7-6FED0B42E71A}"/>
                          </a:ext>
                        </a:extLst>
                      </p:cNvPr>
                      <p:cNvPicPr>
                        <a:picLocks noChangeAspect="1" noChangeArrowheads="1"/>
                      </p:cNvPicPr>
                      <p:nvPr/>
                    </p:nvPicPr>
                    <p:blipFill>
                      <a:blip r:embed="rId33"/>
                      <a:srcRect/>
                      <a:stretch>
                        <a:fillRect/>
                      </a:stretch>
                    </p:blipFill>
                    <p:spPr bwMode="auto">
                      <a:xfrm>
                        <a:off x="3759598" y="3874138"/>
                        <a:ext cx="2016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a:extLst>
              <a:ext uri="{FF2B5EF4-FFF2-40B4-BE49-F238E27FC236}">
                <a16:creationId xmlns:a16="http://schemas.microsoft.com/office/drawing/2014/main" id="{704CBCD0-FD6E-7967-ED1B-0A2096F058DB}"/>
              </a:ext>
            </a:extLst>
          </p:cNvPr>
          <p:cNvGraphicFramePr>
            <a:graphicFrameLocks noChangeAspect="1"/>
          </p:cNvGraphicFramePr>
          <p:nvPr>
            <p:extLst>
              <p:ext uri="{D42A27DB-BD31-4B8C-83A1-F6EECF244321}">
                <p14:modId xmlns:p14="http://schemas.microsoft.com/office/powerpoint/2010/main" val="3247787113"/>
              </p:ext>
            </p:extLst>
          </p:nvPr>
        </p:nvGraphicFramePr>
        <p:xfrm>
          <a:off x="5102782" y="3884134"/>
          <a:ext cx="277813" cy="174625"/>
        </p:xfrm>
        <a:graphic>
          <a:graphicData uri="http://schemas.openxmlformats.org/presentationml/2006/ole">
            <mc:AlternateContent xmlns:mc="http://schemas.openxmlformats.org/markup-compatibility/2006">
              <mc:Choice xmlns:v="urn:schemas-microsoft-com:vml" Requires="v">
                <p:oleObj name="Equation" r:id="rId34" imgW="279360" imgH="177480" progId="Equation.DSMT4">
                  <p:embed/>
                </p:oleObj>
              </mc:Choice>
              <mc:Fallback>
                <p:oleObj name="Equation" r:id="rId34" imgW="279360" imgH="177480" progId="Equation.DSMT4">
                  <p:embed/>
                  <p:pic>
                    <p:nvPicPr>
                      <p:cNvPr id="24" name="Object 23">
                        <a:extLst>
                          <a:ext uri="{FF2B5EF4-FFF2-40B4-BE49-F238E27FC236}">
                            <a16:creationId xmlns:a16="http://schemas.microsoft.com/office/drawing/2014/main" id="{704CBCD0-FD6E-7967-ED1B-0A2096F058DB}"/>
                          </a:ext>
                        </a:extLst>
                      </p:cNvPr>
                      <p:cNvPicPr>
                        <a:picLocks noChangeAspect="1" noChangeArrowheads="1"/>
                      </p:cNvPicPr>
                      <p:nvPr/>
                    </p:nvPicPr>
                    <p:blipFill>
                      <a:blip r:embed="rId35"/>
                      <a:srcRect/>
                      <a:stretch>
                        <a:fillRect/>
                      </a:stretch>
                    </p:blipFill>
                    <p:spPr bwMode="auto">
                      <a:xfrm>
                        <a:off x="5102782" y="3884134"/>
                        <a:ext cx="277813" cy="17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4">
            <a:extLst>
              <a:ext uri="{FF2B5EF4-FFF2-40B4-BE49-F238E27FC236}">
                <a16:creationId xmlns:a16="http://schemas.microsoft.com/office/drawing/2014/main" id="{F4C45108-D877-F887-5987-A51B2D4743E3}"/>
              </a:ext>
            </a:extLst>
          </p:cNvPr>
          <p:cNvGraphicFramePr>
            <a:graphicFrameLocks noChangeAspect="1"/>
          </p:cNvGraphicFramePr>
          <p:nvPr>
            <p:extLst>
              <p:ext uri="{D42A27DB-BD31-4B8C-83A1-F6EECF244321}">
                <p14:modId xmlns:p14="http://schemas.microsoft.com/office/powerpoint/2010/main" val="177889783"/>
              </p:ext>
            </p:extLst>
          </p:nvPr>
        </p:nvGraphicFramePr>
        <p:xfrm>
          <a:off x="3767297" y="4129419"/>
          <a:ext cx="188913" cy="161925"/>
        </p:xfrm>
        <a:graphic>
          <a:graphicData uri="http://schemas.openxmlformats.org/presentationml/2006/ole">
            <mc:AlternateContent xmlns:mc="http://schemas.openxmlformats.org/markup-compatibility/2006">
              <mc:Choice xmlns:v="urn:schemas-microsoft-com:vml" Requires="v">
                <p:oleObj name="Equation" r:id="rId36" imgW="190440" imgH="164880" progId="Equation.DSMT4">
                  <p:embed/>
                </p:oleObj>
              </mc:Choice>
              <mc:Fallback>
                <p:oleObj name="Equation" r:id="rId36" imgW="190440" imgH="164880" progId="Equation.DSMT4">
                  <p:embed/>
                  <p:pic>
                    <p:nvPicPr>
                      <p:cNvPr id="25" name="Object 24">
                        <a:extLst>
                          <a:ext uri="{FF2B5EF4-FFF2-40B4-BE49-F238E27FC236}">
                            <a16:creationId xmlns:a16="http://schemas.microsoft.com/office/drawing/2014/main" id="{F4C45108-D877-F887-5987-A51B2D4743E3}"/>
                          </a:ext>
                        </a:extLst>
                      </p:cNvPr>
                      <p:cNvPicPr>
                        <a:picLocks noChangeAspect="1" noChangeArrowheads="1"/>
                      </p:cNvPicPr>
                      <p:nvPr/>
                    </p:nvPicPr>
                    <p:blipFill>
                      <a:blip r:embed="rId37"/>
                      <a:srcRect/>
                      <a:stretch>
                        <a:fillRect/>
                      </a:stretch>
                    </p:blipFill>
                    <p:spPr bwMode="auto">
                      <a:xfrm>
                        <a:off x="3767297" y="4129419"/>
                        <a:ext cx="188913"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25">
            <a:extLst>
              <a:ext uri="{FF2B5EF4-FFF2-40B4-BE49-F238E27FC236}">
                <a16:creationId xmlns:a16="http://schemas.microsoft.com/office/drawing/2014/main" id="{2DFEA05E-7BD5-D0BB-9601-9452086BDD4B}"/>
              </a:ext>
            </a:extLst>
          </p:cNvPr>
          <p:cNvGraphicFramePr>
            <a:graphicFrameLocks noChangeAspect="1"/>
          </p:cNvGraphicFramePr>
          <p:nvPr>
            <p:extLst>
              <p:ext uri="{D42A27DB-BD31-4B8C-83A1-F6EECF244321}">
                <p14:modId xmlns:p14="http://schemas.microsoft.com/office/powerpoint/2010/main" val="3406134589"/>
              </p:ext>
            </p:extLst>
          </p:nvPr>
        </p:nvGraphicFramePr>
        <p:xfrm>
          <a:off x="5098992" y="4143778"/>
          <a:ext cx="275877" cy="180063"/>
        </p:xfrm>
        <a:graphic>
          <a:graphicData uri="http://schemas.openxmlformats.org/presentationml/2006/ole">
            <mc:AlternateContent xmlns:mc="http://schemas.openxmlformats.org/markup-compatibility/2006">
              <mc:Choice xmlns:v="urn:schemas-microsoft-com:vml" Requires="v">
                <p:oleObj name="Equation" r:id="rId38" imgW="266400" imgH="177480" progId="Equation.DSMT4">
                  <p:embed/>
                </p:oleObj>
              </mc:Choice>
              <mc:Fallback>
                <p:oleObj name="Equation" r:id="rId38" imgW="266400" imgH="177480" progId="Equation.DSMT4">
                  <p:embed/>
                  <p:pic>
                    <p:nvPicPr>
                      <p:cNvPr id="26" name="Object 25">
                        <a:extLst>
                          <a:ext uri="{FF2B5EF4-FFF2-40B4-BE49-F238E27FC236}">
                            <a16:creationId xmlns:a16="http://schemas.microsoft.com/office/drawing/2014/main" id="{2DFEA05E-7BD5-D0BB-9601-9452086BDD4B}"/>
                          </a:ext>
                        </a:extLst>
                      </p:cNvPr>
                      <p:cNvPicPr>
                        <a:picLocks noChangeAspect="1" noChangeArrowheads="1"/>
                      </p:cNvPicPr>
                      <p:nvPr/>
                    </p:nvPicPr>
                    <p:blipFill>
                      <a:blip r:embed="rId10"/>
                      <a:srcRect/>
                      <a:stretch>
                        <a:fillRect/>
                      </a:stretch>
                    </p:blipFill>
                    <p:spPr bwMode="auto">
                      <a:xfrm>
                        <a:off x="5098992" y="4143778"/>
                        <a:ext cx="275877" cy="18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36582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6B547-EE2A-0E7A-2600-228B52916518}"/>
              </a:ext>
            </a:extLst>
          </p:cNvPr>
          <p:cNvSpPr>
            <a:spLocks noGrp="1"/>
          </p:cNvSpPr>
          <p:nvPr>
            <p:ph type="title"/>
          </p:nvPr>
        </p:nvSpPr>
        <p:spPr/>
        <p:txBody>
          <a:bodyPr/>
          <a:lstStyle/>
          <a:p>
            <a:r>
              <a:rPr lang="en-US" dirty="0"/>
              <a:t>Exponential Smoothing</a:t>
            </a:r>
          </a:p>
        </p:txBody>
      </p:sp>
      <p:sp>
        <p:nvSpPr>
          <p:cNvPr id="3" name="Slide Number Placeholder 2">
            <a:extLst>
              <a:ext uri="{FF2B5EF4-FFF2-40B4-BE49-F238E27FC236}">
                <a16:creationId xmlns:a16="http://schemas.microsoft.com/office/drawing/2014/main" id="{A2067F32-CBFF-036D-91D3-3ABBDCD30507}"/>
              </a:ext>
            </a:extLst>
          </p:cNvPr>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22A8125-9337-CA03-65C2-5E7BDD631F84}"/>
                  </a:ext>
                </a:extLst>
              </p:cNvPr>
              <p:cNvSpPr>
                <a:spLocks noGrp="1"/>
              </p:cNvSpPr>
              <p:nvPr>
                <p:ph sz="quarter" idx="1"/>
              </p:nvPr>
            </p:nvSpPr>
            <p:spPr>
              <a:xfrm>
                <a:off x="1187624" y="1412776"/>
                <a:ext cx="7217064" cy="4968552"/>
              </a:xfrm>
            </p:spPr>
            <p:txBody>
              <a:bodyPr>
                <a:normAutofit/>
              </a:bodyPr>
              <a:lstStyle/>
              <a:p>
                <a:pPr marL="0" indent="0">
                  <a:buNone/>
                </a:pPr>
                <a:r>
                  <a:rPr lang="en-US" sz="3200" b="1" dirty="0"/>
                  <a:t>Example 5.4: </a:t>
                </a:r>
                <a:r>
                  <a:rPr lang="en-US" sz="3200" dirty="0"/>
                  <a:t>Revisit Example 5.2. Use exponential smoothing to forecast the number of students that are served by food trucks on day 41. Assume </a:t>
                </a:r>
                <a14:m>
                  <m:oMath xmlns:m="http://schemas.openxmlformats.org/officeDocument/2006/math">
                    <m:r>
                      <a:rPr lang="en-US" sz="3200" i="1" smtClean="0">
                        <a:latin typeface="Cambria Math" panose="02040503050406030204" pitchFamily="18" charset="0"/>
                        <a:ea typeface="Cambria Math" panose="02040503050406030204" pitchFamily="18" charset="0"/>
                      </a:rPr>
                      <m:t>𝛼</m:t>
                    </m:r>
                  </m:oMath>
                </a14:m>
                <a:r>
                  <a:rPr lang="en-US" sz="3200" dirty="0"/>
                  <a:t>=0.4.</a:t>
                </a:r>
              </a:p>
              <a:p>
                <a:pPr marL="0" indent="0">
                  <a:buNone/>
                </a:pPr>
                <a:endParaRPr lang="en-US" sz="3200" dirty="0"/>
              </a:p>
            </p:txBody>
          </p:sp>
        </mc:Choice>
        <mc:Fallback xmlns="">
          <p:sp>
            <p:nvSpPr>
              <p:cNvPr id="4" name="Content Placeholder 3">
                <a:extLst>
                  <a:ext uri="{FF2B5EF4-FFF2-40B4-BE49-F238E27FC236}">
                    <a16:creationId xmlns:a16="http://schemas.microsoft.com/office/drawing/2014/main" id="{022A8125-9337-CA03-65C2-5E7BDD631F84}"/>
                  </a:ext>
                </a:extLst>
              </p:cNvPr>
              <p:cNvSpPr>
                <a:spLocks noGrp="1" noRot="1" noChangeAspect="1" noMove="1" noResize="1" noEditPoints="1" noAdjustHandles="1" noChangeArrowheads="1" noChangeShapeType="1" noTextEdit="1"/>
              </p:cNvSpPr>
              <p:nvPr>
                <p:ph sz="quarter" idx="1"/>
              </p:nvPr>
            </p:nvSpPr>
            <p:spPr>
              <a:xfrm>
                <a:off x="1187624" y="1412776"/>
                <a:ext cx="7217064" cy="4968552"/>
              </a:xfrm>
              <a:blipFill>
                <a:blip r:embed="rId2"/>
                <a:stretch>
                  <a:fillRect l="-2109" t="-1531" r="-2285"/>
                </a:stretch>
              </a:blipFill>
            </p:spPr>
            <p:txBody>
              <a:bodyPr/>
              <a:lstStyle/>
              <a:p>
                <a:r>
                  <a:rPr lang="en-US">
                    <a:noFill/>
                  </a:rPr>
                  <a:t> </a:t>
                </a:r>
              </a:p>
            </p:txBody>
          </p:sp>
        </mc:Fallback>
      </mc:AlternateContent>
    </p:spTree>
    <p:extLst>
      <p:ext uri="{BB962C8B-B14F-4D97-AF65-F5344CB8AC3E}">
        <p14:creationId xmlns:p14="http://schemas.microsoft.com/office/powerpoint/2010/main" val="701588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5011-20B1-EE0C-B1F4-F02BAA94B5F2}"/>
              </a:ext>
            </a:extLst>
          </p:cNvPr>
          <p:cNvSpPr>
            <a:spLocks noGrp="1"/>
          </p:cNvSpPr>
          <p:nvPr>
            <p:ph type="title"/>
          </p:nvPr>
        </p:nvSpPr>
        <p:spPr/>
        <p:txBody>
          <a:bodyPr/>
          <a:lstStyle/>
          <a:p>
            <a:r>
              <a:rPr lang="en-US" dirty="0"/>
              <a:t>Time-Series Forecasting</a:t>
            </a:r>
          </a:p>
        </p:txBody>
      </p:sp>
      <p:sp>
        <p:nvSpPr>
          <p:cNvPr id="3" name="Slide Number Placeholder 2">
            <a:extLst>
              <a:ext uri="{FF2B5EF4-FFF2-40B4-BE49-F238E27FC236}">
                <a16:creationId xmlns:a16="http://schemas.microsoft.com/office/drawing/2014/main" id="{332069B8-85B3-99F3-77EA-70DC76AE0277}"/>
              </a:ext>
            </a:extLst>
          </p:cNvPr>
          <p:cNvSpPr>
            <a:spLocks noGrp="1"/>
          </p:cNvSpPr>
          <p:nvPr>
            <p:ph type="sldNum" sz="quarter" idx="12"/>
          </p:nvPr>
        </p:nvSpPr>
        <p:spPr/>
        <p:txBody>
          <a:bodyPr/>
          <a:lstStyle/>
          <a:p>
            <a:fld id="{B6F15528-21DE-4FAA-801E-634DDDAF4B2B}" type="slidenum">
              <a:rPr lang="en-US" smtClean="0"/>
              <a:pPr/>
              <a:t>18</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41D37F5-EA72-509E-9F08-2CB5BB927ACC}"/>
                  </a:ext>
                </a:extLst>
              </p:cNvPr>
              <p:cNvSpPr>
                <a:spLocks noGrp="1"/>
              </p:cNvSpPr>
              <p:nvPr>
                <p:ph sz="quarter" idx="1"/>
              </p:nvPr>
            </p:nvSpPr>
            <p:spPr>
              <a:xfrm>
                <a:off x="914400" y="1447800"/>
                <a:ext cx="7772400" cy="5005536"/>
              </a:xfrm>
            </p:spPr>
            <p:txBody>
              <a:bodyPr>
                <a:normAutofit lnSpcReduction="10000"/>
              </a:bodyPr>
              <a:lstStyle/>
              <a:p>
                <a:r>
                  <a:rPr lang="en-US" b="1" dirty="0">
                    <a:solidFill>
                      <a:srgbClr val="FF0000"/>
                    </a:solidFill>
                  </a:rPr>
                  <a:t>Simple smoothing techniques</a:t>
                </a:r>
              </a:p>
              <a:p>
                <a:r>
                  <a:rPr lang="en-US" b="1" dirty="0">
                    <a:solidFill>
                      <a:srgbClr val="FF0000"/>
                    </a:solidFill>
                  </a:rPr>
                  <a:t>Models for trend and seasonality:</a:t>
                </a:r>
              </a:p>
              <a:p>
                <a:pPr marL="777240" lvl="1" indent="-457200">
                  <a:buFont typeface="+mj-lt"/>
                  <a:buAutoNum type="arabicPeriod"/>
                </a:pPr>
                <a:r>
                  <a:rPr lang="en-US" b="1" dirty="0"/>
                  <a:t>Holt Exponential Smoothing: </a:t>
                </a:r>
                <a:r>
                  <a:rPr lang="en-US" dirty="0"/>
                  <a:t>Incorporates long-term upward or downward movements.</a:t>
                </a:r>
              </a:p>
              <a:p>
                <a:pPr marL="320040" lvl="1" indent="0" algn="ctr">
                  <a:buNone/>
                </a:pPr>
                <a:r>
                  <a:rPr lang="en-US" dirty="0"/>
                  <a:t>Forecast(</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CA" i="1">
                                <a:latin typeface="Cambria Math" panose="02040503050406030204" pitchFamily="18" charset="0"/>
                              </a:rPr>
                              <m:t>𝑦</m:t>
                            </m:r>
                          </m:e>
                        </m:acc>
                      </m:e>
                      <m:sub>
                        <m:r>
                          <a:rPr lang="en-CA" i="1">
                            <a:latin typeface="Cambria Math" panose="02040503050406030204" pitchFamily="18" charset="0"/>
                          </a:rPr>
                          <m:t>𝑡</m:t>
                        </m:r>
                      </m:sub>
                    </m:sSub>
                  </m:oMath>
                </a14:m>
                <a:r>
                  <a:rPr lang="en-US" dirty="0"/>
                  <a:t>) = Exponentially smoother forecast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𝑡</m:t>
                        </m:r>
                      </m:sub>
                    </m:sSub>
                  </m:oMath>
                </a14:m>
                <a:r>
                  <a:rPr lang="en-US" dirty="0"/>
                  <a:t>) + Exponentially smoothed trend (</a:t>
                </a:r>
                <a14:m>
                  <m:oMath xmlns:m="http://schemas.openxmlformats.org/officeDocument/2006/math">
                    <m:sSub>
                      <m:sSubPr>
                        <m:ctrlPr>
                          <a:rPr lang="en-US" i="1">
                            <a:latin typeface="Cambria Math" panose="02040503050406030204" pitchFamily="18" charset="0"/>
                          </a:rPr>
                        </m:ctrlPr>
                      </m:sSubPr>
                      <m:e>
                        <m:r>
                          <a:rPr lang="en-CA" b="0" i="1" smtClean="0">
                            <a:latin typeface="Cambria Math" panose="02040503050406030204" pitchFamily="18" charset="0"/>
                          </a:rPr>
                          <m:t>𝑇</m:t>
                        </m:r>
                      </m:e>
                      <m:sub>
                        <m:r>
                          <a:rPr lang="en-CA" i="1">
                            <a:latin typeface="Cambria Math" panose="02040503050406030204" pitchFamily="18" charset="0"/>
                          </a:rPr>
                          <m:t>𝑡</m:t>
                        </m:r>
                      </m:sub>
                    </m:sSub>
                  </m:oMath>
                </a14:m>
                <a:r>
                  <a:rPr lang="en-US" dirty="0"/>
                  <a:t>)</a:t>
                </a:r>
              </a:p>
              <a:p>
                <a:pPr lvl="1"/>
                <a14:m>
                  <m:oMath xmlns:m="http://schemas.openxmlformats.org/officeDocument/2006/math">
                    <m:sSub>
                      <m:sSubPr>
                        <m:ctrlPr>
                          <a:rPr lang="en-US" b="1"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𝑡</m:t>
                        </m:r>
                      </m:sub>
                    </m:sSub>
                    <m:r>
                      <a:rPr lang="en-CA" b="0" i="1" smtClean="0">
                        <a:latin typeface="Cambria Math" panose="02040503050406030204" pitchFamily="18" charset="0"/>
                      </a:rPr>
                      <m:t>=</m:t>
                    </m:r>
                    <m:r>
                      <a:rPr lang="en-CA" i="1">
                        <a:latin typeface="Cambria Math" panose="02040503050406030204" pitchFamily="18" charset="0"/>
                        <a:ea typeface="Cambria Math" panose="02040503050406030204" pitchFamily="18" charset="0"/>
                      </a:rPr>
                      <m:t>𝛼</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𝑦</m:t>
                        </m:r>
                      </m:e>
                      <m:sub>
                        <m:r>
                          <a:rPr lang="en-CA" i="1">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r>
                      <a:rPr lang="en-CA" i="1">
                        <a:latin typeface="Cambria Math" panose="02040503050406030204" pitchFamily="18" charset="0"/>
                        <a:ea typeface="Cambria Math" panose="02040503050406030204" pitchFamily="18" charset="0"/>
                      </a:rPr>
                      <m:t>+</m:t>
                    </m:r>
                    <m:d>
                      <m:dPr>
                        <m:ctrlPr>
                          <a:rPr lang="en-CA"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1−</m:t>
                        </m:r>
                        <m:r>
                          <a:rPr lang="en-CA" i="1">
                            <a:latin typeface="Cambria Math" panose="02040503050406030204" pitchFamily="18" charset="0"/>
                            <a:ea typeface="Cambria Math" panose="02040503050406030204" pitchFamily="18" charset="0"/>
                          </a:rPr>
                          <m:t>𝛼</m:t>
                        </m:r>
                      </m:e>
                    </m:d>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𝐹</m:t>
                        </m:r>
                      </m:e>
                      <m:sub>
                        <m:r>
                          <a:rPr lang="en-CA" b="0" i="1" smtClean="0">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𝑇</m:t>
                        </m:r>
                      </m:e>
                      <m:sub>
                        <m:r>
                          <a:rPr lang="en-CA" b="0" i="1" smtClean="0">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r>
                      <a:rPr lang="en-CA" b="0" i="1" smtClean="0">
                        <a:latin typeface="Cambria Math" panose="02040503050406030204" pitchFamily="18" charset="0"/>
                        <a:ea typeface="Cambria Math" panose="02040503050406030204" pitchFamily="18" charset="0"/>
                      </a:rPr>
                      <m:t>)</m:t>
                    </m:r>
                  </m:oMath>
                </a14:m>
                <a:endParaRPr lang="en-CA" i="1" dirty="0">
                  <a:latin typeface="Cambria Math" panose="02040503050406030204" pitchFamily="18" charset="0"/>
                  <a:ea typeface="Cambria Math" panose="02040503050406030204" pitchFamily="18" charset="0"/>
                </a:endParaRPr>
              </a:p>
              <a:p>
                <a:pPr lvl="1"/>
                <a14:m>
                  <m:oMath xmlns:m="http://schemas.openxmlformats.org/officeDocument/2006/math">
                    <m:sSub>
                      <m:sSubPr>
                        <m:ctrlPr>
                          <a:rPr lang="en-US" b="1"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𝑡</m:t>
                        </m:r>
                      </m:sub>
                    </m:sSub>
                    <m:r>
                      <a:rPr lang="en-CA" b="0" i="1" smtClean="0">
                        <a:latin typeface="Cambria Math" panose="02040503050406030204" pitchFamily="18" charset="0"/>
                      </a:rPr>
                      <m:t>=</m:t>
                    </m:r>
                    <m:r>
                      <a:rPr lang="en-CA" i="1" smtClean="0">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𝐹</m:t>
                        </m:r>
                      </m:e>
                      <m:sub>
                        <m:r>
                          <a:rPr lang="en-CA" i="1">
                            <a:latin typeface="Cambria Math" panose="02040503050406030204" pitchFamily="18" charset="0"/>
                            <a:ea typeface="Cambria Math" panose="02040503050406030204" pitchFamily="18" charset="0"/>
                          </a:rPr>
                          <m:t>𝑡</m:t>
                        </m:r>
                      </m:sub>
                    </m:sSub>
                    <m:r>
                      <a:rPr lang="en-CA" b="0" i="1" smtClean="0">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𝐹</m:t>
                        </m:r>
                      </m:e>
                      <m:sub>
                        <m:r>
                          <a:rPr lang="en-CA" i="1">
                            <a:latin typeface="Cambria Math" panose="02040503050406030204" pitchFamily="18" charset="0"/>
                            <a:ea typeface="Cambria Math" panose="02040503050406030204" pitchFamily="18" charset="0"/>
                          </a:rPr>
                          <m:t>𝑡</m:t>
                        </m:r>
                        <m:r>
                          <a:rPr lang="en-CA" i="1">
                            <a:latin typeface="Cambria Math" panose="02040503050406030204" pitchFamily="18" charset="0"/>
                            <a:ea typeface="Cambria Math" panose="02040503050406030204" pitchFamily="18" charset="0"/>
                          </a:rPr>
                          <m:t>−1</m:t>
                        </m:r>
                      </m:sub>
                    </m:sSub>
                    <m:r>
                      <a:rPr lang="en-CA" i="1">
                        <a:latin typeface="Cambria Math" panose="02040503050406030204" pitchFamily="18" charset="0"/>
                        <a:ea typeface="Cambria Math" panose="02040503050406030204" pitchFamily="18" charset="0"/>
                      </a:rPr>
                      <m:t>)+</m:t>
                    </m:r>
                    <m:d>
                      <m:dPr>
                        <m:ctrlPr>
                          <a:rPr lang="en-CA"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1−</m:t>
                        </m:r>
                        <m:r>
                          <a:rPr lang="en-CA" i="1" smtClean="0">
                            <a:latin typeface="Cambria Math" panose="02040503050406030204" pitchFamily="18" charset="0"/>
                            <a:ea typeface="Cambria Math" panose="02040503050406030204" pitchFamily="18" charset="0"/>
                          </a:rPr>
                          <m:t>𝛽</m:t>
                        </m:r>
                      </m:e>
                    </m:d>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𝑇</m:t>
                        </m:r>
                      </m:e>
                      <m:sub>
                        <m:r>
                          <a:rPr lang="en-CA" b="0" i="1" smtClean="0">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oMath>
                </a14:m>
                <a:endParaRPr lang="en-CA" i="1" dirty="0">
                  <a:latin typeface="Cambria Math" panose="02040503050406030204" pitchFamily="18" charset="0"/>
                  <a:ea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CA" i="1">
                                <a:latin typeface="Cambria Math" panose="02040503050406030204" pitchFamily="18" charset="0"/>
                              </a:rPr>
                              <m:t>𝑦</m:t>
                            </m:r>
                          </m:e>
                        </m:acc>
                      </m:e>
                      <m:sub>
                        <m:r>
                          <a:rPr lang="en-CA" i="1">
                            <a:latin typeface="Cambria Math" panose="02040503050406030204" pitchFamily="18" charset="0"/>
                          </a:rPr>
                          <m:t>𝑡</m:t>
                        </m:r>
                      </m:sub>
                    </m:sSub>
                    <m:r>
                      <a:rPr lang="en-CA" b="0" i="1" smtClean="0">
                        <a:latin typeface="Cambria Math" panose="02040503050406030204" pitchFamily="18" charset="0"/>
                      </a:rPr>
                      <m:t>=</m:t>
                    </m:r>
                  </m:oMath>
                </a14:m>
                <a:r>
                  <a:rPr lang="en-US" b="1" dirty="0"/>
                  <a:t> </a:t>
                </a:r>
                <a14:m>
                  <m:oMath xmlns:m="http://schemas.openxmlformats.org/officeDocument/2006/math">
                    <m:sSub>
                      <m:sSubPr>
                        <m:ctrlPr>
                          <a:rPr lang="en-US" b="1" i="1">
                            <a:latin typeface="Cambria Math" panose="02040503050406030204" pitchFamily="18" charset="0"/>
                          </a:rPr>
                        </m:ctrlPr>
                      </m:sSubPr>
                      <m:e>
                        <m:r>
                          <a:rPr lang="en-CA" i="1">
                            <a:latin typeface="Cambria Math" panose="02040503050406030204" pitchFamily="18" charset="0"/>
                          </a:rPr>
                          <m:t>𝐹</m:t>
                        </m:r>
                      </m:e>
                      <m:sub>
                        <m:r>
                          <a:rPr lang="en-CA" i="1">
                            <a:latin typeface="Cambria Math" panose="02040503050406030204" pitchFamily="18" charset="0"/>
                          </a:rPr>
                          <m:t>𝑡</m:t>
                        </m:r>
                      </m:sub>
                    </m:sSub>
                    <m:r>
                      <a:rPr lang="en-CA" b="1" i="1" smtClean="0">
                        <a:latin typeface="Cambria Math" panose="02040503050406030204" pitchFamily="18" charset="0"/>
                      </a:rPr>
                      <m:t>+</m:t>
                    </m:r>
                  </m:oMath>
                </a14:m>
                <a:r>
                  <a:rPr lang="en-US" b="1" dirty="0"/>
                  <a:t> </a:t>
                </a:r>
                <a14:m>
                  <m:oMath xmlns:m="http://schemas.openxmlformats.org/officeDocument/2006/math">
                    <m:sSub>
                      <m:sSubPr>
                        <m:ctrlPr>
                          <a:rPr lang="en-US" b="1" i="1">
                            <a:latin typeface="Cambria Math" panose="02040503050406030204" pitchFamily="18" charset="0"/>
                          </a:rPr>
                        </m:ctrlPr>
                      </m:sSubPr>
                      <m:e>
                        <m:r>
                          <a:rPr lang="en-CA" i="1">
                            <a:latin typeface="Cambria Math" panose="02040503050406030204" pitchFamily="18" charset="0"/>
                          </a:rPr>
                          <m:t>𝑇</m:t>
                        </m:r>
                      </m:e>
                      <m:sub>
                        <m:r>
                          <a:rPr lang="en-CA" i="1">
                            <a:latin typeface="Cambria Math" panose="02040503050406030204" pitchFamily="18" charset="0"/>
                          </a:rPr>
                          <m:t>𝑡</m:t>
                        </m:r>
                      </m:sub>
                    </m:sSub>
                  </m:oMath>
                </a14:m>
                <a:endParaRPr lang="en-CA" i="1" dirty="0">
                  <a:latin typeface="Cambria Math" panose="02040503050406030204" pitchFamily="18" charset="0"/>
                  <a:ea typeface="Cambria Math" panose="02040503050406030204" pitchFamily="18" charset="0"/>
                </a:endParaRPr>
              </a:p>
              <a:p>
                <a:pPr lvl="1"/>
                <a:r>
                  <a:rPr lang="en-US" dirty="0"/>
                  <a:t>Steps:</a:t>
                </a:r>
              </a:p>
              <a:p>
                <a:pPr marL="1051560" lvl="2" indent="-457200">
                  <a:buFont typeface="+mj-lt"/>
                  <a:buAutoNum type="arabicPeriod"/>
                </a:pPr>
                <a:r>
                  <a:rPr lang="en-US" dirty="0"/>
                  <a:t>Calculate </a:t>
                </a:r>
                <a14:m>
                  <m:oMath xmlns:m="http://schemas.openxmlformats.org/officeDocument/2006/math">
                    <m:sSub>
                      <m:sSubPr>
                        <m:ctrlPr>
                          <a:rPr lang="en-US" b="1"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𝑡</m:t>
                        </m:r>
                      </m:sub>
                    </m:sSub>
                  </m:oMath>
                </a14:m>
                <a:endParaRPr lang="en-US" dirty="0"/>
              </a:p>
              <a:p>
                <a:pPr marL="1051560" lvl="2" indent="-457200">
                  <a:buFont typeface="+mj-lt"/>
                  <a:buAutoNum type="arabicPeriod"/>
                </a:pPr>
                <a:r>
                  <a:rPr lang="en-US" dirty="0"/>
                  <a:t>Calculate </a:t>
                </a:r>
                <a14:m>
                  <m:oMath xmlns:m="http://schemas.openxmlformats.org/officeDocument/2006/math">
                    <m:sSub>
                      <m:sSubPr>
                        <m:ctrlPr>
                          <a:rPr lang="en-US" b="1"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𝑡</m:t>
                        </m:r>
                      </m:sub>
                    </m:sSub>
                  </m:oMath>
                </a14:m>
                <a:endParaRPr lang="en-US" dirty="0"/>
              </a:p>
              <a:p>
                <a:pPr marL="1051560" lvl="2" indent="-457200">
                  <a:buFont typeface="+mj-lt"/>
                  <a:buAutoNum type="arabicPeriod"/>
                </a:pPr>
                <a:r>
                  <a:rPr lang="en-US" dirty="0"/>
                  <a:t>Calculate </a:t>
                </a:r>
                <a14:m>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CA" i="1">
                                <a:latin typeface="Cambria Math" panose="02040503050406030204" pitchFamily="18" charset="0"/>
                              </a:rPr>
                              <m:t>𝑦</m:t>
                            </m:r>
                          </m:e>
                        </m:acc>
                      </m:e>
                      <m:sub>
                        <m:r>
                          <a:rPr lang="en-CA" i="1">
                            <a:latin typeface="Cambria Math" panose="02040503050406030204" pitchFamily="18" charset="0"/>
                          </a:rPr>
                          <m:t>𝑡</m:t>
                        </m:r>
                        <m:r>
                          <a:rPr lang="en-CA" i="1">
                            <a:latin typeface="Cambria Math" panose="02040503050406030204" pitchFamily="18" charset="0"/>
                          </a:rPr>
                          <m:t>+1</m:t>
                        </m:r>
                      </m:sub>
                    </m:sSub>
                  </m:oMath>
                </a14:m>
                <a:endParaRPr lang="en-US" dirty="0"/>
              </a:p>
            </p:txBody>
          </p:sp>
        </mc:Choice>
        <mc:Fallback xmlns="">
          <p:sp>
            <p:nvSpPr>
              <p:cNvPr id="4" name="Content Placeholder 3">
                <a:extLst>
                  <a:ext uri="{FF2B5EF4-FFF2-40B4-BE49-F238E27FC236}">
                    <a16:creationId xmlns:a16="http://schemas.microsoft.com/office/drawing/2014/main" id="{B41D37F5-EA72-509E-9F08-2CB5BB927ACC}"/>
                  </a:ext>
                </a:extLst>
              </p:cNvPr>
              <p:cNvSpPr>
                <a:spLocks noGrp="1" noRot="1" noChangeAspect="1" noMove="1" noResize="1" noEditPoints="1" noAdjustHandles="1" noChangeArrowheads="1" noChangeShapeType="1" noTextEdit="1"/>
              </p:cNvSpPr>
              <p:nvPr>
                <p:ph sz="quarter" idx="1"/>
              </p:nvPr>
            </p:nvSpPr>
            <p:spPr>
              <a:xfrm>
                <a:off x="914400" y="1447800"/>
                <a:ext cx="7772400" cy="5005536"/>
              </a:xfrm>
              <a:blipFill>
                <a:blip r:embed="rId3"/>
                <a:stretch>
                  <a:fillRect l="-817" t="-2025" r="-654"/>
                </a:stretch>
              </a:blipFill>
            </p:spPr>
            <p:txBody>
              <a:bodyPr/>
              <a:lstStyle/>
              <a:p>
                <a:r>
                  <a:rPr lang="en-US">
                    <a:noFill/>
                  </a:rPr>
                  <a:t> </a:t>
                </a:r>
              </a:p>
            </p:txBody>
          </p:sp>
        </mc:Fallback>
      </mc:AlternateContent>
    </p:spTree>
    <p:extLst>
      <p:ext uri="{BB962C8B-B14F-4D97-AF65-F5344CB8AC3E}">
        <p14:creationId xmlns:p14="http://schemas.microsoft.com/office/powerpoint/2010/main" val="4238131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34DF-0066-9ABF-98B4-FC9E6B6B542C}"/>
              </a:ext>
            </a:extLst>
          </p:cNvPr>
          <p:cNvSpPr>
            <a:spLocks noGrp="1"/>
          </p:cNvSpPr>
          <p:nvPr>
            <p:ph type="title"/>
          </p:nvPr>
        </p:nvSpPr>
        <p:spPr/>
        <p:txBody>
          <a:bodyPr/>
          <a:lstStyle/>
          <a:p>
            <a:r>
              <a:rPr lang="en-US" dirty="0"/>
              <a:t>Holt Exponential Smoothing</a:t>
            </a:r>
          </a:p>
        </p:txBody>
      </p:sp>
      <p:sp>
        <p:nvSpPr>
          <p:cNvPr id="3" name="Slide Number Placeholder 2">
            <a:extLst>
              <a:ext uri="{FF2B5EF4-FFF2-40B4-BE49-F238E27FC236}">
                <a16:creationId xmlns:a16="http://schemas.microsoft.com/office/drawing/2014/main" id="{FF68ADFB-B309-8D55-5FB9-C00774D7C7FD}"/>
              </a:ext>
            </a:extLst>
          </p:cNvPr>
          <p:cNvSpPr>
            <a:spLocks noGrp="1"/>
          </p:cNvSpPr>
          <p:nvPr>
            <p:ph type="sldNum" sz="quarter" idx="12"/>
          </p:nvPr>
        </p:nvSpPr>
        <p:spPr/>
        <p:txBody>
          <a:bodyPr/>
          <a:lstStyle/>
          <a:p>
            <a:fld id="{B6F15528-21DE-4FAA-801E-634DDDAF4B2B}" type="slidenum">
              <a:rPr lang="en-US" smtClean="0"/>
              <a:pPr/>
              <a:t>19</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8E3DD77-67EF-E890-5A81-5BD9DEF33C62}"/>
                  </a:ext>
                </a:extLst>
              </p:cNvPr>
              <p:cNvSpPr>
                <a:spLocks noGrp="1"/>
              </p:cNvSpPr>
              <p:nvPr>
                <p:ph sz="quarter" idx="1"/>
              </p:nvPr>
            </p:nvSpPr>
            <p:spPr>
              <a:xfrm>
                <a:off x="374904" y="1143000"/>
                <a:ext cx="7772400" cy="4572000"/>
              </a:xfrm>
            </p:spPr>
            <p:txBody>
              <a:bodyPr/>
              <a:lstStyle/>
              <a:p>
                <a:pPr marL="320040" lvl="1" indent="0">
                  <a:buNone/>
                </a:pPr>
                <a14:m>
                  <m:oMathPara xmlns:m="http://schemas.openxmlformats.org/officeDocument/2006/math">
                    <m:oMathParaPr>
                      <m:jc m:val="left"/>
                    </m:oMathParaPr>
                    <m:oMath xmlns:m="http://schemas.openxmlformats.org/officeDocument/2006/math">
                      <m:sSub>
                        <m:sSubPr>
                          <m:ctrlPr>
                            <a:rPr lang="en-US" b="1"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𝑡</m:t>
                          </m:r>
                        </m:sub>
                      </m:sSub>
                      <m:r>
                        <a:rPr lang="en-CA" b="0" i="1" smtClean="0">
                          <a:latin typeface="Cambria Math" panose="02040503050406030204" pitchFamily="18" charset="0"/>
                        </a:rPr>
                        <m:t>=</m:t>
                      </m:r>
                      <m:r>
                        <a:rPr lang="en-CA" i="1">
                          <a:latin typeface="Cambria Math" panose="02040503050406030204" pitchFamily="18" charset="0"/>
                          <a:ea typeface="Cambria Math" panose="02040503050406030204" pitchFamily="18" charset="0"/>
                        </a:rPr>
                        <m:t>𝛼</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𝑦</m:t>
                          </m:r>
                        </m:e>
                        <m:sub>
                          <m:r>
                            <a:rPr lang="en-CA" i="1">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r>
                        <a:rPr lang="en-CA" i="1">
                          <a:latin typeface="Cambria Math" panose="02040503050406030204" pitchFamily="18" charset="0"/>
                          <a:ea typeface="Cambria Math" panose="02040503050406030204" pitchFamily="18" charset="0"/>
                        </a:rPr>
                        <m:t>+</m:t>
                      </m:r>
                      <m:d>
                        <m:dPr>
                          <m:ctrlPr>
                            <a:rPr lang="en-CA"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1−</m:t>
                          </m:r>
                          <m:r>
                            <a:rPr lang="en-CA" i="1">
                              <a:latin typeface="Cambria Math" panose="02040503050406030204" pitchFamily="18" charset="0"/>
                              <a:ea typeface="Cambria Math" panose="02040503050406030204" pitchFamily="18" charset="0"/>
                            </a:rPr>
                            <m:t>𝛼</m:t>
                          </m:r>
                        </m:e>
                      </m:d>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𝐹</m:t>
                          </m:r>
                        </m:e>
                        <m:sub>
                          <m:r>
                            <a:rPr lang="en-CA" b="0" i="1" smtClean="0">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r>
                        <a:rPr lang="en-CA" b="0" i="1" smtClean="0">
                          <a:latin typeface="Cambria Math" panose="02040503050406030204" pitchFamily="18" charset="0"/>
                          <a:ea typeface="Cambria Math" panose="02040503050406030204" pitchFamily="18" charset="0"/>
                        </a:rPr>
                        <m:t>+</m:t>
                      </m:r>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𝑇</m:t>
                          </m:r>
                        </m:e>
                        <m:sub>
                          <m:r>
                            <a:rPr lang="en-CA" b="0" i="1" smtClean="0">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r>
                        <a:rPr lang="en-CA" b="0" i="1" smtClean="0">
                          <a:latin typeface="Cambria Math" panose="02040503050406030204" pitchFamily="18" charset="0"/>
                          <a:ea typeface="Cambria Math" panose="02040503050406030204" pitchFamily="18" charset="0"/>
                        </a:rPr>
                        <m:t>)</m:t>
                      </m:r>
                    </m:oMath>
                  </m:oMathPara>
                </a14:m>
                <a:endParaRPr lang="en-CA" i="1" dirty="0">
                  <a:latin typeface="Cambria Math" panose="02040503050406030204" pitchFamily="18" charset="0"/>
                  <a:ea typeface="Cambria Math" panose="02040503050406030204" pitchFamily="18" charset="0"/>
                </a:endParaRPr>
              </a:p>
              <a:p>
                <a:pPr marL="320040" lvl="1" indent="0">
                  <a:buNone/>
                </a:pPr>
                <a14:m>
                  <m:oMathPara xmlns:m="http://schemas.openxmlformats.org/officeDocument/2006/math">
                    <m:oMathParaPr>
                      <m:jc m:val="left"/>
                    </m:oMathParaPr>
                    <m:oMath xmlns:m="http://schemas.openxmlformats.org/officeDocument/2006/math">
                      <m:sSub>
                        <m:sSubPr>
                          <m:ctrlPr>
                            <a:rPr lang="en-US" b="1" i="1" smtClean="0">
                              <a:latin typeface="Cambria Math" panose="02040503050406030204" pitchFamily="18" charset="0"/>
                            </a:rPr>
                          </m:ctrlPr>
                        </m:sSubPr>
                        <m:e>
                          <m:r>
                            <a:rPr lang="en-CA" b="0" i="1" smtClean="0">
                              <a:latin typeface="Cambria Math" panose="02040503050406030204" pitchFamily="18" charset="0"/>
                            </a:rPr>
                            <m:t>𝑇</m:t>
                          </m:r>
                        </m:e>
                        <m:sub>
                          <m:r>
                            <a:rPr lang="en-CA" b="0" i="1" smtClean="0">
                              <a:latin typeface="Cambria Math" panose="02040503050406030204" pitchFamily="18" charset="0"/>
                            </a:rPr>
                            <m:t>𝑡</m:t>
                          </m:r>
                        </m:sub>
                      </m:sSub>
                      <m:r>
                        <a:rPr lang="en-CA" b="0" i="1" smtClean="0">
                          <a:latin typeface="Cambria Math" panose="02040503050406030204" pitchFamily="18" charset="0"/>
                        </a:rPr>
                        <m:t>=</m:t>
                      </m:r>
                      <m:r>
                        <a:rPr lang="en-CA" i="1" smtClean="0">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𝐹</m:t>
                          </m:r>
                        </m:e>
                        <m:sub>
                          <m:r>
                            <a:rPr lang="en-CA" i="1">
                              <a:latin typeface="Cambria Math" panose="02040503050406030204" pitchFamily="18" charset="0"/>
                              <a:ea typeface="Cambria Math" panose="02040503050406030204" pitchFamily="18" charset="0"/>
                            </a:rPr>
                            <m:t>𝑡</m:t>
                          </m:r>
                        </m:sub>
                      </m:sSub>
                      <m:r>
                        <a:rPr lang="en-CA" b="0" i="1" smtClean="0">
                          <a:latin typeface="Cambria Math" panose="02040503050406030204" pitchFamily="18" charset="0"/>
                          <a:ea typeface="Cambria Math" panose="02040503050406030204" pitchFamily="18" charset="0"/>
                        </a:rPr>
                        <m:t>−</m:t>
                      </m:r>
                      <m:sSub>
                        <m:sSubPr>
                          <m:ctrlPr>
                            <a:rPr lang="en-CA" i="1">
                              <a:latin typeface="Cambria Math" panose="02040503050406030204" pitchFamily="18" charset="0"/>
                              <a:ea typeface="Cambria Math" panose="02040503050406030204" pitchFamily="18" charset="0"/>
                            </a:rPr>
                          </m:ctrlPr>
                        </m:sSubPr>
                        <m:e>
                          <m:r>
                            <a:rPr lang="en-CA" i="1">
                              <a:latin typeface="Cambria Math" panose="02040503050406030204" pitchFamily="18" charset="0"/>
                              <a:ea typeface="Cambria Math" panose="02040503050406030204" pitchFamily="18" charset="0"/>
                            </a:rPr>
                            <m:t>𝐹</m:t>
                          </m:r>
                        </m:e>
                        <m:sub>
                          <m:r>
                            <a:rPr lang="en-CA" i="1">
                              <a:latin typeface="Cambria Math" panose="02040503050406030204" pitchFamily="18" charset="0"/>
                              <a:ea typeface="Cambria Math" panose="02040503050406030204" pitchFamily="18" charset="0"/>
                            </a:rPr>
                            <m:t>𝑡</m:t>
                          </m:r>
                          <m:r>
                            <a:rPr lang="en-CA" i="1">
                              <a:latin typeface="Cambria Math" panose="02040503050406030204" pitchFamily="18" charset="0"/>
                              <a:ea typeface="Cambria Math" panose="02040503050406030204" pitchFamily="18" charset="0"/>
                            </a:rPr>
                            <m:t>−1</m:t>
                          </m:r>
                        </m:sub>
                      </m:sSub>
                      <m:r>
                        <a:rPr lang="en-CA" i="1">
                          <a:latin typeface="Cambria Math" panose="02040503050406030204" pitchFamily="18" charset="0"/>
                          <a:ea typeface="Cambria Math" panose="02040503050406030204" pitchFamily="18" charset="0"/>
                        </a:rPr>
                        <m:t>)+</m:t>
                      </m:r>
                      <m:d>
                        <m:dPr>
                          <m:ctrlPr>
                            <a:rPr lang="en-CA" i="1">
                              <a:latin typeface="Cambria Math" panose="02040503050406030204" pitchFamily="18" charset="0"/>
                              <a:ea typeface="Cambria Math" panose="02040503050406030204" pitchFamily="18" charset="0"/>
                            </a:rPr>
                          </m:ctrlPr>
                        </m:dPr>
                        <m:e>
                          <m:r>
                            <a:rPr lang="en-CA" i="1">
                              <a:latin typeface="Cambria Math" panose="02040503050406030204" pitchFamily="18" charset="0"/>
                              <a:ea typeface="Cambria Math" panose="02040503050406030204" pitchFamily="18" charset="0"/>
                            </a:rPr>
                            <m:t>1−</m:t>
                          </m:r>
                          <m:r>
                            <a:rPr lang="en-CA" i="1" smtClean="0">
                              <a:latin typeface="Cambria Math" panose="02040503050406030204" pitchFamily="18" charset="0"/>
                              <a:ea typeface="Cambria Math" panose="02040503050406030204" pitchFamily="18" charset="0"/>
                            </a:rPr>
                            <m:t>𝛽</m:t>
                          </m:r>
                        </m:e>
                      </m:d>
                      <m:sSub>
                        <m:sSubPr>
                          <m:ctrlPr>
                            <a:rPr lang="en-CA" b="0"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𝑇</m:t>
                          </m:r>
                        </m:e>
                        <m:sub>
                          <m:r>
                            <a:rPr lang="en-CA" b="0" i="1" smtClean="0">
                              <a:latin typeface="Cambria Math" panose="02040503050406030204" pitchFamily="18" charset="0"/>
                              <a:ea typeface="Cambria Math" panose="02040503050406030204" pitchFamily="18" charset="0"/>
                            </a:rPr>
                            <m:t>𝑡</m:t>
                          </m:r>
                          <m:r>
                            <a:rPr lang="en-CA" b="0" i="1" smtClean="0">
                              <a:latin typeface="Cambria Math" panose="02040503050406030204" pitchFamily="18" charset="0"/>
                              <a:ea typeface="Cambria Math" panose="02040503050406030204" pitchFamily="18" charset="0"/>
                            </a:rPr>
                            <m:t>−1</m:t>
                          </m:r>
                        </m:sub>
                      </m:sSub>
                    </m:oMath>
                  </m:oMathPara>
                </a14:m>
                <a:endParaRPr lang="en-US" dirty="0"/>
              </a:p>
            </p:txBody>
          </p:sp>
        </mc:Choice>
        <mc:Fallback xmlns="">
          <p:sp>
            <p:nvSpPr>
              <p:cNvPr id="4" name="Content Placeholder 3">
                <a:extLst>
                  <a:ext uri="{FF2B5EF4-FFF2-40B4-BE49-F238E27FC236}">
                    <a16:creationId xmlns:a16="http://schemas.microsoft.com/office/drawing/2014/main" id="{A8E3DD77-67EF-E890-5A81-5BD9DEF33C62}"/>
                  </a:ext>
                </a:extLst>
              </p:cNvPr>
              <p:cNvSpPr>
                <a:spLocks noGrp="1" noRot="1" noChangeAspect="1" noMove="1" noResize="1" noEditPoints="1" noAdjustHandles="1" noChangeArrowheads="1" noChangeShapeType="1" noTextEdit="1"/>
              </p:cNvSpPr>
              <p:nvPr>
                <p:ph sz="quarter" idx="1"/>
              </p:nvPr>
            </p:nvSpPr>
            <p:spPr>
              <a:xfrm>
                <a:off x="374904" y="1143000"/>
                <a:ext cx="7772400" cy="4572000"/>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2C95F2A-3AC8-08F9-E9A2-F4369B535EB3}"/>
                  </a:ext>
                </a:extLst>
              </p:cNvPr>
              <p:cNvGraphicFramePr>
                <a:graphicFrameLocks noGrp="1"/>
              </p:cNvGraphicFramePr>
              <p:nvPr>
                <p:extLst>
                  <p:ext uri="{D42A27DB-BD31-4B8C-83A1-F6EECF244321}">
                    <p14:modId xmlns:p14="http://schemas.microsoft.com/office/powerpoint/2010/main" val="2213264271"/>
                  </p:ext>
                </p:extLst>
              </p:nvPr>
            </p:nvGraphicFramePr>
            <p:xfrm>
              <a:off x="399312" y="2526609"/>
              <a:ext cx="8424935" cy="3951825"/>
            </p:xfrm>
            <a:graphic>
              <a:graphicData uri="http://schemas.openxmlformats.org/drawingml/2006/table">
                <a:tbl>
                  <a:tblPr firstRow="1" bandRow="1">
                    <a:tableStyleId>{9D7B26C5-4107-4FEC-AEDC-1716B250A1EF}</a:tableStyleId>
                  </a:tblPr>
                  <a:tblGrid>
                    <a:gridCol w="8688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gridCol w="2592288">
                      <a:extLst>
                        <a:ext uri="{9D8B030D-6E8A-4147-A177-3AD203B41FA5}">
                          <a16:colId xmlns:a16="http://schemas.microsoft.com/office/drawing/2014/main" val="20003"/>
                        </a:ext>
                      </a:extLst>
                    </a:gridCol>
                    <a:gridCol w="1363419">
                      <a:extLst>
                        <a:ext uri="{9D8B030D-6E8A-4147-A177-3AD203B41FA5}">
                          <a16:colId xmlns:a16="http://schemas.microsoft.com/office/drawing/2014/main" val="20004"/>
                        </a:ext>
                      </a:extLst>
                    </a:gridCol>
                  </a:tblGrid>
                  <a:tr h="934305">
                    <a:tc>
                      <a:txBody>
                        <a:bodyPr/>
                        <a:lstStyle/>
                        <a:p>
                          <a:pPr algn="ctr"/>
                          <a:r>
                            <a:rPr lang="en-CA" sz="2400" dirty="0">
                              <a:latin typeface="Times New Roman" panose="02020603050405020304" pitchFamily="18" charset="0"/>
                              <a:cs typeface="Times New Roman" panose="02020603050405020304" pitchFamily="18" charset="0"/>
                            </a:rPr>
                            <a:t>Year</a:t>
                          </a:r>
                        </a:p>
                      </a:txBody>
                      <a:tcPr/>
                    </a:tc>
                    <a:tc>
                      <a:txBody>
                        <a:bodyPr/>
                        <a:lstStyle/>
                        <a:p>
                          <a:pPr algn="ctr"/>
                          <a:r>
                            <a:rPr lang="en-CA" sz="2400" dirty="0">
                              <a:latin typeface="Times New Roman" panose="02020603050405020304" pitchFamily="18" charset="0"/>
                              <a:cs typeface="Times New Roman" panose="02020603050405020304" pitchFamily="18" charset="0"/>
                            </a:rPr>
                            <a:t>Sale</a:t>
                          </a:r>
                        </a:p>
                      </a:txBody>
                      <a:tcPr/>
                    </a:tc>
                    <a:tc>
                      <a:txBody>
                        <a:bodyPr/>
                        <a:lstStyle/>
                        <a:p>
                          <a:pPr algn="ctr"/>
                          <a:r>
                            <a:rPr lang="en-CA" sz="2400" dirty="0">
                              <a:latin typeface="Times New Roman" panose="02020603050405020304" pitchFamily="18" charset="0"/>
                              <a:cs typeface="Times New Roman" panose="02020603050405020304" pitchFamily="18" charset="0"/>
                            </a:rPr>
                            <a:t>Smoothed Forecast (</a:t>
                          </a:r>
                          <a14:m>
                            <m:oMath xmlns:m="http://schemas.openxmlformats.org/officeDocument/2006/math">
                              <m:sSub>
                                <m:sSubPr>
                                  <m:ctrlPr>
                                    <a:rPr lang="en-CA" sz="2400" i="1" smtClean="0">
                                      <a:latin typeface="Cambria Math" panose="02040503050406030204" pitchFamily="18" charset="0"/>
                                      <a:cs typeface="Times New Roman" panose="02020603050405020304" pitchFamily="18" charset="0"/>
                                    </a:rPr>
                                  </m:ctrlPr>
                                </m:sSubPr>
                                <m:e>
                                  <m:r>
                                    <a:rPr lang="en-CA" sz="2400" b="1" i="1" smtClean="0">
                                      <a:latin typeface="Cambria Math"/>
                                      <a:cs typeface="Times New Roman" panose="02020603050405020304" pitchFamily="18" charset="0"/>
                                    </a:rPr>
                                    <m:t>𝑭</m:t>
                                  </m:r>
                                </m:e>
                                <m:sub>
                                  <m:r>
                                    <a:rPr lang="en-CA" sz="2400" b="1" i="1" smtClean="0">
                                      <a:latin typeface="Cambria Math"/>
                                      <a:cs typeface="Times New Roman" panose="02020603050405020304" pitchFamily="18" charset="0"/>
                                    </a:rPr>
                                    <m:t>𝒕</m:t>
                                  </m:r>
                                </m:sub>
                              </m:sSub>
                            </m:oMath>
                          </a14:m>
                          <a:r>
                            <a:rPr lang="en-CA" sz="2400" dirty="0">
                              <a:latin typeface="Times New Roman" panose="02020603050405020304" pitchFamily="18" charset="0"/>
                              <a:cs typeface="Times New Roman" panose="02020603050405020304" pitchFamily="18" charset="0"/>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Times New Roman" panose="02020603050405020304" pitchFamily="18" charset="0"/>
                              <a:cs typeface="Times New Roman" panose="02020603050405020304" pitchFamily="18" charset="0"/>
                            </a:rPr>
                            <a:t>Smoothed Trend (</a:t>
                          </a:r>
                          <a14:m>
                            <m:oMath xmlns:m="http://schemas.openxmlformats.org/officeDocument/2006/math">
                              <m:sSub>
                                <m:sSubPr>
                                  <m:ctrlPr>
                                    <a:rPr lang="en-CA" sz="2400" i="1" smtClean="0">
                                      <a:latin typeface="Cambria Math" panose="02040503050406030204" pitchFamily="18" charset="0"/>
                                      <a:cs typeface="Times New Roman" panose="02020603050405020304" pitchFamily="18" charset="0"/>
                                    </a:rPr>
                                  </m:ctrlPr>
                                </m:sSubPr>
                                <m:e>
                                  <m:r>
                                    <a:rPr lang="en-CA" sz="2400" b="1" i="1" smtClean="0">
                                      <a:latin typeface="Cambria Math"/>
                                      <a:cs typeface="Times New Roman" panose="02020603050405020304" pitchFamily="18" charset="0"/>
                                    </a:rPr>
                                    <m:t>𝑻</m:t>
                                  </m:r>
                                </m:e>
                                <m:sub>
                                  <m:r>
                                    <a:rPr lang="en-CA" sz="2400" b="1" i="1" smtClean="0">
                                      <a:latin typeface="Cambria Math"/>
                                      <a:cs typeface="Times New Roman" panose="02020603050405020304" pitchFamily="18" charset="0"/>
                                    </a:rPr>
                                    <m:t>𝒕</m:t>
                                  </m:r>
                                </m:sub>
                              </m:sSub>
                            </m:oMath>
                          </a14:m>
                          <a:r>
                            <a:rPr lang="en-CA" sz="2400" dirty="0">
                              <a:latin typeface="Times New Roman" panose="02020603050405020304" pitchFamily="18" charset="0"/>
                              <a:cs typeface="Times New Roman" panose="02020603050405020304" pitchFamily="18" charset="0"/>
                            </a:rPr>
                            <a:t>)</a:t>
                          </a:r>
                        </a:p>
                      </a:txBody>
                      <a:tcPr/>
                    </a:tc>
                    <a:tc>
                      <a:txBody>
                        <a:bodyPr/>
                        <a:lstStyle/>
                        <a:p>
                          <a:pPr algn="ctr"/>
                          <a:r>
                            <a:rPr lang="en-CA" sz="2400" dirty="0">
                              <a:latin typeface="Times New Roman" panose="02020603050405020304" pitchFamily="18" charset="0"/>
                              <a:cs typeface="Times New Roman" panose="02020603050405020304" pitchFamily="18" charset="0"/>
                            </a:rPr>
                            <a:t>Forecast</a:t>
                          </a:r>
                          <a:r>
                            <a:rPr lang="en-CA" sz="2400" baseline="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a:latin typeface="Cambria Math" panose="02040503050406030204" pitchFamily="18" charset="0"/>
                                        </a:rPr>
                                      </m:ctrlPr>
                                    </m:accPr>
                                    <m:e>
                                      <m:r>
                                        <a:rPr lang="en-CA" sz="2400" i="1">
                                          <a:latin typeface="Cambria Math" panose="02040503050406030204" pitchFamily="18" charset="0"/>
                                        </a:rPr>
                                        <m:t>𝑦</m:t>
                                      </m:r>
                                    </m:e>
                                  </m:acc>
                                </m:e>
                                <m:sub>
                                  <m:r>
                                    <a:rPr lang="en-CA" sz="2400" i="1">
                                      <a:latin typeface="Cambria Math" panose="02040503050406030204" pitchFamily="18" charset="0"/>
                                    </a:rPr>
                                    <m:t>𝑡</m:t>
                                  </m:r>
                                </m:sub>
                              </m:sSub>
                            </m:oMath>
                          </a14:m>
                          <a:r>
                            <a:rPr lang="en-CA" sz="24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0"/>
                      </a:ext>
                    </a:extLst>
                  </a:tr>
                  <a:tr h="370840">
                    <a:tc>
                      <a:txBody>
                        <a:bodyPr/>
                        <a:lstStyle/>
                        <a:p>
                          <a:pPr algn="ctr"/>
                          <a:r>
                            <a:rPr lang="en-CA" sz="2400" dirty="0">
                              <a:latin typeface="Times New Roman" panose="02020603050405020304" pitchFamily="18" charset="0"/>
                              <a:cs typeface="Times New Roman" panose="02020603050405020304" pitchFamily="18" charset="0"/>
                            </a:rPr>
                            <a:t>1</a:t>
                          </a:r>
                        </a:p>
                      </a:txBody>
                      <a:tcPr/>
                    </a:tc>
                    <a:tc>
                      <a:txBody>
                        <a:bodyPr/>
                        <a:lstStyle/>
                        <a:p>
                          <a:pPr algn="ctr"/>
                          <a:r>
                            <a:rPr lang="en-CA" sz="2400" dirty="0">
                              <a:latin typeface="Times New Roman" panose="02020603050405020304" pitchFamily="18" charset="0"/>
                              <a:cs typeface="Times New Roman" panose="02020603050405020304" pitchFamily="18" charset="0"/>
                            </a:rPr>
                            <a:t>22</a:t>
                          </a:r>
                        </a:p>
                      </a:txBody>
                      <a:tcPr/>
                    </a:tc>
                    <a:tc>
                      <a:txBody>
                        <a:bodyPr/>
                        <a:lstStyle/>
                        <a:p>
                          <a:pPr algn="ctr"/>
                          <a:r>
                            <a:rPr lang="en-CA" sz="2400" dirty="0">
                              <a:latin typeface="Times New Roman" panose="02020603050405020304" pitchFamily="18" charset="0"/>
                              <a:cs typeface="Times New Roman" panose="02020603050405020304" pitchFamily="18" charset="0"/>
                            </a:rPr>
                            <a:t>21</a:t>
                          </a:r>
                        </a:p>
                      </a:txBody>
                      <a:tcPr/>
                    </a:tc>
                    <a:tc>
                      <a:txBody>
                        <a:bodyPr/>
                        <a:lstStyle/>
                        <a:p>
                          <a:pPr algn="ctr"/>
                          <a:r>
                            <a:rPr lang="en-CA" sz="2400" dirty="0">
                              <a:latin typeface="Times New Roman" panose="02020603050405020304" pitchFamily="18" charset="0"/>
                              <a:cs typeface="Times New Roman" panose="02020603050405020304" pitchFamily="18" charset="0"/>
                            </a:rPr>
                            <a:t>22</a:t>
                          </a:r>
                        </a:p>
                      </a:txBody>
                      <a:tcPr/>
                    </a:tc>
                    <a:tc>
                      <a:txBody>
                        <a:bodyPr/>
                        <a:lstStyle/>
                        <a:p>
                          <a:pPr algn="ct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ctr"/>
                          <a:r>
                            <a:rPr lang="en-CA" sz="2400" dirty="0">
                              <a:latin typeface="Times New Roman" panose="02020603050405020304" pitchFamily="18" charset="0"/>
                              <a:cs typeface="Times New Roman" panose="02020603050405020304" pitchFamily="18" charset="0"/>
                            </a:rPr>
                            <a:t>2</a:t>
                          </a:r>
                        </a:p>
                      </a:txBody>
                      <a:tcPr/>
                    </a:tc>
                    <a:tc>
                      <a:txBody>
                        <a:bodyPr/>
                        <a:lstStyle/>
                        <a:p>
                          <a:pPr algn="ctr"/>
                          <a:r>
                            <a:rPr lang="en-CA" sz="2400" dirty="0">
                              <a:latin typeface="Times New Roman" panose="02020603050405020304" pitchFamily="18" charset="0"/>
                              <a:cs typeface="Times New Roman" panose="02020603050405020304" pitchFamily="18" charset="0"/>
                            </a:rPr>
                            <a:t>25</a:t>
                          </a:r>
                        </a:p>
                      </a:txBody>
                      <a:tcPr/>
                    </a:tc>
                    <a:tc>
                      <a:txBody>
                        <a:bodyPr/>
                        <a:lstStyle/>
                        <a:p>
                          <a:pPr algn="ctr"/>
                          <a:r>
                            <a:rPr lang="en-CA" sz="1800" dirty="0">
                              <a:latin typeface="Times New Roman" panose="02020603050405020304" pitchFamily="18" charset="0"/>
                              <a:cs typeface="Times New Roman" panose="02020603050405020304" pitchFamily="18" charset="0"/>
                            </a:rPr>
                            <a:t>0.2⨉22+(1-0.2) ⨉(21+22)=22.8</a:t>
                          </a:r>
                        </a:p>
                      </a:txBody>
                      <a:tcPr/>
                    </a:tc>
                    <a:tc>
                      <a:txBody>
                        <a:bodyPr/>
                        <a:lstStyle/>
                        <a:p>
                          <a:pPr algn="ctr"/>
                          <a:r>
                            <a:rPr lang="en-CA" sz="1800" dirty="0">
                              <a:latin typeface="Times New Roman" panose="02020603050405020304" pitchFamily="18" charset="0"/>
                              <a:cs typeface="Times New Roman" panose="02020603050405020304" pitchFamily="18" charset="0"/>
                            </a:rPr>
                            <a:t>0.4⨉(22.8-21)+(1-0.4) ⨉2=1.92</a:t>
                          </a:r>
                        </a:p>
                      </a:txBody>
                      <a:tcPr/>
                    </a:tc>
                    <a:tc>
                      <a:txBody>
                        <a:bodyPr/>
                        <a:lstStyle/>
                        <a:p>
                          <a:pPr algn="ctr"/>
                          <a:endParaRPr lang="en-CA"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algn="ctr"/>
                          <a:r>
                            <a:rPr lang="en-CA" sz="2400" dirty="0">
                              <a:latin typeface="Times New Roman" panose="02020603050405020304" pitchFamily="18" charset="0"/>
                              <a:cs typeface="Times New Roman" panose="02020603050405020304" pitchFamily="18" charset="0"/>
                            </a:rPr>
                            <a:t>3</a:t>
                          </a:r>
                        </a:p>
                      </a:txBody>
                      <a:tcPr/>
                    </a:tc>
                    <a:tc>
                      <a:txBody>
                        <a:bodyPr/>
                        <a:lstStyle/>
                        <a:p>
                          <a:pPr algn="ctr"/>
                          <a:r>
                            <a:rPr lang="en-CA" sz="2400" dirty="0">
                              <a:latin typeface="Times New Roman" panose="02020603050405020304" pitchFamily="18" charset="0"/>
                              <a:cs typeface="Times New Roman" panose="02020603050405020304" pitchFamily="18" charset="0"/>
                            </a:rPr>
                            <a:t>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0.2⨉25+(1-0.2) ⨉(22.8+1.92)=24.78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0.4⨉(24.78-22.8)+(1-0.4) ⨉1.92=1.94</a:t>
                          </a:r>
                        </a:p>
                      </a:txBody>
                      <a:tcPr/>
                    </a:tc>
                    <a:tc>
                      <a:txBody>
                        <a:bodyPr/>
                        <a:lstStyle/>
                        <a:p>
                          <a:pPr algn="ctr"/>
                          <a:endParaRPr lang="en-CA"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pPr algn="ctr"/>
                          <a:r>
                            <a:rPr lang="en-CA" sz="2400" dirty="0">
                              <a:latin typeface="Times New Roman" panose="02020603050405020304" pitchFamily="18" charset="0"/>
                              <a:cs typeface="Times New Roman" panose="02020603050405020304" pitchFamily="18" charset="0"/>
                            </a:rPr>
                            <a:t>4</a:t>
                          </a:r>
                        </a:p>
                      </a:txBody>
                      <a:tcPr/>
                    </a:tc>
                    <a:tc>
                      <a:txBody>
                        <a:bodyPr/>
                        <a:lstStyle/>
                        <a:p>
                          <a:pPr algn="ctr"/>
                          <a:r>
                            <a:rPr lang="en-CA" sz="2400" dirty="0">
                              <a:latin typeface="Times New Roman" panose="02020603050405020304" pitchFamily="18" charset="0"/>
                              <a:cs typeface="Times New Roman" panose="02020603050405020304" pitchFamily="18" charset="0"/>
                            </a:rPr>
                            <a:t>30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0.2⨉26+(1-0.2) ⨉(24.78+1.94)=26.58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0.4⨉(26.58-24.78) + (1-0.4) ⨉1.94=1.88</a:t>
                          </a:r>
                        </a:p>
                      </a:txBody>
                      <a:tcPr/>
                    </a:tc>
                    <a:tc>
                      <a:txBody>
                        <a:bodyPr/>
                        <a:lstStyle/>
                        <a:p>
                          <a:pPr algn="ctr"/>
                          <a:endParaRPr lang="en-CA"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70840">
                    <a:tc>
                      <a:txBody>
                        <a:bodyPr/>
                        <a:lstStyle/>
                        <a:p>
                          <a:pPr algn="ctr"/>
                          <a:r>
                            <a:rPr lang="en-CA" sz="2400" dirty="0">
                              <a:latin typeface="Times New Roman" panose="02020603050405020304" pitchFamily="18" charset="0"/>
                              <a:cs typeface="Times New Roman" panose="02020603050405020304" pitchFamily="18" charset="0"/>
                            </a:rPr>
                            <a:t>5</a:t>
                          </a:r>
                        </a:p>
                      </a:txBody>
                      <a:tcPr/>
                    </a:tc>
                    <a:tc>
                      <a:txBody>
                        <a:bodyPr/>
                        <a:lstStyle/>
                        <a:p>
                          <a:pPr algn="ctr"/>
                          <a:r>
                            <a:rPr lang="en-CA" sz="2400">
                              <a:latin typeface="Times New Roman" panose="02020603050405020304" pitchFamily="18" charset="0"/>
                              <a:cs typeface="Times New Roman" panose="02020603050405020304" pitchFamily="18" charset="0"/>
                            </a:rPr>
                            <a:t>-</a:t>
                          </a:r>
                          <a:endParaRPr lang="en-CA"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0.2⨉30+(1-0.2) ⨉(26.58+1.88)=28.77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0.4⨉(28.77-26.58) + (1-0.4) ⨉1.88=2</a:t>
                          </a:r>
                        </a:p>
                      </a:txBody>
                      <a:tcPr/>
                    </a:tc>
                    <a:tc>
                      <a:txBody>
                        <a:bodyPr/>
                        <a:lstStyle/>
                        <a:p>
                          <a:pPr algn="ctr"/>
                          <a:r>
                            <a:rPr lang="en-CA" sz="1800" dirty="0">
                              <a:latin typeface="Times New Roman" panose="02020603050405020304" pitchFamily="18" charset="0"/>
                              <a:cs typeface="Times New Roman" panose="02020603050405020304" pitchFamily="18" charset="0"/>
                            </a:rPr>
                            <a:t>28.77+2 =30.77</a:t>
                          </a:r>
                        </a:p>
                      </a:txBody>
                      <a:tcPr/>
                    </a:tc>
                    <a:extLst>
                      <a:ext uri="{0D108BD9-81ED-4DB2-BD59-A6C34878D82A}">
                        <a16:rowId xmlns:a16="http://schemas.microsoft.com/office/drawing/2014/main" val="10005"/>
                      </a:ext>
                    </a:extLst>
                  </a:tr>
                </a:tbl>
              </a:graphicData>
            </a:graphic>
          </p:graphicFrame>
        </mc:Choice>
        <mc:Fallback xmlns="">
          <p:graphicFrame>
            <p:nvGraphicFramePr>
              <p:cNvPr id="5" name="Table 4">
                <a:extLst>
                  <a:ext uri="{FF2B5EF4-FFF2-40B4-BE49-F238E27FC236}">
                    <a16:creationId xmlns:a16="http://schemas.microsoft.com/office/drawing/2014/main" id="{02C95F2A-3AC8-08F9-E9A2-F4369B535EB3}"/>
                  </a:ext>
                </a:extLst>
              </p:cNvPr>
              <p:cNvGraphicFramePr>
                <a:graphicFrameLocks noGrp="1"/>
              </p:cNvGraphicFramePr>
              <p:nvPr>
                <p:extLst>
                  <p:ext uri="{D42A27DB-BD31-4B8C-83A1-F6EECF244321}">
                    <p14:modId xmlns:p14="http://schemas.microsoft.com/office/powerpoint/2010/main" val="2213264271"/>
                  </p:ext>
                </p:extLst>
              </p:nvPr>
            </p:nvGraphicFramePr>
            <p:xfrm>
              <a:off x="399312" y="2526609"/>
              <a:ext cx="8424935" cy="3951825"/>
            </p:xfrm>
            <a:graphic>
              <a:graphicData uri="http://schemas.openxmlformats.org/drawingml/2006/table">
                <a:tbl>
                  <a:tblPr firstRow="1" bandRow="1">
                    <a:tableStyleId>{9D7B26C5-4107-4FEC-AEDC-1716B250A1EF}</a:tableStyleId>
                  </a:tblPr>
                  <a:tblGrid>
                    <a:gridCol w="86882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gridCol w="2592288">
                      <a:extLst>
                        <a:ext uri="{9D8B030D-6E8A-4147-A177-3AD203B41FA5}">
                          <a16:colId xmlns:a16="http://schemas.microsoft.com/office/drawing/2014/main" val="20003"/>
                        </a:ext>
                      </a:extLst>
                    </a:gridCol>
                    <a:gridCol w="1363419">
                      <a:extLst>
                        <a:ext uri="{9D8B030D-6E8A-4147-A177-3AD203B41FA5}">
                          <a16:colId xmlns:a16="http://schemas.microsoft.com/office/drawing/2014/main" val="20004"/>
                        </a:ext>
                      </a:extLst>
                    </a:gridCol>
                  </a:tblGrid>
                  <a:tr h="934305">
                    <a:tc>
                      <a:txBody>
                        <a:bodyPr/>
                        <a:lstStyle/>
                        <a:p>
                          <a:pPr algn="ctr"/>
                          <a:r>
                            <a:rPr lang="en-CA" sz="2400" dirty="0">
                              <a:latin typeface="Times New Roman" panose="02020603050405020304" pitchFamily="18" charset="0"/>
                              <a:cs typeface="Times New Roman" panose="02020603050405020304" pitchFamily="18" charset="0"/>
                            </a:rPr>
                            <a:t>Year</a:t>
                          </a:r>
                        </a:p>
                      </a:txBody>
                      <a:tcPr/>
                    </a:tc>
                    <a:tc>
                      <a:txBody>
                        <a:bodyPr/>
                        <a:lstStyle/>
                        <a:p>
                          <a:pPr algn="ctr"/>
                          <a:r>
                            <a:rPr lang="en-CA" sz="2400" dirty="0">
                              <a:latin typeface="Times New Roman" panose="02020603050405020304" pitchFamily="18" charset="0"/>
                              <a:cs typeface="Times New Roman" panose="02020603050405020304" pitchFamily="18" charset="0"/>
                            </a:rPr>
                            <a:t>Sale</a:t>
                          </a:r>
                        </a:p>
                      </a:txBody>
                      <a:tcPr/>
                    </a:tc>
                    <a:tc>
                      <a:txBody>
                        <a:bodyPr/>
                        <a:lstStyle/>
                        <a:p>
                          <a:endParaRPr lang="en-US"/>
                        </a:p>
                      </a:txBody>
                      <a:tcPr>
                        <a:blipFill>
                          <a:blip r:embed="rId4"/>
                          <a:stretch>
                            <a:fillRect l="-67619" t="-5405" r="-149048" b="-333784"/>
                          </a:stretch>
                        </a:blipFill>
                      </a:tcPr>
                    </a:tc>
                    <a:tc>
                      <a:txBody>
                        <a:bodyPr/>
                        <a:lstStyle/>
                        <a:p>
                          <a:endParaRPr lang="en-US"/>
                        </a:p>
                      </a:txBody>
                      <a:tcPr>
                        <a:blipFill>
                          <a:blip r:embed="rId4"/>
                          <a:stretch>
                            <a:fillRect l="-171707" t="-5405" r="-52683" b="-333784"/>
                          </a:stretch>
                        </a:blipFill>
                      </a:tcPr>
                    </a:tc>
                    <a:tc>
                      <a:txBody>
                        <a:bodyPr/>
                        <a:lstStyle/>
                        <a:p>
                          <a:endParaRPr lang="en-US"/>
                        </a:p>
                      </a:txBody>
                      <a:tcPr>
                        <a:blipFill>
                          <a:blip r:embed="rId4"/>
                          <a:stretch>
                            <a:fillRect l="-520561" t="-5405" r="-935" b="-333784"/>
                          </a:stretch>
                        </a:blipFill>
                      </a:tcPr>
                    </a:tc>
                    <a:extLst>
                      <a:ext uri="{0D108BD9-81ED-4DB2-BD59-A6C34878D82A}">
                        <a16:rowId xmlns:a16="http://schemas.microsoft.com/office/drawing/2014/main" val="10000"/>
                      </a:ext>
                    </a:extLst>
                  </a:tr>
                  <a:tr h="457200">
                    <a:tc>
                      <a:txBody>
                        <a:bodyPr/>
                        <a:lstStyle/>
                        <a:p>
                          <a:pPr algn="ctr"/>
                          <a:r>
                            <a:rPr lang="en-CA" sz="2400" dirty="0">
                              <a:latin typeface="Times New Roman" panose="02020603050405020304" pitchFamily="18" charset="0"/>
                              <a:cs typeface="Times New Roman" panose="02020603050405020304" pitchFamily="18" charset="0"/>
                            </a:rPr>
                            <a:t>1</a:t>
                          </a:r>
                        </a:p>
                      </a:txBody>
                      <a:tcPr/>
                    </a:tc>
                    <a:tc>
                      <a:txBody>
                        <a:bodyPr/>
                        <a:lstStyle/>
                        <a:p>
                          <a:pPr algn="ctr"/>
                          <a:r>
                            <a:rPr lang="en-CA" sz="2400" dirty="0">
                              <a:latin typeface="Times New Roman" panose="02020603050405020304" pitchFamily="18" charset="0"/>
                              <a:cs typeface="Times New Roman" panose="02020603050405020304" pitchFamily="18" charset="0"/>
                            </a:rPr>
                            <a:t>22</a:t>
                          </a:r>
                        </a:p>
                      </a:txBody>
                      <a:tcPr/>
                    </a:tc>
                    <a:tc>
                      <a:txBody>
                        <a:bodyPr/>
                        <a:lstStyle/>
                        <a:p>
                          <a:pPr algn="ctr"/>
                          <a:r>
                            <a:rPr lang="en-CA" sz="2400" dirty="0">
                              <a:latin typeface="Times New Roman" panose="02020603050405020304" pitchFamily="18" charset="0"/>
                              <a:cs typeface="Times New Roman" panose="02020603050405020304" pitchFamily="18" charset="0"/>
                            </a:rPr>
                            <a:t>21</a:t>
                          </a:r>
                        </a:p>
                      </a:txBody>
                      <a:tcPr/>
                    </a:tc>
                    <a:tc>
                      <a:txBody>
                        <a:bodyPr/>
                        <a:lstStyle/>
                        <a:p>
                          <a:pPr algn="ctr"/>
                          <a:r>
                            <a:rPr lang="en-CA" sz="2400" dirty="0">
                              <a:latin typeface="Times New Roman" panose="02020603050405020304" pitchFamily="18" charset="0"/>
                              <a:cs typeface="Times New Roman" panose="02020603050405020304" pitchFamily="18" charset="0"/>
                            </a:rPr>
                            <a:t>22</a:t>
                          </a:r>
                        </a:p>
                      </a:txBody>
                      <a:tcPr/>
                    </a:tc>
                    <a:tc>
                      <a:txBody>
                        <a:bodyPr/>
                        <a:lstStyle/>
                        <a:p>
                          <a:pPr algn="ctr"/>
                          <a:endParaRPr lang="en-CA"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640080">
                    <a:tc>
                      <a:txBody>
                        <a:bodyPr/>
                        <a:lstStyle/>
                        <a:p>
                          <a:pPr algn="ctr"/>
                          <a:r>
                            <a:rPr lang="en-CA" sz="2400" dirty="0">
                              <a:latin typeface="Times New Roman" panose="02020603050405020304" pitchFamily="18" charset="0"/>
                              <a:cs typeface="Times New Roman" panose="02020603050405020304" pitchFamily="18" charset="0"/>
                            </a:rPr>
                            <a:t>2</a:t>
                          </a:r>
                        </a:p>
                      </a:txBody>
                      <a:tcPr/>
                    </a:tc>
                    <a:tc>
                      <a:txBody>
                        <a:bodyPr/>
                        <a:lstStyle/>
                        <a:p>
                          <a:pPr algn="ctr"/>
                          <a:r>
                            <a:rPr lang="en-CA" sz="2400" dirty="0">
                              <a:latin typeface="Times New Roman" panose="02020603050405020304" pitchFamily="18" charset="0"/>
                              <a:cs typeface="Times New Roman" panose="02020603050405020304" pitchFamily="18" charset="0"/>
                            </a:rPr>
                            <a:t>25</a:t>
                          </a:r>
                        </a:p>
                      </a:txBody>
                      <a:tcPr/>
                    </a:tc>
                    <a:tc>
                      <a:txBody>
                        <a:bodyPr/>
                        <a:lstStyle/>
                        <a:p>
                          <a:pPr algn="ctr"/>
                          <a:r>
                            <a:rPr lang="en-CA" sz="1800" dirty="0">
                              <a:latin typeface="Times New Roman" panose="02020603050405020304" pitchFamily="18" charset="0"/>
                              <a:cs typeface="Times New Roman" panose="02020603050405020304" pitchFamily="18" charset="0"/>
                            </a:rPr>
                            <a:t>0.2⨉22+(1-0.2) ⨉(21+22)=22.8</a:t>
                          </a:r>
                        </a:p>
                      </a:txBody>
                      <a:tcPr/>
                    </a:tc>
                    <a:tc>
                      <a:txBody>
                        <a:bodyPr/>
                        <a:lstStyle/>
                        <a:p>
                          <a:pPr algn="ctr"/>
                          <a:r>
                            <a:rPr lang="en-CA" sz="1800" dirty="0">
                              <a:latin typeface="Times New Roman" panose="02020603050405020304" pitchFamily="18" charset="0"/>
                              <a:cs typeface="Times New Roman" panose="02020603050405020304" pitchFamily="18" charset="0"/>
                            </a:rPr>
                            <a:t>0.4⨉(22.8-21)+(1-0.4) ⨉2=1.92</a:t>
                          </a:r>
                        </a:p>
                      </a:txBody>
                      <a:tcPr/>
                    </a:tc>
                    <a:tc>
                      <a:txBody>
                        <a:bodyPr/>
                        <a:lstStyle/>
                        <a:p>
                          <a:pPr algn="ctr"/>
                          <a:endParaRPr lang="en-CA"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40080">
                    <a:tc>
                      <a:txBody>
                        <a:bodyPr/>
                        <a:lstStyle/>
                        <a:p>
                          <a:pPr algn="ctr"/>
                          <a:r>
                            <a:rPr lang="en-CA" sz="2400" dirty="0">
                              <a:latin typeface="Times New Roman" panose="02020603050405020304" pitchFamily="18" charset="0"/>
                              <a:cs typeface="Times New Roman" panose="02020603050405020304" pitchFamily="18" charset="0"/>
                            </a:rPr>
                            <a:t>3</a:t>
                          </a:r>
                        </a:p>
                      </a:txBody>
                      <a:tcPr/>
                    </a:tc>
                    <a:tc>
                      <a:txBody>
                        <a:bodyPr/>
                        <a:lstStyle/>
                        <a:p>
                          <a:pPr algn="ctr"/>
                          <a:r>
                            <a:rPr lang="en-CA" sz="2400" dirty="0">
                              <a:latin typeface="Times New Roman" panose="02020603050405020304" pitchFamily="18" charset="0"/>
                              <a:cs typeface="Times New Roman" panose="02020603050405020304" pitchFamily="18" charset="0"/>
                            </a:rPr>
                            <a:t>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0.2⨉25+(1-0.2) ⨉(22.8+1.92)=24.78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0.4⨉(24.78-22.8)+(1-0.4) ⨉1.92=1.94</a:t>
                          </a:r>
                        </a:p>
                      </a:txBody>
                      <a:tcPr/>
                    </a:tc>
                    <a:tc>
                      <a:txBody>
                        <a:bodyPr/>
                        <a:lstStyle/>
                        <a:p>
                          <a:pPr algn="ctr"/>
                          <a:endParaRPr lang="en-CA"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640080">
                    <a:tc>
                      <a:txBody>
                        <a:bodyPr/>
                        <a:lstStyle/>
                        <a:p>
                          <a:pPr algn="ctr"/>
                          <a:r>
                            <a:rPr lang="en-CA" sz="2400" dirty="0">
                              <a:latin typeface="Times New Roman" panose="02020603050405020304" pitchFamily="18" charset="0"/>
                              <a:cs typeface="Times New Roman" panose="02020603050405020304" pitchFamily="18" charset="0"/>
                            </a:rPr>
                            <a:t>4</a:t>
                          </a:r>
                        </a:p>
                      </a:txBody>
                      <a:tcPr/>
                    </a:tc>
                    <a:tc>
                      <a:txBody>
                        <a:bodyPr/>
                        <a:lstStyle/>
                        <a:p>
                          <a:pPr algn="ctr"/>
                          <a:r>
                            <a:rPr lang="en-CA" sz="2400" dirty="0">
                              <a:latin typeface="Times New Roman" panose="02020603050405020304" pitchFamily="18" charset="0"/>
                              <a:cs typeface="Times New Roman" panose="02020603050405020304" pitchFamily="18" charset="0"/>
                            </a:rPr>
                            <a:t>30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0.2⨉26+(1-0.2) ⨉(24.78+1.94)=26.58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0.4⨉(26.58-24.78) + (1-0.4) ⨉1.94=1.88</a:t>
                          </a:r>
                        </a:p>
                      </a:txBody>
                      <a:tcPr/>
                    </a:tc>
                    <a:tc>
                      <a:txBody>
                        <a:bodyPr/>
                        <a:lstStyle/>
                        <a:p>
                          <a:pPr algn="ctr"/>
                          <a:endParaRPr lang="en-CA"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640080">
                    <a:tc>
                      <a:txBody>
                        <a:bodyPr/>
                        <a:lstStyle/>
                        <a:p>
                          <a:pPr algn="ctr"/>
                          <a:r>
                            <a:rPr lang="en-CA" sz="2400" dirty="0">
                              <a:latin typeface="Times New Roman" panose="02020603050405020304" pitchFamily="18" charset="0"/>
                              <a:cs typeface="Times New Roman" panose="02020603050405020304" pitchFamily="18" charset="0"/>
                            </a:rPr>
                            <a:t>5</a:t>
                          </a:r>
                        </a:p>
                      </a:txBody>
                      <a:tcPr/>
                    </a:tc>
                    <a:tc>
                      <a:txBody>
                        <a:bodyPr/>
                        <a:lstStyle/>
                        <a:p>
                          <a:pPr algn="ctr"/>
                          <a:r>
                            <a:rPr lang="en-CA" sz="2400">
                              <a:latin typeface="Times New Roman" panose="02020603050405020304" pitchFamily="18" charset="0"/>
                              <a:cs typeface="Times New Roman" panose="02020603050405020304" pitchFamily="18" charset="0"/>
                            </a:rPr>
                            <a:t>-</a:t>
                          </a:r>
                          <a:endParaRPr lang="en-CA"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0.2⨉30+(1-0.2) ⨉(26.58+1.88)=28.77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800" dirty="0">
                              <a:latin typeface="Times New Roman" panose="02020603050405020304" pitchFamily="18" charset="0"/>
                              <a:cs typeface="Times New Roman" panose="02020603050405020304" pitchFamily="18" charset="0"/>
                            </a:rPr>
                            <a:t>0.4⨉(28.77-26.58) + (1-0.4) ⨉1.88=2</a:t>
                          </a:r>
                        </a:p>
                      </a:txBody>
                      <a:tcPr/>
                    </a:tc>
                    <a:tc>
                      <a:txBody>
                        <a:bodyPr/>
                        <a:lstStyle/>
                        <a:p>
                          <a:pPr algn="ctr"/>
                          <a:r>
                            <a:rPr lang="en-CA" sz="1800" dirty="0">
                              <a:latin typeface="Times New Roman" panose="02020603050405020304" pitchFamily="18" charset="0"/>
                              <a:cs typeface="Times New Roman" panose="02020603050405020304" pitchFamily="18" charset="0"/>
                            </a:rPr>
                            <a:t>28.77+2 =30.77</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3BA505-96F9-F5D7-C019-3EF333BDB7EA}"/>
                  </a:ext>
                </a:extLst>
              </p:cNvPr>
              <p:cNvSpPr txBox="1"/>
              <p:nvPr/>
            </p:nvSpPr>
            <p:spPr>
              <a:xfrm>
                <a:off x="1902972" y="2003389"/>
                <a:ext cx="5130570" cy="523220"/>
              </a:xfrm>
              <a:prstGeom prst="rect">
                <a:avLst/>
              </a:prstGeom>
              <a:noFill/>
            </p:spPr>
            <p:txBody>
              <a:bodyPr wrap="square" rtlCol="0">
                <a:spAutoFit/>
              </a:bodyPr>
              <a:lstStyle/>
              <a:p>
                <a:pPr algn="ctr"/>
                <a14:m>
                  <m:oMath xmlns:m="http://schemas.openxmlformats.org/officeDocument/2006/math">
                    <m:r>
                      <a:rPr lang="en-CA" sz="2800" b="1" i="1" dirty="0" smtClean="0">
                        <a:latin typeface="Cambria Math"/>
                        <a:ea typeface="Cambria Math"/>
                        <a:cs typeface="Times New Roman" panose="02020603050405020304" pitchFamily="18" charset="0"/>
                      </a:rPr>
                      <m:t>𝜶</m:t>
                    </m:r>
                    <m:r>
                      <a:rPr lang="en-CA" sz="2800" b="1" i="1" dirty="0" smtClean="0">
                        <a:latin typeface="Cambria Math"/>
                        <a:ea typeface="Cambria Math"/>
                        <a:cs typeface="Times New Roman" panose="02020603050405020304" pitchFamily="18" charset="0"/>
                      </a:rPr>
                      <m:t>=</m:t>
                    </m:r>
                    <m:r>
                      <a:rPr lang="en-CA" sz="2800" b="1" i="1" dirty="0" smtClean="0">
                        <a:latin typeface="Cambria Math"/>
                        <a:ea typeface="Cambria Math"/>
                        <a:cs typeface="Times New Roman" panose="02020603050405020304" pitchFamily="18" charset="0"/>
                      </a:rPr>
                      <m:t>𝟎</m:t>
                    </m:r>
                    <m:r>
                      <a:rPr lang="en-CA" sz="2800" b="1" i="1" dirty="0" smtClean="0">
                        <a:latin typeface="Cambria Math"/>
                        <a:ea typeface="Cambria Math"/>
                        <a:cs typeface="Times New Roman" panose="02020603050405020304" pitchFamily="18" charset="0"/>
                      </a:rPr>
                      <m:t>.</m:t>
                    </m:r>
                    <m:r>
                      <a:rPr lang="en-CA" sz="2800" b="1" i="1" dirty="0" smtClean="0">
                        <a:latin typeface="Cambria Math" panose="02040503050406030204" pitchFamily="18" charset="0"/>
                        <a:ea typeface="Cambria Math"/>
                        <a:cs typeface="Times New Roman" panose="02020603050405020304" pitchFamily="18" charset="0"/>
                      </a:rPr>
                      <m:t>𝟐</m:t>
                    </m:r>
                  </m:oMath>
                </a14:m>
                <a:r>
                  <a:rPr lang="en-CA" sz="2800" b="1" dirty="0">
                    <a:latin typeface="Times New Roman" panose="02020603050405020304" pitchFamily="18" charset="0"/>
                    <a:cs typeface="Times New Roman" panose="02020603050405020304" pitchFamily="18" charset="0"/>
                  </a:rPr>
                  <a:t>, </a:t>
                </a:r>
                <a:r>
                  <a:rPr lang="el-GR" sz="2800" b="1" dirty="0">
                    <a:latin typeface="Times New Roman" panose="02020603050405020304" pitchFamily="18" charset="0"/>
                    <a:cs typeface="Times New Roman" panose="02020603050405020304" pitchFamily="18" charset="0"/>
                  </a:rPr>
                  <a:t>β</a:t>
                </a:r>
                <a:r>
                  <a:rPr lang="en-CA" sz="2800" b="1" dirty="0">
                    <a:latin typeface="Times New Roman" panose="02020603050405020304" pitchFamily="18" charset="0"/>
                    <a:cs typeface="Times New Roman" panose="02020603050405020304" pitchFamily="18" charset="0"/>
                  </a:rPr>
                  <a:t>= 0.4</a:t>
                </a:r>
              </a:p>
            </p:txBody>
          </p:sp>
        </mc:Choice>
        <mc:Fallback xmlns="">
          <p:sp>
            <p:nvSpPr>
              <p:cNvPr id="6" name="TextBox 5">
                <a:extLst>
                  <a:ext uri="{FF2B5EF4-FFF2-40B4-BE49-F238E27FC236}">
                    <a16:creationId xmlns:a16="http://schemas.microsoft.com/office/drawing/2014/main" id="{B73BA505-96F9-F5D7-C019-3EF333BDB7EA}"/>
                  </a:ext>
                </a:extLst>
              </p:cNvPr>
              <p:cNvSpPr txBox="1">
                <a:spLocks noRot="1" noChangeAspect="1" noMove="1" noResize="1" noEditPoints="1" noAdjustHandles="1" noChangeArrowheads="1" noChangeShapeType="1" noTextEdit="1"/>
              </p:cNvSpPr>
              <p:nvPr/>
            </p:nvSpPr>
            <p:spPr>
              <a:xfrm>
                <a:off x="1902972" y="2003389"/>
                <a:ext cx="5130570" cy="523220"/>
              </a:xfrm>
              <a:prstGeom prst="rect">
                <a:avLst/>
              </a:prstGeom>
              <a:blipFill>
                <a:blip r:embed="rId5"/>
                <a:stretch>
                  <a:fillRect t="-11905" b="-33333"/>
                </a:stretch>
              </a:blipFill>
            </p:spPr>
            <p:txBody>
              <a:bodyPr/>
              <a:lstStyle/>
              <a:p>
                <a:r>
                  <a:rPr lang="en-US">
                    <a:noFill/>
                  </a:rPr>
                  <a:t> </a:t>
                </a:r>
              </a:p>
            </p:txBody>
          </p:sp>
        </mc:Fallback>
      </mc:AlternateContent>
    </p:spTree>
    <p:extLst>
      <p:ext uri="{BB962C8B-B14F-4D97-AF65-F5344CB8AC3E}">
        <p14:creationId xmlns:p14="http://schemas.microsoft.com/office/powerpoint/2010/main" val="3109508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A006-314E-615F-944D-9866A4A771B2}"/>
              </a:ext>
            </a:extLst>
          </p:cNvPr>
          <p:cNvSpPr>
            <a:spLocks noGrp="1"/>
          </p:cNvSpPr>
          <p:nvPr>
            <p:ph type="title"/>
          </p:nvPr>
        </p:nvSpPr>
        <p:spPr/>
        <p:txBody>
          <a:bodyPr/>
          <a:lstStyle/>
          <a:p>
            <a:r>
              <a:rPr lang="en-US" dirty="0"/>
              <a:t>Holt Exponential Smoothing</a:t>
            </a:r>
          </a:p>
        </p:txBody>
      </p:sp>
      <p:sp>
        <p:nvSpPr>
          <p:cNvPr id="3" name="Slide Number Placeholder 2">
            <a:extLst>
              <a:ext uri="{FF2B5EF4-FFF2-40B4-BE49-F238E27FC236}">
                <a16:creationId xmlns:a16="http://schemas.microsoft.com/office/drawing/2014/main" id="{7643CF88-CD4C-0578-7AE8-545F52A1671C}"/>
              </a:ext>
            </a:extLst>
          </p:cNvPr>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A931944-7363-7415-B13B-7DA24F305D01}"/>
                  </a:ext>
                </a:extLst>
              </p:cNvPr>
              <p:cNvSpPr>
                <a:spLocks noGrp="1"/>
              </p:cNvSpPr>
              <p:nvPr>
                <p:ph sz="quarter" idx="1"/>
              </p:nvPr>
            </p:nvSpPr>
            <p:spPr/>
            <p:txBody>
              <a:bodyPr/>
              <a:lstStyle/>
              <a:p>
                <a:pPr marL="0" indent="0">
                  <a:buNone/>
                </a:pPr>
                <a:r>
                  <a:rPr lang="en-US" b="1" dirty="0"/>
                  <a:t>Example 5.5: </a:t>
                </a:r>
                <a:r>
                  <a:rPr lang="en-US" dirty="0"/>
                  <a:t>The data file “</a:t>
                </a:r>
                <a:r>
                  <a:rPr lang="en-US" dirty="0" err="1"/>
                  <a:t>Cafe_Sales</a:t>
                </a:r>
                <a:r>
                  <a:rPr lang="en-US" dirty="0"/>
                  <a:t>” contains daily sales (in $) at Café Venetian for 100 days. Implement Holt exponential smoothing method with smoothing parameters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CA" b="0" i="1" smtClean="0">
                        <a:latin typeface="Cambria Math" panose="02040503050406030204" pitchFamily="18" charset="0"/>
                        <a:ea typeface="Cambria Math" panose="02040503050406030204" pitchFamily="18" charset="0"/>
                      </a:rPr>
                      <m:t>=0.2</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=0.</m:t>
                    </m:r>
                    <m:r>
                      <a:rPr lang="en-CA" b="0" i="1" smtClean="0">
                        <a:latin typeface="Cambria Math" panose="02040503050406030204" pitchFamily="18" charset="0"/>
                        <a:ea typeface="Cambria Math" panose="02040503050406030204" pitchFamily="18" charset="0"/>
                      </a:rPr>
                      <m:t>1</m:t>
                    </m:r>
                  </m:oMath>
                </a14:m>
                <a:r>
                  <a:rPr lang="en-US" dirty="0"/>
                  <a:t>. </a:t>
                </a:r>
              </a:p>
            </p:txBody>
          </p:sp>
        </mc:Choice>
        <mc:Fallback xmlns="">
          <p:sp>
            <p:nvSpPr>
              <p:cNvPr id="4" name="Content Placeholder 3">
                <a:extLst>
                  <a:ext uri="{FF2B5EF4-FFF2-40B4-BE49-F238E27FC236}">
                    <a16:creationId xmlns:a16="http://schemas.microsoft.com/office/drawing/2014/main" id="{8A931944-7363-7415-B13B-7DA24F305D01}"/>
                  </a:ext>
                </a:extLst>
              </p:cNvPr>
              <p:cNvSpPr>
                <a:spLocks noGrp="1" noRot="1" noChangeAspect="1" noMove="1" noResize="1" noEditPoints="1" noAdjustHandles="1" noChangeArrowheads="1" noChangeShapeType="1" noTextEdit="1"/>
              </p:cNvSpPr>
              <p:nvPr>
                <p:ph sz="quarter" idx="1"/>
              </p:nvPr>
            </p:nvSpPr>
            <p:spPr>
              <a:blipFill>
                <a:blip r:embed="rId2"/>
                <a:stretch>
                  <a:fillRect l="-1471" t="-1385"/>
                </a:stretch>
              </a:blipFill>
            </p:spPr>
            <p:txBody>
              <a:bodyPr/>
              <a:lstStyle/>
              <a:p>
                <a:r>
                  <a:rPr lang="en-US">
                    <a:noFill/>
                  </a:rPr>
                  <a:t> </a:t>
                </a:r>
              </a:p>
            </p:txBody>
          </p:sp>
        </mc:Fallback>
      </mc:AlternateContent>
    </p:spTree>
    <p:extLst>
      <p:ext uri="{BB962C8B-B14F-4D97-AF65-F5344CB8AC3E}">
        <p14:creationId xmlns:p14="http://schemas.microsoft.com/office/powerpoint/2010/main" val="1688699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A006-314E-615F-944D-9866A4A771B2}"/>
              </a:ext>
            </a:extLst>
          </p:cNvPr>
          <p:cNvSpPr>
            <a:spLocks noGrp="1"/>
          </p:cNvSpPr>
          <p:nvPr>
            <p:ph type="title"/>
          </p:nvPr>
        </p:nvSpPr>
        <p:spPr/>
        <p:txBody>
          <a:bodyPr/>
          <a:lstStyle/>
          <a:p>
            <a:r>
              <a:rPr lang="en-US" dirty="0"/>
              <a:t>Holt Exponential Smoothing</a:t>
            </a:r>
          </a:p>
        </p:txBody>
      </p:sp>
      <p:sp>
        <p:nvSpPr>
          <p:cNvPr id="3" name="Slide Number Placeholder 2">
            <a:extLst>
              <a:ext uri="{FF2B5EF4-FFF2-40B4-BE49-F238E27FC236}">
                <a16:creationId xmlns:a16="http://schemas.microsoft.com/office/drawing/2014/main" id="{7643CF88-CD4C-0578-7AE8-545F52A1671C}"/>
              </a:ext>
            </a:extLst>
          </p:cNvPr>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A931944-7363-7415-B13B-7DA24F305D01}"/>
                  </a:ext>
                </a:extLst>
              </p:cNvPr>
              <p:cNvSpPr>
                <a:spLocks noGrp="1"/>
              </p:cNvSpPr>
              <p:nvPr>
                <p:ph sz="quarter" idx="1"/>
              </p:nvPr>
            </p:nvSpPr>
            <p:spPr/>
            <p:txBody>
              <a:bodyPr/>
              <a:lstStyle/>
              <a:p>
                <a:pPr marL="0" indent="0">
                  <a:buNone/>
                </a:pPr>
                <a:r>
                  <a:rPr lang="en-US" b="1" dirty="0"/>
                  <a:t>Example 5.6: </a:t>
                </a:r>
                <a:r>
                  <a:rPr lang="en-US" dirty="0"/>
                  <a:t>The data file “</a:t>
                </a:r>
                <a:r>
                  <a:rPr lang="en-US" dirty="0" err="1"/>
                  <a:t>Stock_Price</a:t>
                </a:r>
                <a:r>
                  <a:rPr lang="en-US" dirty="0"/>
                  <a:t>” contains 53 weeks of a company’s stock price. Implement Holt exponential smoothing method with smoothing parameters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CA" b="0" i="1" smtClean="0">
                        <a:latin typeface="Cambria Math" panose="02040503050406030204" pitchFamily="18" charset="0"/>
                        <a:ea typeface="Cambria Math" panose="02040503050406030204" pitchFamily="18" charset="0"/>
                      </a:rPr>
                      <m:t>=0.2</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=0.</m:t>
                    </m:r>
                    <m:r>
                      <a:rPr lang="en-CA" b="0" i="1" smtClean="0">
                        <a:latin typeface="Cambria Math" panose="02040503050406030204" pitchFamily="18" charset="0"/>
                        <a:ea typeface="Cambria Math" panose="02040503050406030204" pitchFamily="18" charset="0"/>
                      </a:rPr>
                      <m:t>1</m:t>
                    </m:r>
                  </m:oMath>
                </a14:m>
                <a:r>
                  <a:rPr lang="en-US" dirty="0"/>
                  <a:t>. </a:t>
                </a:r>
              </a:p>
            </p:txBody>
          </p:sp>
        </mc:Choice>
        <mc:Fallback xmlns="">
          <p:sp>
            <p:nvSpPr>
              <p:cNvPr id="4" name="Content Placeholder 3">
                <a:extLst>
                  <a:ext uri="{FF2B5EF4-FFF2-40B4-BE49-F238E27FC236}">
                    <a16:creationId xmlns:a16="http://schemas.microsoft.com/office/drawing/2014/main" id="{8A931944-7363-7415-B13B-7DA24F305D01}"/>
                  </a:ext>
                </a:extLst>
              </p:cNvPr>
              <p:cNvSpPr>
                <a:spLocks noGrp="1" noRot="1" noChangeAspect="1" noMove="1" noResize="1" noEditPoints="1" noAdjustHandles="1" noChangeArrowheads="1" noChangeShapeType="1" noTextEdit="1"/>
              </p:cNvSpPr>
              <p:nvPr>
                <p:ph sz="quarter" idx="1"/>
              </p:nvPr>
            </p:nvSpPr>
            <p:spPr>
              <a:blipFill>
                <a:blip r:embed="rId2"/>
                <a:stretch>
                  <a:fillRect l="-1471" t="-1385"/>
                </a:stretch>
              </a:blipFill>
            </p:spPr>
            <p:txBody>
              <a:bodyPr/>
              <a:lstStyle/>
              <a:p>
                <a:r>
                  <a:rPr lang="en-US">
                    <a:noFill/>
                  </a:rPr>
                  <a:t> </a:t>
                </a:r>
              </a:p>
            </p:txBody>
          </p:sp>
        </mc:Fallback>
      </mc:AlternateContent>
    </p:spTree>
    <p:extLst>
      <p:ext uri="{BB962C8B-B14F-4D97-AF65-F5344CB8AC3E}">
        <p14:creationId xmlns:p14="http://schemas.microsoft.com/office/powerpoint/2010/main" val="3932565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5011-20B1-EE0C-B1F4-F02BAA94B5F2}"/>
              </a:ext>
            </a:extLst>
          </p:cNvPr>
          <p:cNvSpPr>
            <a:spLocks noGrp="1"/>
          </p:cNvSpPr>
          <p:nvPr>
            <p:ph type="title"/>
          </p:nvPr>
        </p:nvSpPr>
        <p:spPr/>
        <p:txBody>
          <a:bodyPr/>
          <a:lstStyle/>
          <a:p>
            <a:r>
              <a:rPr lang="en-US" dirty="0"/>
              <a:t>Time-Series Forecasting</a:t>
            </a:r>
          </a:p>
        </p:txBody>
      </p:sp>
      <p:sp>
        <p:nvSpPr>
          <p:cNvPr id="3" name="Slide Number Placeholder 2">
            <a:extLst>
              <a:ext uri="{FF2B5EF4-FFF2-40B4-BE49-F238E27FC236}">
                <a16:creationId xmlns:a16="http://schemas.microsoft.com/office/drawing/2014/main" id="{332069B8-85B3-99F3-77EA-70DC76AE0277}"/>
              </a:ext>
            </a:extLst>
          </p:cNvPr>
          <p:cNvSpPr>
            <a:spLocks noGrp="1"/>
          </p:cNvSpPr>
          <p:nvPr>
            <p:ph type="sldNum" sz="quarter" idx="12"/>
          </p:nvPr>
        </p:nvSpPr>
        <p:spPr/>
        <p:txBody>
          <a:bodyPr/>
          <a:lstStyle/>
          <a:p>
            <a:fld id="{B6F15528-21DE-4FAA-801E-634DDDAF4B2B}" type="slidenum">
              <a:rPr lang="en-US" smtClean="0"/>
              <a:pPr/>
              <a:t>22</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41D37F5-EA72-509E-9F08-2CB5BB927ACC}"/>
                  </a:ext>
                </a:extLst>
              </p:cNvPr>
              <p:cNvSpPr>
                <a:spLocks noGrp="1"/>
              </p:cNvSpPr>
              <p:nvPr>
                <p:ph sz="quarter" idx="1"/>
              </p:nvPr>
            </p:nvSpPr>
            <p:spPr>
              <a:xfrm>
                <a:off x="914400" y="1447800"/>
                <a:ext cx="7772400" cy="5005536"/>
              </a:xfrm>
            </p:spPr>
            <p:txBody>
              <a:bodyPr/>
              <a:lstStyle/>
              <a:p>
                <a:r>
                  <a:rPr lang="en-US" b="1" dirty="0">
                    <a:solidFill>
                      <a:srgbClr val="FF0000"/>
                    </a:solidFill>
                  </a:rPr>
                  <a:t>Simple smoothing techniques</a:t>
                </a:r>
              </a:p>
              <a:p>
                <a:r>
                  <a:rPr lang="en-US" b="1" dirty="0">
                    <a:solidFill>
                      <a:srgbClr val="FF0000"/>
                    </a:solidFill>
                  </a:rPr>
                  <a:t>Models for trend and seasonality:</a:t>
                </a:r>
              </a:p>
              <a:p>
                <a:pPr marL="777240" lvl="1" indent="-457200">
                  <a:buFont typeface="+mj-lt"/>
                  <a:buAutoNum type="arabicPeriod" startAt="2"/>
                </a:pPr>
                <a:r>
                  <a:rPr lang="en-US" b="1" dirty="0"/>
                  <a:t>Linear trend model: </a:t>
                </a:r>
                <a:r>
                  <a:rPr lang="en-US" dirty="0"/>
                  <a:t>The linear trend model is a linear regression model that uses time as the predictor</a:t>
                </a:r>
              </a:p>
              <a:p>
                <a:pPr marL="320040" lvl="1" inden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CA" b="0" i="1" smtClean="0">
                                  <a:latin typeface="Cambria Math" panose="02040503050406030204" pitchFamily="18" charset="0"/>
                                </a:rPr>
                                <m:t>𝑦</m:t>
                              </m:r>
                            </m:e>
                          </m:acc>
                        </m:e>
                        <m:sub>
                          <m:r>
                            <a:rPr lang="en-CA" b="0" i="1" smtClean="0">
                              <a:latin typeface="Cambria Math" panose="02040503050406030204" pitchFamily="18" charset="0"/>
                            </a:rPr>
                            <m:t>𝑡</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0</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1</m:t>
                          </m:r>
                        </m:sub>
                      </m:sSub>
                      <m:r>
                        <a:rPr lang="en-CA" b="0" i="1" smtClean="0">
                          <a:latin typeface="Cambria Math" panose="02040503050406030204" pitchFamily="18" charset="0"/>
                        </a:rPr>
                        <m:t>𝑡</m:t>
                      </m:r>
                    </m:oMath>
                  </m:oMathPara>
                </a14:m>
                <a:endParaRPr lang="en-US" b="1" dirty="0"/>
              </a:p>
              <a:p>
                <a:pPr lvl="1"/>
                <a14:m>
                  <m:oMath xmlns:m="http://schemas.openxmlformats.org/officeDocument/2006/math">
                    <m:r>
                      <a:rPr lang="en-CA" b="0" i="1" smtClean="0">
                        <a:latin typeface="Cambria Math" panose="02040503050406030204" pitchFamily="18" charset="0"/>
                      </a:rPr>
                      <m:t>𝑡</m:t>
                    </m:r>
                  </m:oMath>
                </a14:m>
                <a:r>
                  <a:rPr lang="en-US" dirty="0"/>
                  <a:t> is the predictor variable corresponding to consecutive time periods.</a:t>
                </a:r>
              </a:p>
              <a:p>
                <a:pPr lvl="1"/>
                <a:r>
                  <a:rPr lang="en-US" dirty="0"/>
                  <a:t>We use this model to extract long-term upward or downward movements of the time series.</a:t>
                </a:r>
              </a:p>
              <a:p>
                <a:pPr lvl="1"/>
                <a:r>
                  <a:rPr lang="en-US" dirty="0"/>
                  <a:t>Appropriate when the time series does not exhibit seasonal variations or has been stripped of its seasonal variation.</a:t>
                </a:r>
              </a:p>
            </p:txBody>
          </p:sp>
        </mc:Choice>
        <mc:Fallback xmlns="">
          <p:sp>
            <p:nvSpPr>
              <p:cNvPr id="4" name="Content Placeholder 3">
                <a:extLst>
                  <a:ext uri="{FF2B5EF4-FFF2-40B4-BE49-F238E27FC236}">
                    <a16:creationId xmlns:a16="http://schemas.microsoft.com/office/drawing/2014/main" id="{B41D37F5-EA72-509E-9F08-2CB5BB927ACC}"/>
                  </a:ext>
                </a:extLst>
              </p:cNvPr>
              <p:cNvSpPr>
                <a:spLocks noGrp="1" noRot="1" noChangeAspect="1" noMove="1" noResize="1" noEditPoints="1" noAdjustHandles="1" noChangeArrowheads="1" noChangeShapeType="1" noTextEdit="1"/>
              </p:cNvSpPr>
              <p:nvPr>
                <p:ph sz="quarter" idx="1"/>
              </p:nvPr>
            </p:nvSpPr>
            <p:spPr>
              <a:xfrm>
                <a:off x="914400" y="1447800"/>
                <a:ext cx="7772400" cy="5005536"/>
              </a:xfrm>
              <a:blipFill>
                <a:blip r:embed="rId3"/>
                <a:stretch>
                  <a:fillRect l="-817" t="-1266" r="-1471"/>
                </a:stretch>
              </a:blipFill>
            </p:spPr>
            <p:txBody>
              <a:bodyPr/>
              <a:lstStyle/>
              <a:p>
                <a:r>
                  <a:rPr lang="en-US">
                    <a:noFill/>
                  </a:rPr>
                  <a:t> </a:t>
                </a:r>
              </a:p>
            </p:txBody>
          </p:sp>
        </mc:Fallback>
      </mc:AlternateContent>
    </p:spTree>
    <p:extLst>
      <p:ext uri="{BB962C8B-B14F-4D97-AF65-F5344CB8AC3E}">
        <p14:creationId xmlns:p14="http://schemas.microsoft.com/office/powerpoint/2010/main" val="3868291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1D38-D4B7-DE6D-0CDA-56D0B0149B2C}"/>
              </a:ext>
            </a:extLst>
          </p:cNvPr>
          <p:cNvSpPr>
            <a:spLocks noGrp="1"/>
          </p:cNvSpPr>
          <p:nvPr>
            <p:ph type="title"/>
          </p:nvPr>
        </p:nvSpPr>
        <p:spPr/>
        <p:txBody>
          <a:bodyPr/>
          <a:lstStyle/>
          <a:p>
            <a:r>
              <a:rPr lang="en-US" dirty="0"/>
              <a:t>Linear Trend Model</a:t>
            </a:r>
          </a:p>
        </p:txBody>
      </p:sp>
      <p:sp>
        <p:nvSpPr>
          <p:cNvPr id="3" name="Slide Number Placeholder 2">
            <a:extLst>
              <a:ext uri="{FF2B5EF4-FFF2-40B4-BE49-F238E27FC236}">
                <a16:creationId xmlns:a16="http://schemas.microsoft.com/office/drawing/2014/main" id="{B03EA017-A1E2-A404-FACD-718C1DA99765}"/>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4" name="Content Placeholder 3">
            <a:extLst>
              <a:ext uri="{FF2B5EF4-FFF2-40B4-BE49-F238E27FC236}">
                <a16:creationId xmlns:a16="http://schemas.microsoft.com/office/drawing/2014/main" id="{E40BB749-39B6-387E-3E10-1E0EBDC3F430}"/>
              </a:ext>
            </a:extLst>
          </p:cNvPr>
          <p:cNvSpPr>
            <a:spLocks noGrp="1"/>
          </p:cNvSpPr>
          <p:nvPr>
            <p:ph sz="quarter" idx="1"/>
          </p:nvPr>
        </p:nvSpPr>
        <p:spPr>
          <a:xfrm>
            <a:off x="914400" y="1447800"/>
            <a:ext cx="7772400" cy="2773288"/>
          </a:xfrm>
        </p:spPr>
        <p:txBody>
          <a:bodyPr>
            <a:normAutofit fontScale="92500" lnSpcReduction="10000"/>
          </a:bodyPr>
          <a:lstStyle/>
          <a:p>
            <a:pPr marL="0" indent="0">
              <a:buNone/>
            </a:pPr>
            <a:r>
              <a:rPr lang="en-US" sz="2400" b="1" dirty="0"/>
              <a:t>Example 5.7:</a:t>
            </a:r>
            <a:r>
              <a:rPr lang="en-US" sz="2400" dirty="0"/>
              <a:t> A local organic food store carries several food products for health-conscious consumers.</a:t>
            </a:r>
          </a:p>
          <a:p>
            <a:pPr marL="0" indent="0">
              <a:buNone/>
            </a:pPr>
            <a:r>
              <a:rPr lang="en-US" sz="2400" dirty="0"/>
              <a:t>The store has witnessed a steady growth in the sale of chef-designed meals, which are especially popular with college-educated millennials.</a:t>
            </a:r>
          </a:p>
          <a:p>
            <a:pPr marL="0" indent="0">
              <a:buNone/>
            </a:pPr>
            <a:r>
              <a:rPr lang="en-US" sz="2400" dirty="0"/>
              <a:t>For planning purposes, the manager of the store would like to extract useful information from the weekly sales of chef-designed meals for the past year.</a:t>
            </a:r>
          </a:p>
          <a:p>
            <a:endParaRPr lang="en-US" sz="1600" dirty="0"/>
          </a:p>
        </p:txBody>
      </p:sp>
      <p:graphicFrame>
        <p:nvGraphicFramePr>
          <p:cNvPr id="5" name="Table 4">
            <a:extLst>
              <a:ext uri="{FF2B5EF4-FFF2-40B4-BE49-F238E27FC236}">
                <a16:creationId xmlns:a16="http://schemas.microsoft.com/office/drawing/2014/main" id="{D3BC9F29-43A8-D057-69EC-ABECF21CB4B7}"/>
              </a:ext>
            </a:extLst>
          </p:cNvPr>
          <p:cNvGraphicFramePr>
            <a:graphicFrameLocks noGrp="1"/>
          </p:cNvGraphicFramePr>
          <p:nvPr>
            <p:extLst>
              <p:ext uri="{D42A27DB-BD31-4B8C-83A1-F6EECF244321}">
                <p14:modId xmlns:p14="http://schemas.microsoft.com/office/powerpoint/2010/main" val="2911511009"/>
              </p:ext>
            </p:extLst>
          </p:nvPr>
        </p:nvGraphicFramePr>
        <p:xfrm>
          <a:off x="2915816" y="4149080"/>
          <a:ext cx="3041431" cy="1676400"/>
        </p:xfrm>
        <a:graphic>
          <a:graphicData uri="http://schemas.openxmlformats.org/drawingml/2006/table">
            <a:tbl>
              <a:tblPr firstRow="1" bandRow="1">
                <a:tableStyleId>{5C22544A-7EE6-4342-B048-85BDC9FD1C3A}</a:tableStyleId>
              </a:tblPr>
              <a:tblGrid>
                <a:gridCol w="1480645">
                  <a:extLst>
                    <a:ext uri="{9D8B030D-6E8A-4147-A177-3AD203B41FA5}">
                      <a16:colId xmlns:a16="http://schemas.microsoft.com/office/drawing/2014/main" val="153691148"/>
                    </a:ext>
                  </a:extLst>
                </a:gridCol>
                <a:gridCol w="1560786">
                  <a:extLst>
                    <a:ext uri="{9D8B030D-6E8A-4147-A177-3AD203B41FA5}">
                      <a16:colId xmlns:a16="http://schemas.microsoft.com/office/drawing/2014/main" val="2195664551"/>
                    </a:ext>
                  </a:extLst>
                </a:gridCol>
              </a:tblGrid>
              <a:tr h="159295">
                <a:tc>
                  <a:txBody>
                    <a:bodyPr/>
                    <a:lstStyle/>
                    <a:p>
                      <a:endParaRPr lang="en-US" sz="1600" dirty="0"/>
                    </a:p>
                  </a:txBody>
                  <a:tcPr/>
                </a:tc>
                <a:tc>
                  <a:txBody>
                    <a:bodyPr/>
                    <a:lstStyle/>
                    <a:p>
                      <a:endParaRPr lang="en-US" sz="1600"/>
                    </a:p>
                  </a:txBody>
                  <a:tcPr/>
                </a:tc>
                <a:extLst>
                  <a:ext uri="{0D108BD9-81ED-4DB2-BD59-A6C34878D82A}">
                    <a16:rowId xmlns:a16="http://schemas.microsoft.com/office/drawing/2014/main" val="2142291383"/>
                  </a:ext>
                </a:extLst>
              </a:tr>
              <a:tr h="159295">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765222213"/>
                  </a:ext>
                </a:extLst>
              </a:tr>
              <a:tr h="159295">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278357404"/>
                  </a:ext>
                </a:extLst>
              </a:tr>
              <a:tr h="159295">
                <a:tc>
                  <a:txBody>
                    <a:bodyPr/>
                    <a:lstStyle/>
                    <a:p>
                      <a:endParaRPr lang="en-US" sz="1600" dirty="0"/>
                    </a:p>
                  </a:txBody>
                  <a:tcPr/>
                </a:tc>
                <a:tc>
                  <a:txBody>
                    <a:bodyPr/>
                    <a:lstStyle/>
                    <a:p>
                      <a:endParaRPr lang="en-US" sz="1600"/>
                    </a:p>
                  </a:txBody>
                  <a:tcPr/>
                </a:tc>
                <a:extLst>
                  <a:ext uri="{0D108BD9-81ED-4DB2-BD59-A6C34878D82A}">
                    <a16:rowId xmlns:a16="http://schemas.microsoft.com/office/drawing/2014/main" val="3837421350"/>
                  </a:ext>
                </a:extLst>
              </a:tr>
              <a:tr h="159295">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458151278"/>
                  </a:ext>
                </a:extLst>
              </a:tr>
            </a:tbl>
          </a:graphicData>
        </a:graphic>
      </p:graphicFrame>
      <p:graphicFrame>
        <p:nvGraphicFramePr>
          <p:cNvPr id="6" name="Object 5">
            <a:extLst>
              <a:ext uri="{FF2B5EF4-FFF2-40B4-BE49-F238E27FC236}">
                <a16:creationId xmlns:a16="http://schemas.microsoft.com/office/drawing/2014/main" id="{4C1F8A88-A69C-0239-49D6-44213C1CD110}"/>
              </a:ext>
            </a:extLst>
          </p:cNvPr>
          <p:cNvGraphicFramePr>
            <a:graphicFrameLocks noChangeAspect="1"/>
          </p:cNvGraphicFramePr>
          <p:nvPr>
            <p:extLst>
              <p:ext uri="{D42A27DB-BD31-4B8C-83A1-F6EECF244321}">
                <p14:modId xmlns:p14="http://schemas.microsoft.com/office/powerpoint/2010/main" val="4008095484"/>
              </p:ext>
            </p:extLst>
          </p:nvPr>
        </p:nvGraphicFramePr>
        <p:xfrm>
          <a:off x="3452175" y="4230080"/>
          <a:ext cx="558800" cy="201613"/>
        </p:xfrm>
        <a:graphic>
          <a:graphicData uri="http://schemas.openxmlformats.org/presentationml/2006/ole">
            <mc:AlternateContent xmlns:mc="http://schemas.openxmlformats.org/markup-compatibility/2006">
              <mc:Choice xmlns:v="urn:schemas-microsoft-com:vml" Requires="v">
                <p:oleObj name="Equation" r:id="rId2" imgW="558720" imgH="203040" progId="Equation.DSMT4">
                  <p:embed/>
                </p:oleObj>
              </mc:Choice>
              <mc:Fallback>
                <p:oleObj name="Equation" r:id="rId2" imgW="558720" imgH="203040" progId="Equation.DSMT4">
                  <p:embed/>
                  <p:pic>
                    <p:nvPicPr>
                      <p:cNvPr id="6" name="Object 5">
                        <a:extLst>
                          <a:ext uri="{FF2B5EF4-FFF2-40B4-BE49-F238E27FC236}">
                            <a16:creationId xmlns:a16="http://schemas.microsoft.com/office/drawing/2014/main" id="{4C1F8A88-A69C-0239-49D6-44213C1CD110}"/>
                          </a:ext>
                        </a:extLst>
                      </p:cNvPr>
                      <p:cNvPicPr>
                        <a:picLocks noChangeAspect="1" noChangeArrowheads="1"/>
                      </p:cNvPicPr>
                      <p:nvPr/>
                    </p:nvPicPr>
                    <p:blipFill>
                      <a:blip r:embed="rId3"/>
                      <a:srcRect/>
                      <a:stretch>
                        <a:fillRect/>
                      </a:stretch>
                    </p:blipFill>
                    <p:spPr bwMode="auto">
                      <a:xfrm>
                        <a:off x="3452175" y="4230080"/>
                        <a:ext cx="558800" cy="201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C25A708E-18ED-4EEE-EE75-0246ADBC6E4C}"/>
              </a:ext>
            </a:extLst>
          </p:cNvPr>
          <p:cNvGraphicFramePr>
            <a:graphicFrameLocks noChangeAspect="1"/>
          </p:cNvGraphicFramePr>
          <p:nvPr>
            <p:extLst>
              <p:ext uri="{D42A27DB-BD31-4B8C-83A1-F6EECF244321}">
                <p14:modId xmlns:p14="http://schemas.microsoft.com/office/powerpoint/2010/main" val="1095547543"/>
              </p:ext>
            </p:extLst>
          </p:nvPr>
        </p:nvGraphicFramePr>
        <p:xfrm>
          <a:off x="5025155" y="4221720"/>
          <a:ext cx="482600" cy="201612"/>
        </p:xfrm>
        <a:graphic>
          <a:graphicData uri="http://schemas.openxmlformats.org/presentationml/2006/ole">
            <mc:AlternateContent xmlns:mc="http://schemas.openxmlformats.org/markup-compatibility/2006">
              <mc:Choice xmlns:v="urn:schemas-microsoft-com:vml" Requires="v">
                <p:oleObj name="Equation" r:id="rId4" imgW="482400" imgH="203040" progId="Equation.DSMT4">
                  <p:embed/>
                </p:oleObj>
              </mc:Choice>
              <mc:Fallback>
                <p:oleObj name="Equation" r:id="rId4" imgW="482400" imgH="203040" progId="Equation.DSMT4">
                  <p:embed/>
                  <p:pic>
                    <p:nvPicPr>
                      <p:cNvPr id="7" name="Object 6">
                        <a:extLst>
                          <a:ext uri="{FF2B5EF4-FFF2-40B4-BE49-F238E27FC236}">
                            <a16:creationId xmlns:a16="http://schemas.microsoft.com/office/drawing/2014/main" id="{C25A708E-18ED-4EEE-EE75-0246ADBC6E4C}"/>
                          </a:ext>
                        </a:extLst>
                      </p:cNvPr>
                      <p:cNvPicPr>
                        <a:picLocks noChangeAspect="1" noChangeArrowheads="1"/>
                      </p:cNvPicPr>
                      <p:nvPr/>
                    </p:nvPicPr>
                    <p:blipFill>
                      <a:blip r:embed="rId5"/>
                      <a:srcRect/>
                      <a:stretch>
                        <a:fillRect/>
                      </a:stretch>
                    </p:blipFill>
                    <p:spPr bwMode="auto">
                      <a:xfrm>
                        <a:off x="5025155" y="4221720"/>
                        <a:ext cx="482600" cy="201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E034B1A8-AF2C-1A53-D9EA-10B66887E57E}"/>
              </a:ext>
            </a:extLst>
          </p:cNvPr>
          <p:cNvGraphicFramePr>
            <a:graphicFrameLocks noChangeAspect="1"/>
          </p:cNvGraphicFramePr>
          <p:nvPr>
            <p:extLst>
              <p:ext uri="{D42A27DB-BD31-4B8C-83A1-F6EECF244321}">
                <p14:modId xmlns:p14="http://schemas.microsoft.com/office/powerpoint/2010/main" val="1906506681"/>
              </p:ext>
            </p:extLst>
          </p:nvPr>
        </p:nvGraphicFramePr>
        <p:xfrm>
          <a:off x="3644876" y="4540133"/>
          <a:ext cx="101600" cy="188913"/>
        </p:xfrm>
        <a:graphic>
          <a:graphicData uri="http://schemas.openxmlformats.org/presentationml/2006/ole">
            <mc:AlternateContent xmlns:mc="http://schemas.openxmlformats.org/markup-compatibility/2006">
              <mc:Choice xmlns:v="urn:schemas-microsoft-com:vml" Requires="v">
                <p:oleObj name="Equation" r:id="rId6" imgW="101520" imgH="190440" progId="Equation.DSMT4">
                  <p:embed/>
                </p:oleObj>
              </mc:Choice>
              <mc:Fallback>
                <p:oleObj name="Equation" r:id="rId6" imgW="101520" imgH="190440" progId="Equation.DSMT4">
                  <p:embed/>
                  <p:pic>
                    <p:nvPicPr>
                      <p:cNvPr id="8" name="Object 7">
                        <a:extLst>
                          <a:ext uri="{FF2B5EF4-FFF2-40B4-BE49-F238E27FC236}">
                            <a16:creationId xmlns:a16="http://schemas.microsoft.com/office/drawing/2014/main" id="{E034B1A8-AF2C-1A53-D9EA-10B66887E57E}"/>
                          </a:ext>
                        </a:extLst>
                      </p:cNvPr>
                      <p:cNvPicPr>
                        <a:picLocks noChangeAspect="1" noChangeArrowheads="1"/>
                      </p:cNvPicPr>
                      <p:nvPr/>
                    </p:nvPicPr>
                    <p:blipFill>
                      <a:blip r:embed="rId7"/>
                      <a:srcRect/>
                      <a:stretch>
                        <a:fillRect/>
                      </a:stretch>
                    </p:blipFill>
                    <p:spPr bwMode="auto">
                      <a:xfrm>
                        <a:off x="3644876" y="4540133"/>
                        <a:ext cx="101600" cy="188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a:extLst>
              <a:ext uri="{FF2B5EF4-FFF2-40B4-BE49-F238E27FC236}">
                <a16:creationId xmlns:a16="http://schemas.microsoft.com/office/drawing/2014/main" id="{83756BF0-C30F-319A-F92F-0BFA9A490DA0}"/>
              </a:ext>
            </a:extLst>
          </p:cNvPr>
          <p:cNvGraphicFramePr>
            <a:graphicFrameLocks noChangeAspect="1"/>
          </p:cNvGraphicFramePr>
          <p:nvPr>
            <p:extLst>
              <p:ext uri="{D42A27DB-BD31-4B8C-83A1-F6EECF244321}">
                <p14:modId xmlns:p14="http://schemas.microsoft.com/office/powerpoint/2010/main" val="868193156"/>
              </p:ext>
            </p:extLst>
          </p:nvPr>
        </p:nvGraphicFramePr>
        <p:xfrm>
          <a:off x="5095005" y="4548734"/>
          <a:ext cx="419100" cy="201612"/>
        </p:xfrm>
        <a:graphic>
          <a:graphicData uri="http://schemas.openxmlformats.org/presentationml/2006/ole">
            <mc:AlternateContent xmlns:mc="http://schemas.openxmlformats.org/markup-compatibility/2006">
              <mc:Choice xmlns:v="urn:schemas-microsoft-com:vml" Requires="v">
                <p:oleObj name="Equation" r:id="rId8" imgW="419040" imgH="203040" progId="Equation.DSMT4">
                  <p:embed/>
                </p:oleObj>
              </mc:Choice>
              <mc:Fallback>
                <p:oleObj name="Equation" r:id="rId8" imgW="419040" imgH="203040" progId="Equation.DSMT4">
                  <p:embed/>
                  <p:pic>
                    <p:nvPicPr>
                      <p:cNvPr id="9" name="Object 8">
                        <a:extLst>
                          <a:ext uri="{FF2B5EF4-FFF2-40B4-BE49-F238E27FC236}">
                            <a16:creationId xmlns:a16="http://schemas.microsoft.com/office/drawing/2014/main" id="{83756BF0-C30F-319A-F92F-0BFA9A490DA0}"/>
                          </a:ext>
                        </a:extLst>
                      </p:cNvPr>
                      <p:cNvPicPr>
                        <a:picLocks noChangeAspect="1" noChangeArrowheads="1"/>
                      </p:cNvPicPr>
                      <p:nvPr/>
                    </p:nvPicPr>
                    <p:blipFill>
                      <a:blip r:embed="rId9"/>
                      <a:srcRect/>
                      <a:stretch>
                        <a:fillRect/>
                      </a:stretch>
                    </p:blipFill>
                    <p:spPr bwMode="auto">
                      <a:xfrm>
                        <a:off x="5095005" y="4548734"/>
                        <a:ext cx="419100" cy="201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extLst>
              <a:ext uri="{FF2B5EF4-FFF2-40B4-BE49-F238E27FC236}">
                <a16:creationId xmlns:a16="http://schemas.microsoft.com/office/drawing/2014/main" id="{12591BA6-C4A5-3EEB-3534-D900A4DBB4C1}"/>
              </a:ext>
            </a:extLst>
          </p:cNvPr>
          <p:cNvGraphicFramePr>
            <a:graphicFrameLocks noChangeAspect="1"/>
          </p:cNvGraphicFramePr>
          <p:nvPr>
            <p:extLst>
              <p:ext uri="{D42A27DB-BD31-4B8C-83A1-F6EECF244321}">
                <p14:modId xmlns:p14="http://schemas.microsoft.com/office/powerpoint/2010/main" val="2095008559"/>
              </p:ext>
            </p:extLst>
          </p:nvPr>
        </p:nvGraphicFramePr>
        <p:xfrm>
          <a:off x="3616996" y="4899443"/>
          <a:ext cx="139700" cy="188912"/>
        </p:xfrm>
        <a:graphic>
          <a:graphicData uri="http://schemas.openxmlformats.org/presentationml/2006/ole">
            <mc:AlternateContent xmlns:mc="http://schemas.openxmlformats.org/markup-compatibility/2006">
              <mc:Choice xmlns:v="urn:schemas-microsoft-com:vml" Requires="v">
                <p:oleObj name="Equation" r:id="rId10" imgW="139680" imgH="190440" progId="Equation.DSMT4">
                  <p:embed/>
                </p:oleObj>
              </mc:Choice>
              <mc:Fallback>
                <p:oleObj name="Equation" r:id="rId10" imgW="139680" imgH="190440" progId="Equation.DSMT4">
                  <p:embed/>
                  <p:pic>
                    <p:nvPicPr>
                      <p:cNvPr id="10" name="Object 9">
                        <a:extLst>
                          <a:ext uri="{FF2B5EF4-FFF2-40B4-BE49-F238E27FC236}">
                            <a16:creationId xmlns:a16="http://schemas.microsoft.com/office/drawing/2014/main" id="{12591BA6-C4A5-3EEB-3534-D900A4DBB4C1}"/>
                          </a:ext>
                        </a:extLst>
                      </p:cNvPr>
                      <p:cNvPicPr>
                        <a:picLocks noChangeAspect="1" noChangeArrowheads="1"/>
                      </p:cNvPicPr>
                      <p:nvPr/>
                    </p:nvPicPr>
                    <p:blipFill>
                      <a:blip r:embed="rId11"/>
                      <a:srcRect/>
                      <a:stretch>
                        <a:fillRect/>
                      </a:stretch>
                    </p:blipFill>
                    <p:spPr bwMode="auto">
                      <a:xfrm>
                        <a:off x="3616996" y="4899443"/>
                        <a:ext cx="139700" cy="188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a:extLst>
              <a:ext uri="{FF2B5EF4-FFF2-40B4-BE49-F238E27FC236}">
                <a16:creationId xmlns:a16="http://schemas.microsoft.com/office/drawing/2014/main" id="{CDB5236A-23F6-1608-21C5-001DA10F94F5}"/>
              </a:ext>
            </a:extLst>
          </p:cNvPr>
          <p:cNvGraphicFramePr>
            <a:graphicFrameLocks noChangeAspect="1"/>
          </p:cNvGraphicFramePr>
          <p:nvPr>
            <p:extLst>
              <p:ext uri="{D42A27DB-BD31-4B8C-83A1-F6EECF244321}">
                <p14:modId xmlns:p14="http://schemas.microsoft.com/office/powerpoint/2010/main" val="43617958"/>
              </p:ext>
            </p:extLst>
          </p:nvPr>
        </p:nvGraphicFramePr>
        <p:xfrm>
          <a:off x="5088826" y="4895428"/>
          <a:ext cx="435742" cy="197641"/>
        </p:xfrm>
        <a:graphic>
          <a:graphicData uri="http://schemas.openxmlformats.org/presentationml/2006/ole">
            <mc:AlternateContent xmlns:mc="http://schemas.openxmlformats.org/markup-compatibility/2006">
              <mc:Choice xmlns:v="urn:schemas-microsoft-com:vml" Requires="v">
                <p:oleObj name="Equation" r:id="rId12" imgW="444240" imgH="203040" progId="Equation.DSMT4">
                  <p:embed/>
                </p:oleObj>
              </mc:Choice>
              <mc:Fallback>
                <p:oleObj name="Equation" r:id="rId12" imgW="444240" imgH="203040" progId="Equation.DSMT4">
                  <p:embed/>
                  <p:pic>
                    <p:nvPicPr>
                      <p:cNvPr id="11" name="Object 10">
                        <a:extLst>
                          <a:ext uri="{FF2B5EF4-FFF2-40B4-BE49-F238E27FC236}">
                            <a16:creationId xmlns:a16="http://schemas.microsoft.com/office/drawing/2014/main" id="{CDB5236A-23F6-1608-21C5-001DA10F94F5}"/>
                          </a:ext>
                        </a:extLst>
                      </p:cNvPr>
                      <p:cNvPicPr>
                        <a:picLocks noChangeAspect="1" noChangeArrowheads="1"/>
                      </p:cNvPicPr>
                      <p:nvPr/>
                    </p:nvPicPr>
                    <p:blipFill>
                      <a:blip r:embed="rId13"/>
                      <a:srcRect/>
                      <a:stretch>
                        <a:fillRect/>
                      </a:stretch>
                    </p:blipFill>
                    <p:spPr bwMode="auto">
                      <a:xfrm>
                        <a:off x="5088826" y="4895428"/>
                        <a:ext cx="435742" cy="1976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a:extLst>
              <a:ext uri="{FF2B5EF4-FFF2-40B4-BE49-F238E27FC236}">
                <a16:creationId xmlns:a16="http://schemas.microsoft.com/office/drawing/2014/main" id="{5FD80BBF-7775-0952-8AF3-40ECC204F8E4}"/>
              </a:ext>
            </a:extLst>
          </p:cNvPr>
          <p:cNvGraphicFramePr>
            <a:graphicFrameLocks noChangeAspect="1"/>
          </p:cNvGraphicFramePr>
          <p:nvPr>
            <p:extLst>
              <p:ext uri="{D42A27DB-BD31-4B8C-83A1-F6EECF244321}">
                <p14:modId xmlns:p14="http://schemas.microsoft.com/office/powerpoint/2010/main" val="216453406"/>
              </p:ext>
            </p:extLst>
          </p:nvPr>
        </p:nvGraphicFramePr>
        <p:xfrm>
          <a:off x="3655375" y="5215377"/>
          <a:ext cx="76200" cy="214313"/>
        </p:xfrm>
        <a:graphic>
          <a:graphicData uri="http://schemas.openxmlformats.org/presentationml/2006/ole">
            <mc:AlternateContent xmlns:mc="http://schemas.openxmlformats.org/markup-compatibility/2006">
              <mc:Choice xmlns:v="urn:schemas-microsoft-com:vml" Requires="v">
                <p:oleObj name="Equation" r:id="rId14" imgW="75960" imgH="215640" progId="Equation.DSMT4">
                  <p:embed/>
                </p:oleObj>
              </mc:Choice>
              <mc:Fallback>
                <p:oleObj name="Equation" r:id="rId14" imgW="75960" imgH="215640" progId="Equation.DSMT4">
                  <p:embed/>
                  <p:pic>
                    <p:nvPicPr>
                      <p:cNvPr id="12" name="Object 11">
                        <a:extLst>
                          <a:ext uri="{FF2B5EF4-FFF2-40B4-BE49-F238E27FC236}">
                            <a16:creationId xmlns:a16="http://schemas.microsoft.com/office/drawing/2014/main" id="{5FD80BBF-7775-0952-8AF3-40ECC204F8E4}"/>
                          </a:ext>
                        </a:extLst>
                      </p:cNvPr>
                      <p:cNvPicPr>
                        <a:picLocks noChangeAspect="1" noChangeArrowheads="1"/>
                      </p:cNvPicPr>
                      <p:nvPr/>
                    </p:nvPicPr>
                    <p:blipFill>
                      <a:blip r:embed="rId15"/>
                      <a:srcRect/>
                      <a:stretch>
                        <a:fillRect/>
                      </a:stretch>
                    </p:blipFill>
                    <p:spPr bwMode="auto">
                      <a:xfrm>
                        <a:off x="3655375" y="5215377"/>
                        <a:ext cx="762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E4BB0A02-55E4-D7C1-5A1A-4ACF111DD3C1}"/>
              </a:ext>
            </a:extLst>
          </p:cNvPr>
          <p:cNvGraphicFramePr>
            <a:graphicFrameLocks noChangeAspect="1"/>
          </p:cNvGraphicFramePr>
          <p:nvPr>
            <p:extLst>
              <p:ext uri="{D42A27DB-BD31-4B8C-83A1-F6EECF244321}">
                <p14:modId xmlns:p14="http://schemas.microsoft.com/office/powerpoint/2010/main" val="2671222832"/>
              </p:ext>
            </p:extLst>
          </p:nvPr>
        </p:nvGraphicFramePr>
        <p:xfrm>
          <a:off x="5266455" y="5229753"/>
          <a:ext cx="76200" cy="214313"/>
        </p:xfrm>
        <a:graphic>
          <a:graphicData uri="http://schemas.openxmlformats.org/presentationml/2006/ole">
            <mc:AlternateContent xmlns:mc="http://schemas.openxmlformats.org/markup-compatibility/2006">
              <mc:Choice xmlns:v="urn:schemas-microsoft-com:vml" Requires="v">
                <p:oleObj name="Equation" r:id="rId14" imgW="75960" imgH="215640" progId="Equation.DSMT4">
                  <p:embed/>
                </p:oleObj>
              </mc:Choice>
              <mc:Fallback>
                <p:oleObj name="Equation" r:id="rId14" imgW="75960" imgH="215640" progId="Equation.DSMT4">
                  <p:embed/>
                  <p:pic>
                    <p:nvPicPr>
                      <p:cNvPr id="13" name="Object 12">
                        <a:extLst>
                          <a:ext uri="{FF2B5EF4-FFF2-40B4-BE49-F238E27FC236}">
                            <a16:creationId xmlns:a16="http://schemas.microsoft.com/office/drawing/2014/main" id="{E4BB0A02-55E4-D7C1-5A1A-4ACF111DD3C1}"/>
                          </a:ext>
                        </a:extLst>
                      </p:cNvPr>
                      <p:cNvPicPr>
                        <a:picLocks noChangeAspect="1" noChangeArrowheads="1"/>
                      </p:cNvPicPr>
                      <p:nvPr/>
                    </p:nvPicPr>
                    <p:blipFill>
                      <a:blip r:embed="rId15"/>
                      <a:srcRect/>
                      <a:stretch>
                        <a:fillRect/>
                      </a:stretch>
                    </p:blipFill>
                    <p:spPr bwMode="auto">
                      <a:xfrm>
                        <a:off x="5266455" y="5229753"/>
                        <a:ext cx="762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a:extLst>
              <a:ext uri="{FF2B5EF4-FFF2-40B4-BE49-F238E27FC236}">
                <a16:creationId xmlns:a16="http://schemas.microsoft.com/office/drawing/2014/main" id="{E39A2460-D27E-F59C-B51D-A020F6BAFC96}"/>
              </a:ext>
            </a:extLst>
          </p:cNvPr>
          <p:cNvGraphicFramePr>
            <a:graphicFrameLocks noChangeAspect="1"/>
          </p:cNvGraphicFramePr>
          <p:nvPr>
            <p:extLst>
              <p:ext uri="{D42A27DB-BD31-4B8C-83A1-F6EECF244321}">
                <p14:modId xmlns:p14="http://schemas.microsoft.com/office/powerpoint/2010/main" val="1833983980"/>
              </p:ext>
            </p:extLst>
          </p:nvPr>
        </p:nvGraphicFramePr>
        <p:xfrm>
          <a:off x="3569128" y="5551956"/>
          <a:ext cx="241300" cy="201613"/>
        </p:xfrm>
        <a:graphic>
          <a:graphicData uri="http://schemas.openxmlformats.org/presentationml/2006/ole">
            <mc:AlternateContent xmlns:mc="http://schemas.openxmlformats.org/markup-compatibility/2006">
              <mc:Choice xmlns:v="urn:schemas-microsoft-com:vml" Requires="v">
                <p:oleObj name="Equation" r:id="rId16" imgW="241200" imgH="203040" progId="Equation.DSMT4">
                  <p:embed/>
                </p:oleObj>
              </mc:Choice>
              <mc:Fallback>
                <p:oleObj name="Equation" r:id="rId16" imgW="241200" imgH="203040" progId="Equation.DSMT4">
                  <p:embed/>
                  <p:pic>
                    <p:nvPicPr>
                      <p:cNvPr id="14" name="Object 13">
                        <a:extLst>
                          <a:ext uri="{FF2B5EF4-FFF2-40B4-BE49-F238E27FC236}">
                            <a16:creationId xmlns:a16="http://schemas.microsoft.com/office/drawing/2014/main" id="{E39A2460-D27E-F59C-B51D-A020F6BAFC96}"/>
                          </a:ext>
                        </a:extLst>
                      </p:cNvPr>
                      <p:cNvPicPr>
                        <a:picLocks noChangeAspect="1" noChangeArrowheads="1"/>
                      </p:cNvPicPr>
                      <p:nvPr/>
                    </p:nvPicPr>
                    <p:blipFill>
                      <a:blip r:embed="rId17"/>
                      <a:srcRect/>
                      <a:stretch>
                        <a:fillRect/>
                      </a:stretch>
                    </p:blipFill>
                    <p:spPr bwMode="auto">
                      <a:xfrm>
                        <a:off x="3569128" y="5551956"/>
                        <a:ext cx="241300" cy="201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4">
            <a:extLst>
              <a:ext uri="{FF2B5EF4-FFF2-40B4-BE49-F238E27FC236}">
                <a16:creationId xmlns:a16="http://schemas.microsoft.com/office/drawing/2014/main" id="{0C936FC1-88A1-935D-2968-E685A6F88716}"/>
              </a:ext>
            </a:extLst>
          </p:cNvPr>
          <p:cNvGraphicFramePr>
            <a:graphicFrameLocks noChangeAspect="1"/>
          </p:cNvGraphicFramePr>
          <p:nvPr>
            <p:extLst>
              <p:ext uri="{D42A27DB-BD31-4B8C-83A1-F6EECF244321}">
                <p14:modId xmlns:p14="http://schemas.microsoft.com/office/powerpoint/2010/main" val="183042635"/>
              </p:ext>
            </p:extLst>
          </p:nvPr>
        </p:nvGraphicFramePr>
        <p:xfrm>
          <a:off x="5092496" y="5551956"/>
          <a:ext cx="440479" cy="205665"/>
        </p:xfrm>
        <a:graphic>
          <a:graphicData uri="http://schemas.openxmlformats.org/presentationml/2006/ole">
            <mc:AlternateContent xmlns:mc="http://schemas.openxmlformats.org/markup-compatibility/2006">
              <mc:Choice xmlns:v="urn:schemas-microsoft-com:vml" Requires="v">
                <p:oleObj name="Equation" r:id="rId18" imgW="431640" imgH="203040" progId="Equation.DSMT4">
                  <p:embed/>
                </p:oleObj>
              </mc:Choice>
              <mc:Fallback>
                <p:oleObj name="Equation" r:id="rId18" imgW="431640" imgH="203040" progId="Equation.DSMT4">
                  <p:embed/>
                  <p:pic>
                    <p:nvPicPr>
                      <p:cNvPr id="15" name="Object 14">
                        <a:extLst>
                          <a:ext uri="{FF2B5EF4-FFF2-40B4-BE49-F238E27FC236}">
                            <a16:creationId xmlns:a16="http://schemas.microsoft.com/office/drawing/2014/main" id="{0C936FC1-88A1-935D-2968-E685A6F88716}"/>
                          </a:ext>
                        </a:extLst>
                      </p:cNvPr>
                      <p:cNvPicPr>
                        <a:picLocks noChangeAspect="1" noChangeArrowheads="1"/>
                      </p:cNvPicPr>
                      <p:nvPr/>
                    </p:nvPicPr>
                    <p:blipFill>
                      <a:blip r:embed="rId19"/>
                      <a:srcRect/>
                      <a:stretch>
                        <a:fillRect/>
                      </a:stretch>
                    </p:blipFill>
                    <p:spPr bwMode="auto">
                      <a:xfrm>
                        <a:off x="5092496" y="5551956"/>
                        <a:ext cx="440479" cy="2056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Content Placeholder 3">
            <a:extLst>
              <a:ext uri="{FF2B5EF4-FFF2-40B4-BE49-F238E27FC236}">
                <a16:creationId xmlns:a16="http://schemas.microsoft.com/office/drawing/2014/main" id="{2ED5E0CA-9741-B5BB-E3A7-44F6C7EB9386}"/>
              </a:ext>
            </a:extLst>
          </p:cNvPr>
          <p:cNvSpPr txBox="1">
            <a:spLocks/>
          </p:cNvSpPr>
          <p:nvPr/>
        </p:nvSpPr>
        <p:spPr>
          <a:xfrm>
            <a:off x="914400" y="4149080"/>
            <a:ext cx="7772400" cy="2773288"/>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endParaRPr lang="en-US" sz="1600" dirty="0"/>
          </a:p>
        </p:txBody>
      </p:sp>
      <p:sp>
        <p:nvSpPr>
          <p:cNvPr id="19" name="Content Placeholder 3">
            <a:extLst>
              <a:ext uri="{FF2B5EF4-FFF2-40B4-BE49-F238E27FC236}">
                <a16:creationId xmlns:a16="http://schemas.microsoft.com/office/drawing/2014/main" id="{A792A5E8-41C0-C6F2-7009-371D81A243FE}"/>
              </a:ext>
            </a:extLst>
          </p:cNvPr>
          <p:cNvSpPr txBox="1">
            <a:spLocks/>
          </p:cNvSpPr>
          <p:nvPr/>
        </p:nvSpPr>
        <p:spPr>
          <a:xfrm>
            <a:off x="914400" y="5762561"/>
            <a:ext cx="7772400" cy="851242"/>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buFont typeface="Wingdings 2"/>
              <a:buNone/>
            </a:pPr>
            <a:r>
              <a:rPr lang="en-US" sz="2400" dirty="0"/>
              <a:t>Forecast the sales for the next four weeks using linear trend model.</a:t>
            </a:r>
            <a:endParaRPr lang="en-US" sz="1600" dirty="0"/>
          </a:p>
        </p:txBody>
      </p:sp>
    </p:spTree>
    <p:extLst>
      <p:ext uri="{BB962C8B-B14F-4D97-AF65-F5344CB8AC3E}">
        <p14:creationId xmlns:p14="http://schemas.microsoft.com/office/powerpoint/2010/main" val="1767613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1D38-D4B7-DE6D-0CDA-56D0B0149B2C}"/>
              </a:ext>
            </a:extLst>
          </p:cNvPr>
          <p:cNvSpPr>
            <a:spLocks noGrp="1"/>
          </p:cNvSpPr>
          <p:nvPr>
            <p:ph type="title"/>
          </p:nvPr>
        </p:nvSpPr>
        <p:spPr/>
        <p:txBody>
          <a:bodyPr/>
          <a:lstStyle/>
          <a:p>
            <a:r>
              <a:rPr lang="en-US" dirty="0"/>
              <a:t>Linear Trend Model</a:t>
            </a:r>
          </a:p>
        </p:txBody>
      </p:sp>
      <p:sp>
        <p:nvSpPr>
          <p:cNvPr id="3" name="Slide Number Placeholder 2">
            <a:extLst>
              <a:ext uri="{FF2B5EF4-FFF2-40B4-BE49-F238E27FC236}">
                <a16:creationId xmlns:a16="http://schemas.microsoft.com/office/drawing/2014/main" id="{B03EA017-A1E2-A404-FACD-718C1DA99765}"/>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4" name="Content Placeholder 3">
            <a:extLst>
              <a:ext uri="{FF2B5EF4-FFF2-40B4-BE49-F238E27FC236}">
                <a16:creationId xmlns:a16="http://schemas.microsoft.com/office/drawing/2014/main" id="{E40BB749-39B6-387E-3E10-1E0EBDC3F430}"/>
              </a:ext>
            </a:extLst>
          </p:cNvPr>
          <p:cNvSpPr>
            <a:spLocks noGrp="1"/>
          </p:cNvSpPr>
          <p:nvPr>
            <p:ph sz="quarter" idx="1"/>
          </p:nvPr>
        </p:nvSpPr>
        <p:spPr>
          <a:xfrm>
            <a:off x="914400" y="1447800"/>
            <a:ext cx="7772400" cy="4501480"/>
          </a:xfrm>
        </p:spPr>
        <p:txBody>
          <a:bodyPr>
            <a:normAutofit/>
          </a:bodyPr>
          <a:lstStyle/>
          <a:p>
            <a:pPr marL="0" indent="0">
              <a:buNone/>
            </a:pPr>
            <a:r>
              <a:rPr lang="en-US" sz="2400" b="1" dirty="0"/>
              <a:t>Example 5.8: </a:t>
            </a:r>
            <a:r>
              <a:rPr lang="en-US" sz="2400" dirty="0"/>
              <a:t>RBC Banks has been encouraging its customers to use its new mobile banking app. While this may be good for business, the bank has to deal with a number of inquiries it receives about the new app. The data file “Inquiries” includes weekly inquiries the bank has received over the past 30 weeks. Estimate the linear trend model to forecast the number of inquiries over the next two weeks.</a:t>
            </a:r>
            <a:endParaRPr lang="en-US" sz="1600" dirty="0"/>
          </a:p>
        </p:txBody>
      </p:sp>
      <p:sp>
        <p:nvSpPr>
          <p:cNvPr id="16" name="Content Placeholder 3">
            <a:extLst>
              <a:ext uri="{FF2B5EF4-FFF2-40B4-BE49-F238E27FC236}">
                <a16:creationId xmlns:a16="http://schemas.microsoft.com/office/drawing/2014/main" id="{2ED5E0CA-9741-B5BB-E3A7-44F6C7EB9386}"/>
              </a:ext>
            </a:extLst>
          </p:cNvPr>
          <p:cNvSpPr txBox="1">
            <a:spLocks/>
          </p:cNvSpPr>
          <p:nvPr/>
        </p:nvSpPr>
        <p:spPr>
          <a:xfrm>
            <a:off x="914400" y="4149080"/>
            <a:ext cx="7772400" cy="2773288"/>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endParaRPr lang="en-US" sz="1600" dirty="0"/>
          </a:p>
        </p:txBody>
      </p:sp>
    </p:spTree>
    <p:extLst>
      <p:ext uri="{BB962C8B-B14F-4D97-AF65-F5344CB8AC3E}">
        <p14:creationId xmlns:p14="http://schemas.microsoft.com/office/powerpoint/2010/main" val="2072980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A5A3-5675-B2DE-ED67-60929C6B8BBB}"/>
              </a:ext>
            </a:extLst>
          </p:cNvPr>
          <p:cNvSpPr>
            <a:spLocks noGrp="1"/>
          </p:cNvSpPr>
          <p:nvPr>
            <p:ph type="title"/>
          </p:nvPr>
        </p:nvSpPr>
        <p:spPr>
          <a:xfrm>
            <a:off x="633344" y="332408"/>
            <a:ext cx="5379872" cy="1143000"/>
          </a:xfrm>
        </p:spPr>
        <p:txBody>
          <a:bodyPr/>
          <a:lstStyle/>
          <a:p>
            <a:r>
              <a:rPr lang="en-US" dirty="0"/>
              <a:t>Linear Trend Model with Seasonality</a:t>
            </a:r>
          </a:p>
        </p:txBody>
      </p:sp>
      <p:sp>
        <p:nvSpPr>
          <p:cNvPr id="3" name="Slide Number Placeholder 2">
            <a:extLst>
              <a:ext uri="{FF2B5EF4-FFF2-40B4-BE49-F238E27FC236}">
                <a16:creationId xmlns:a16="http://schemas.microsoft.com/office/drawing/2014/main" id="{6173830D-2808-B690-AA82-92AE6798322A}"/>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4" name="Content Placeholder 3">
            <a:extLst>
              <a:ext uri="{FF2B5EF4-FFF2-40B4-BE49-F238E27FC236}">
                <a16:creationId xmlns:a16="http://schemas.microsoft.com/office/drawing/2014/main" id="{84218309-98D0-2F23-46B0-65E245B955BC}"/>
              </a:ext>
            </a:extLst>
          </p:cNvPr>
          <p:cNvSpPr>
            <a:spLocks noGrp="1"/>
          </p:cNvSpPr>
          <p:nvPr>
            <p:ph sz="quarter" idx="1"/>
          </p:nvPr>
        </p:nvSpPr>
        <p:spPr>
          <a:xfrm>
            <a:off x="914400" y="1447800"/>
            <a:ext cx="7772400" cy="757064"/>
          </a:xfrm>
        </p:spPr>
        <p:txBody>
          <a:bodyPr/>
          <a:lstStyle/>
          <a:p>
            <a:pPr marL="0" indent="0">
              <a:buNone/>
            </a:pPr>
            <a:r>
              <a:rPr lang="en-US" dirty="0"/>
              <a:t>Apple’s revenue from 2010 to 2020:</a:t>
            </a:r>
          </a:p>
        </p:txBody>
      </p:sp>
      <p:pic>
        <p:nvPicPr>
          <p:cNvPr id="5" name="Picture 4" descr="A scatterplot of revenue versus t plots data points and a regression line in an increasing trend with periodic peaks and dips.">
            <a:extLst>
              <a:ext uri="{FF2B5EF4-FFF2-40B4-BE49-F238E27FC236}">
                <a16:creationId xmlns:a16="http://schemas.microsoft.com/office/drawing/2014/main" id="{6BA32997-1041-0686-003B-E9AB3FDCB192}"/>
              </a:ext>
            </a:extLst>
          </p:cNvPr>
          <p:cNvPicPr>
            <a:picLocks noChangeAspect="1"/>
          </p:cNvPicPr>
          <p:nvPr/>
        </p:nvPicPr>
        <p:blipFill>
          <a:blip r:embed="rId3"/>
          <a:stretch>
            <a:fillRect/>
          </a:stretch>
        </p:blipFill>
        <p:spPr>
          <a:xfrm>
            <a:off x="457200" y="2204864"/>
            <a:ext cx="7876180" cy="3812788"/>
          </a:xfrm>
          <a:prstGeom prst="rect">
            <a:avLst/>
          </a:prstGeom>
        </p:spPr>
      </p:pic>
    </p:spTree>
    <p:extLst>
      <p:ext uri="{BB962C8B-B14F-4D97-AF65-F5344CB8AC3E}">
        <p14:creationId xmlns:p14="http://schemas.microsoft.com/office/powerpoint/2010/main" val="3949893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221054-5B4C-AF76-4AE1-FDCC930E6219}"/>
              </a:ext>
            </a:extLst>
          </p:cNvPr>
          <p:cNvSpPr>
            <a:spLocks noGrp="1"/>
          </p:cNvSpPr>
          <p:nvPr>
            <p:ph type="sldNum" sz="quarter" idx="12"/>
          </p:nvPr>
        </p:nvSpPr>
        <p:spPr/>
        <p:txBody>
          <a:bodyPr/>
          <a:lstStyle/>
          <a:p>
            <a:fld id="{B6F15528-21DE-4FAA-801E-634DDDAF4B2B}" type="slidenum">
              <a:rPr lang="en-US" smtClean="0"/>
              <a:pPr/>
              <a:t>26</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B6F62C2-02B3-875E-51C6-B4039EFFBBF4}"/>
                  </a:ext>
                </a:extLst>
              </p:cNvPr>
              <p:cNvSpPr>
                <a:spLocks noGrp="1"/>
              </p:cNvSpPr>
              <p:nvPr>
                <p:ph sz="quarter" idx="1"/>
              </p:nvPr>
            </p:nvSpPr>
            <p:spPr/>
            <p:txBody>
              <a:bodyPr/>
              <a:lstStyle/>
              <a:p>
                <a:r>
                  <a:rPr lang="en-US" dirty="0"/>
                  <a:t>We can use dummy variables to capture the seasonal variations.</a:t>
                </a:r>
              </a:p>
              <a:p>
                <a:r>
                  <a:rPr lang="en-US" dirty="0"/>
                  <a:t>With quarterly data, a linear trend model with seasonal dummy variables is:</a:t>
                </a:r>
              </a:p>
              <a:p>
                <a:pPr marL="0" indent="0" algn="ctr">
                  <a:buNone/>
                </a:pPr>
                <a14:m>
                  <m:oMath xmlns:m="http://schemas.openxmlformats.org/officeDocument/2006/math">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CA" i="1">
                                <a:latin typeface="Cambria Math" panose="02040503050406030204" pitchFamily="18" charset="0"/>
                              </a:rPr>
                              <m:t>𝑦</m:t>
                            </m:r>
                          </m:e>
                        </m:acc>
                      </m:e>
                      <m:sub>
                        <m:r>
                          <a:rPr lang="en-CA" i="1">
                            <a:latin typeface="Cambria Math" panose="02040503050406030204" pitchFamily="18" charset="0"/>
                          </a:rPr>
                          <m:t>𝑡</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𝑏</m:t>
                        </m:r>
                      </m:e>
                      <m:sub>
                        <m:r>
                          <a:rPr lang="en-CA" i="1">
                            <a:latin typeface="Cambria Math" panose="02040503050406030204" pitchFamily="18" charset="0"/>
                          </a:rPr>
                          <m:t>0</m:t>
                        </m:r>
                      </m:sub>
                    </m:sSub>
                    <m:r>
                      <a:rPr lang="en-CA" i="1">
                        <a:latin typeface="Cambria Math" panose="02040503050406030204" pitchFamily="18" charset="0"/>
                      </a:rPr>
                      <m:t>+</m:t>
                    </m:r>
                    <m:sSub>
                      <m:sSubPr>
                        <m:ctrlPr>
                          <a:rPr lang="en-CA" i="1" smtClean="0">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𝑏</m:t>
                        </m:r>
                      </m:e>
                      <m:sub>
                        <m:r>
                          <a:rPr lang="en-CA" i="1">
                            <a:latin typeface="Cambria Math" panose="02040503050406030204" pitchFamily="18" charset="0"/>
                          </a:rPr>
                          <m:t>1</m:t>
                        </m:r>
                      </m:sub>
                    </m:sSub>
                    <m:sSub>
                      <m:sSubPr>
                        <m:ctrlPr>
                          <a:rPr lang="en-CA" i="1" smtClean="0">
                            <a:latin typeface="Cambria Math" panose="02040503050406030204" pitchFamily="18" charset="0"/>
                          </a:rPr>
                        </m:ctrlPr>
                      </m:sSubPr>
                      <m:e>
                        <m:r>
                          <a:rPr lang="en-CA" b="0" i="1" smtClean="0">
                            <a:latin typeface="Cambria Math" panose="02040503050406030204" pitchFamily="18" charset="0"/>
                          </a:rPr>
                          <m:t>𝑑</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𝑑</m:t>
                        </m:r>
                      </m:e>
                      <m:sub>
                        <m:r>
                          <a:rPr lang="en-CA" b="0" i="1" smtClean="0">
                            <a:latin typeface="Cambria Math" panose="02040503050406030204" pitchFamily="18" charset="0"/>
                          </a:rPr>
                          <m:t>2</m:t>
                        </m:r>
                      </m:sub>
                    </m:sSub>
                  </m:oMath>
                </a14:m>
                <a:r>
                  <a:rPr lang="en-US" b="1" dirty="0"/>
                  <a:t>+</a:t>
                </a:r>
                <a:r>
                  <a:rPr lang="en-CA" dirty="0"/>
                  <a: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3</m:t>
                        </m:r>
                      </m:sub>
                    </m:sSub>
                    <m:sSub>
                      <m:sSubPr>
                        <m:ctrlPr>
                          <a:rPr lang="en-CA" i="1">
                            <a:latin typeface="Cambria Math" panose="02040503050406030204" pitchFamily="18" charset="0"/>
                          </a:rPr>
                        </m:ctrlPr>
                      </m:sSubPr>
                      <m:e>
                        <m:r>
                          <a:rPr lang="en-CA" i="1">
                            <a:latin typeface="Cambria Math" panose="02040503050406030204" pitchFamily="18" charset="0"/>
                          </a:rPr>
                          <m:t>𝑑</m:t>
                        </m:r>
                      </m:e>
                      <m:sub>
                        <m:r>
                          <a:rPr lang="en-CA" b="0" i="1" smtClean="0">
                            <a:latin typeface="Cambria Math" panose="02040503050406030204" pitchFamily="18" charset="0"/>
                          </a:rPr>
                          <m:t>3</m:t>
                        </m:r>
                      </m:sub>
                    </m:sSub>
                  </m:oMath>
                </a14:m>
                <a:r>
                  <a:rPr lang="en-US" b="1" dirty="0"/>
                  <a:t>+</a:t>
                </a:r>
                <a:r>
                  <a:rPr lang="en-CA" dirty="0"/>
                  <a: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𝑏</m:t>
                        </m:r>
                      </m:e>
                      <m:sub>
                        <m:r>
                          <a:rPr lang="en-CA" b="0" i="1" smtClean="0">
                            <a:latin typeface="Cambria Math" panose="02040503050406030204" pitchFamily="18" charset="0"/>
                          </a:rPr>
                          <m:t>4</m:t>
                        </m:r>
                      </m:sub>
                    </m:sSub>
                    <m:r>
                      <a:rPr lang="en-CA" b="0" i="1" smtClean="0">
                        <a:latin typeface="Cambria Math" panose="02040503050406030204" pitchFamily="18" charset="0"/>
                      </a:rPr>
                      <m:t>𝑡</m:t>
                    </m:r>
                  </m:oMath>
                </a14:m>
                <a:endParaRPr lang="en-US" b="1" dirty="0"/>
              </a:p>
              <a:p>
                <a14:m>
                  <m:oMath xmlns:m="http://schemas.openxmlformats.org/officeDocument/2006/math">
                    <m:sSub>
                      <m:sSubPr>
                        <m:ctrlPr>
                          <a:rPr lang="en-CA"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𝑑</m:t>
                        </m:r>
                      </m:e>
                      <m:sub>
                        <m:r>
                          <a:rPr lang="en-CA" i="1">
                            <a:latin typeface="Cambria Math" panose="02040503050406030204" pitchFamily="18" charset="0"/>
                          </a:rPr>
                          <m:t>1</m:t>
                        </m:r>
                      </m:sub>
                    </m:sSub>
                  </m:oMath>
                </a14:m>
                <a:r>
                  <a:rPr lang="en-US" dirty="0"/>
                  <a:t>, </a:t>
                </a:r>
                <a14:m>
                  <m:oMath xmlns:m="http://schemas.openxmlformats.org/officeDocument/2006/math">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𝑑</m:t>
                        </m:r>
                      </m:e>
                      <m:sub>
                        <m:r>
                          <a:rPr lang="en-CA" b="0" i="1" smtClean="0">
                            <a:latin typeface="Cambria Math" panose="02040503050406030204" pitchFamily="18" charset="0"/>
                          </a:rPr>
                          <m:t>2</m:t>
                        </m:r>
                      </m:sub>
                    </m:sSub>
                  </m:oMath>
                </a14:m>
                <a:r>
                  <a:rPr lang="en-US" dirty="0"/>
                  <a:t>, and </a:t>
                </a:r>
                <a14:m>
                  <m:oMath xmlns:m="http://schemas.openxmlformats.org/officeDocument/2006/math">
                    <m:sSub>
                      <m:sSubPr>
                        <m:ctrlPr>
                          <a:rPr lang="en-CA" i="1">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𝑑</m:t>
                        </m:r>
                      </m:e>
                      <m:sub>
                        <m:r>
                          <a:rPr lang="en-CA" b="0" i="1" smtClean="0">
                            <a:latin typeface="Cambria Math" panose="02040503050406030204" pitchFamily="18" charset="0"/>
                            <a:ea typeface="Cambria Math" panose="02040503050406030204" pitchFamily="18" charset="0"/>
                          </a:rPr>
                          <m:t>3</m:t>
                        </m:r>
                      </m:sub>
                    </m:sSub>
                  </m:oMath>
                </a14:m>
                <a:r>
                  <a:rPr lang="en-US" dirty="0"/>
                  <a:t> are dummy variables representing the first three quarters.</a:t>
                </a:r>
              </a:p>
              <a:p>
                <a14:m>
                  <m:oMath xmlns:m="http://schemas.openxmlformats.org/officeDocument/2006/math">
                    <m:r>
                      <a:rPr lang="en-CA" b="0" i="1" smtClean="0">
                        <a:latin typeface="Cambria Math" panose="02040503050406030204" pitchFamily="18" charset="0"/>
                      </a:rPr>
                      <m:t>𝑡</m:t>
                    </m:r>
                  </m:oMath>
                </a14:m>
                <a:r>
                  <a:rPr lang="en-US" b="1" dirty="0"/>
                  <a:t> </a:t>
                </a:r>
                <a:r>
                  <a:rPr lang="en-US" dirty="0"/>
                  <a:t>is a predictor variable corresponding to consecutive time periods. </a:t>
                </a:r>
                <a:endParaRPr lang="en-US" b="1"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4B6F62C2-02B3-875E-51C6-B4039EFFBBF4}"/>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r="-1471"/>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9119F4FC-D756-CB60-B29E-87C8A857C853}"/>
              </a:ext>
            </a:extLst>
          </p:cNvPr>
          <p:cNvSpPr>
            <a:spLocks noGrp="1"/>
          </p:cNvSpPr>
          <p:nvPr>
            <p:ph type="title"/>
          </p:nvPr>
        </p:nvSpPr>
        <p:spPr>
          <a:xfrm>
            <a:off x="633344" y="332408"/>
            <a:ext cx="5379872" cy="1143000"/>
          </a:xfrm>
        </p:spPr>
        <p:txBody>
          <a:bodyPr/>
          <a:lstStyle/>
          <a:p>
            <a:r>
              <a:rPr lang="en-US" dirty="0"/>
              <a:t>Linear Trend Model with Seasonality</a:t>
            </a:r>
          </a:p>
        </p:txBody>
      </p:sp>
    </p:spTree>
    <p:extLst>
      <p:ext uri="{BB962C8B-B14F-4D97-AF65-F5344CB8AC3E}">
        <p14:creationId xmlns:p14="http://schemas.microsoft.com/office/powerpoint/2010/main" val="3754120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221054-5B4C-AF76-4AE1-FDCC930E6219}"/>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4" name="Content Placeholder 3">
            <a:extLst>
              <a:ext uri="{FF2B5EF4-FFF2-40B4-BE49-F238E27FC236}">
                <a16:creationId xmlns:a16="http://schemas.microsoft.com/office/drawing/2014/main" id="{4B6F62C2-02B3-875E-51C6-B4039EFFBBF4}"/>
              </a:ext>
            </a:extLst>
          </p:cNvPr>
          <p:cNvSpPr>
            <a:spLocks noGrp="1"/>
          </p:cNvSpPr>
          <p:nvPr>
            <p:ph sz="quarter" idx="1"/>
          </p:nvPr>
        </p:nvSpPr>
        <p:spPr/>
        <p:txBody>
          <a:bodyPr>
            <a:normAutofit/>
          </a:bodyPr>
          <a:lstStyle/>
          <a:p>
            <a:pPr marL="0" indent="0">
              <a:buNone/>
            </a:pPr>
            <a:r>
              <a:rPr lang="en-US" sz="2400" b="1" dirty="0"/>
              <a:t>Example 5.9:</a:t>
            </a:r>
            <a:r>
              <a:rPr lang="en-US" sz="2400" dirty="0"/>
              <a:t> With </a:t>
            </a:r>
            <a:r>
              <a:rPr lang="en-US" sz="2400" dirty="0" err="1"/>
              <a:t>Amazon.com</a:t>
            </a:r>
            <a:r>
              <a:rPr lang="en-US" sz="2400" dirty="0"/>
              <a:t> at the lead, e-commerce retail sales have increased substantially over the last decade.</a:t>
            </a:r>
          </a:p>
          <a:p>
            <a:pPr marL="0" indent="0">
              <a:buNone/>
            </a:pPr>
            <a:r>
              <a:rPr lang="en-US" sz="2400" dirty="0"/>
              <a:t>Consider quarterly data on e-commerce retail sales in the U</a:t>
            </a:r>
            <a:r>
              <a:rPr lang="en-US" sz="200" dirty="0"/>
              <a:t> </a:t>
            </a:r>
            <a:r>
              <a:rPr lang="en-US" sz="2400" dirty="0"/>
              <a:t>S from 2010 to 2019.</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Forecast e-commerce retail sales for the first quarters of 2020 using linear trend model with seasonal dummy variables.</a:t>
            </a:r>
          </a:p>
          <a:p>
            <a:pPr marL="0" indent="0">
              <a:buNone/>
            </a:pPr>
            <a:endParaRPr lang="en-US" sz="2400" dirty="0"/>
          </a:p>
        </p:txBody>
      </p:sp>
      <p:sp>
        <p:nvSpPr>
          <p:cNvPr id="5" name="Title 1">
            <a:extLst>
              <a:ext uri="{FF2B5EF4-FFF2-40B4-BE49-F238E27FC236}">
                <a16:creationId xmlns:a16="http://schemas.microsoft.com/office/drawing/2014/main" id="{9119F4FC-D756-CB60-B29E-87C8A857C853}"/>
              </a:ext>
            </a:extLst>
          </p:cNvPr>
          <p:cNvSpPr>
            <a:spLocks noGrp="1"/>
          </p:cNvSpPr>
          <p:nvPr>
            <p:ph type="title"/>
          </p:nvPr>
        </p:nvSpPr>
        <p:spPr>
          <a:xfrm>
            <a:off x="633344" y="332408"/>
            <a:ext cx="5379872" cy="1143000"/>
          </a:xfrm>
        </p:spPr>
        <p:txBody>
          <a:bodyPr/>
          <a:lstStyle/>
          <a:p>
            <a:r>
              <a:rPr lang="en-US" dirty="0"/>
              <a:t>Linear Trend Model with Seasonality</a:t>
            </a:r>
          </a:p>
        </p:txBody>
      </p:sp>
      <p:graphicFrame>
        <p:nvGraphicFramePr>
          <p:cNvPr id="2" name="Table 1">
            <a:extLst>
              <a:ext uri="{FF2B5EF4-FFF2-40B4-BE49-F238E27FC236}">
                <a16:creationId xmlns:a16="http://schemas.microsoft.com/office/drawing/2014/main" id="{2FEA1775-C5F8-88EC-3FEC-62FD637A146F}"/>
              </a:ext>
            </a:extLst>
          </p:cNvPr>
          <p:cNvGraphicFramePr>
            <a:graphicFrameLocks noGrp="1"/>
          </p:cNvGraphicFramePr>
          <p:nvPr>
            <p:extLst>
              <p:ext uri="{D42A27DB-BD31-4B8C-83A1-F6EECF244321}">
                <p14:modId xmlns:p14="http://schemas.microsoft.com/office/powerpoint/2010/main" val="1272152089"/>
              </p:ext>
            </p:extLst>
          </p:nvPr>
        </p:nvGraphicFramePr>
        <p:xfrm>
          <a:off x="2771800" y="3140968"/>
          <a:ext cx="4078515" cy="1371600"/>
        </p:xfrm>
        <a:graphic>
          <a:graphicData uri="http://schemas.openxmlformats.org/drawingml/2006/table">
            <a:tbl>
              <a:tblPr firstRow="1" bandRow="1">
                <a:tableStyleId>{5C22544A-7EE6-4342-B048-85BDC9FD1C3A}</a:tableStyleId>
              </a:tblPr>
              <a:tblGrid>
                <a:gridCol w="1359505">
                  <a:extLst>
                    <a:ext uri="{9D8B030D-6E8A-4147-A177-3AD203B41FA5}">
                      <a16:colId xmlns:a16="http://schemas.microsoft.com/office/drawing/2014/main" val="1094683721"/>
                    </a:ext>
                  </a:extLst>
                </a:gridCol>
                <a:gridCol w="1359505">
                  <a:extLst>
                    <a:ext uri="{9D8B030D-6E8A-4147-A177-3AD203B41FA5}">
                      <a16:colId xmlns:a16="http://schemas.microsoft.com/office/drawing/2014/main" val="2562006315"/>
                    </a:ext>
                  </a:extLst>
                </a:gridCol>
                <a:gridCol w="1359505">
                  <a:extLst>
                    <a:ext uri="{9D8B030D-6E8A-4147-A177-3AD203B41FA5}">
                      <a16:colId xmlns:a16="http://schemas.microsoft.com/office/drawing/2014/main" val="4077075995"/>
                    </a:ext>
                  </a:extLst>
                </a:gridCol>
              </a:tblGrid>
              <a:tr h="0">
                <a:tc>
                  <a:txBody>
                    <a:bodyPr/>
                    <a:lstStyle/>
                    <a:p>
                      <a:endParaRPr lang="en-US" sz="1200" dirty="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572292928"/>
                  </a:ext>
                </a:extLst>
              </a:tr>
              <a:tr h="0">
                <a:tc>
                  <a:txBody>
                    <a:bodyPr/>
                    <a:lstStyle/>
                    <a:p>
                      <a:endParaRPr lang="en-US" sz="1200"/>
                    </a:p>
                  </a:txBody>
                  <a:tcPr/>
                </a:tc>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3790779612"/>
                  </a:ext>
                </a:extLst>
              </a:tr>
              <a:tr h="0">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3897085402"/>
                  </a:ext>
                </a:extLst>
              </a:tr>
              <a:tr h="0">
                <a:tc>
                  <a:txBody>
                    <a:bodyPr/>
                    <a:lstStyle/>
                    <a:p>
                      <a:endParaRPr lang="en-US" sz="1200"/>
                    </a:p>
                  </a:txBody>
                  <a:tcPr/>
                </a:tc>
                <a:tc>
                  <a:txBody>
                    <a:bodyPr/>
                    <a:lstStyle/>
                    <a:p>
                      <a:endParaRPr lang="en-US" sz="1200" dirty="0"/>
                    </a:p>
                  </a:txBody>
                  <a:tcPr/>
                </a:tc>
                <a:tc>
                  <a:txBody>
                    <a:bodyPr/>
                    <a:lstStyle/>
                    <a:p>
                      <a:endParaRPr lang="en-US" sz="1200"/>
                    </a:p>
                  </a:txBody>
                  <a:tcPr/>
                </a:tc>
                <a:extLst>
                  <a:ext uri="{0D108BD9-81ED-4DB2-BD59-A6C34878D82A}">
                    <a16:rowId xmlns:a16="http://schemas.microsoft.com/office/drawing/2014/main" val="1175392845"/>
                  </a:ext>
                </a:extLst>
              </a:tr>
              <a:tr h="0">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2313434967"/>
                  </a:ext>
                </a:extLst>
              </a:tr>
            </a:tbl>
          </a:graphicData>
        </a:graphic>
      </p:graphicFrame>
      <p:graphicFrame>
        <p:nvGraphicFramePr>
          <p:cNvPr id="6" name="Object 5">
            <a:extLst>
              <a:ext uri="{FF2B5EF4-FFF2-40B4-BE49-F238E27FC236}">
                <a16:creationId xmlns:a16="http://schemas.microsoft.com/office/drawing/2014/main" id="{8FF7F590-9CEE-7B9F-9FB0-9E7D181B6775}"/>
              </a:ext>
            </a:extLst>
          </p:cNvPr>
          <p:cNvGraphicFramePr>
            <a:graphicFrameLocks noChangeAspect="1"/>
          </p:cNvGraphicFramePr>
          <p:nvPr>
            <p:extLst>
              <p:ext uri="{D42A27DB-BD31-4B8C-83A1-F6EECF244321}">
                <p14:modId xmlns:p14="http://schemas.microsoft.com/office/powerpoint/2010/main" val="3563455261"/>
              </p:ext>
            </p:extLst>
          </p:nvPr>
        </p:nvGraphicFramePr>
        <p:xfrm>
          <a:off x="3229000" y="3180604"/>
          <a:ext cx="368300" cy="176213"/>
        </p:xfrm>
        <a:graphic>
          <a:graphicData uri="http://schemas.openxmlformats.org/presentationml/2006/ole">
            <mc:AlternateContent xmlns:mc="http://schemas.openxmlformats.org/markup-compatibility/2006">
              <mc:Choice xmlns:v="urn:schemas-microsoft-com:vml" Requires="v">
                <p:oleObj name="Equation" r:id="rId3" imgW="368280" imgH="177480" progId="Equation.DSMT4">
                  <p:embed/>
                </p:oleObj>
              </mc:Choice>
              <mc:Fallback>
                <p:oleObj name="Equation" r:id="rId3" imgW="368280" imgH="177480" progId="Equation.DSMT4">
                  <p:embed/>
                  <p:pic>
                    <p:nvPicPr>
                      <p:cNvPr id="6" name="Object 5">
                        <a:extLst>
                          <a:ext uri="{FF2B5EF4-FFF2-40B4-BE49-F238E27FC236}">
                            <a16:creationId xmlns:a16="http://schemas.microsoft.com/office/drawing/2014/main" id="{8FF7F590-9CEE-7B9F-9FB0-9E7D181B6775}"/>
                          </a:ext>
                        </a:extLst>
                      </p:cNvPr>
                      <p:cNvPicPr>
                        <a:picLocks noChangeAspect="1" noChangeArrowheads="1"/>
                      </p:cNvPicPr>
                      <p:nvPr/>
                    </p:nvPicPr>
                    <p:blipFill>
                      <a:blip r:embed="rId4"/>
                      <a:srcRect/>
                      <a:stretch>
                        <a:fillRect/>
                      </a:stretch>
                    </p:blipFill>
                    <p:spPr bwMode="auto">
                      <a:xfrm>
                        <a:off x="3229000" y="3180604"/>
                        <a:ext cx="368300" cy="176213"/>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69626E20-E0C2-3C0A-BA08-8E14D8872E23}"/>
              </a:ext>
            </a:extLst>
          </p:cNvPr>
          <p:cNvGraphicFramePr>
            <a:graphicFrameLocks noChangeAspect="1"/>
          </p:cNvGraphicFramePr>
          <p:nvPr>
            <p:extLst>
              <p:ext uri="{D42A27DB-BD31-4B8C-83A1-F6EECF244321}">
                <p14:modId xmlns:p14="http://schemas.microsoft.com/office/powerpoint/2010/main" val="3136786261"/>
              </p:ext>
            </p:extLst>
          </p:nvPr>
        </p:nvGraphicFramePr>
        <p:xfrm>
          <a:off x="4547507" y="3167905"/>
          <a:ext cx="584200" cy="188912"/>
        </p:xfrm>
        <a:graphic>
          <a:graphicData uri="http://schemas.openxmlformats.org/presentationml/2006/ole">
            <mc:AlternateContent xmlns:mc="http://schemas.openxmlformats.org/markup-compatibility/2006">
              <mc:Choice xmlns:v="urn:schemas-microsoft-com:vml" Requires="v">
                <p:oleObj name="Equation" r:id="rId5" imgW="583920" imgH="190440" progId="Equation.DSMT4">
                  <p:embed/>
                </p:oleObj>
              </mc:Choice>
              <mc:Fallback>
                <p:oleObj name="Equation" r:id="rId5" imgW="583920" imgH="190440" progId="Equation.DSMT4">
                  <p:embed/>
                  <p:pic>
                    <p:nvPicPr>
                      <p:cNvPr id="7" name="Object 6">
                        <a:extLst>
                          <a:ext uri="{FF2B5EF4-FFF2-40B4-BE49-F238E27FC236}">
                            <a16:creationId xmlns:a16="http://schemas.microsoft.com/office/drawing/2014/main" id="{69626E20-E0C2-3C0A-BA08-8E14D8872E23}"/>
                          </a:ext>
                        </a:extLst>
                      </p:cNvPr>
                      <p:cNvPicPr>
                        <a:picLocks noChangeAspect="1" noChangeArrowheads="1"/>
                      </p:cNvPicPr>
                      <p:nvPr/>
                    </p:nvPicPr>
                    <p:blipFill>
                      <a:blip r:embed="rId6"/>
                      <a:srcRect/>
                      <a:stretch>
                        <a:fillRect/>
                      </a:stretch>
                    </p:blipFill>
                    <p:spPr bwMode="auto">
                      <a:xfrm>
                        <a:off x="4547507" y="3167905"/>
                        <a:ext cx="584200" cy="188912"/>
                      </a:xfrm>
                      <a:prstGeom prst="rect">
                        <a:avLst/>
                      </a:prstGeom>
                      <a:noFill/>
                    </p:spPr>
                  </p:pic>
                </p:oleObj>
              </mc:Fallback>
            </mc:AlternateContent>
          </a:graphicData>
        </a:graphic>
      </p:graphicFrame>
      <p:graphicFrame>
        <p:nvGraphicFramePr>
          <p:cNvPr id="8" name="Object 7">
            <a:extLst>
              <a:ext uri="{FF2B5EF4-FFF2-40B4-BE49-F238E27FC236}">
                <a16:creationId xmlns:a16="http://schemas.microsoft.com/office/drawing/2014/main" id="{8D6F59CC-1645-7695-4B5E-2B564BB3FBBC}"/>
              </a:ext>
            </a:extLst>
          </p:cNvPr>
          <p:cNvGraphicFramePr>
            <a:graphicFrameLocks noChangeAspect="1"/>
          </p:cNvGraphicFramePr>
          <p:nvPr>
            <p:extLst>
              <p:ext uri="{D42A27DB-BD31-4B8C-83A1-F6EECF244321}">
                <p14:modId xmlns:p14="http://schemas.microsoft.com/office/powerpoint/2010/main" val="1693354309"/>
              </p:ext>
            </p:extLst>
          </p:nvPr>
        </p:nvGraphicFramePr>
        <p:xfrm>
          <a:off x="5927749" y="3197383"/>
          <a:ext cx="381000" cy="176212"/>
        </p:xfrm>
        <a:graphic>
          <a:graphicData uri="http://schemas.openxmlformats.org/presentationml/2006/ole">
            <mc:AlternateContent xmlns:mc="http://schemas.openxmlformats.org/markup-compatibility/2006">
              <mc:Choice xmlns:v="urn:schemas-microsoft-com:vml" Requires="v">
                <p:oleObj name="Equation" r:id="rId7" imgW="380880" imgH="177480" progId="Equation.DSMT4">
                  <p:embed/>
                </p:oleObj>
              </mc:Choice>
              <mc:Fallback>
                <p:oleObj name="Equation" r:id="rId7" imgW="380880" imgH="177480" progId="Equation.DSMT4">
                  <p:embed/>
                  <p:pic>
                    <p:nvPicPr>
                      <p:cNvPr id="8" name="Object 7">
                        <a:extLst>
                          <a:ext uri="{FF2B5EF4-FFF2-40B4-BE49-F238E27FC236}">
                            <a16:creationId xmlns:a16="http://schemas.microsoft.com/office/drawing/2014/main" id="{8D6F59CC-1645-7695-4B5E-2B564BB3FBBC}"/>
                          </a:ext>
                        </a:extLst>
                      </p:cNvPr>
                      <p:cNvPicPr>
                        <a:picLocks noChangeAspect="1" noChangeArrowheads="1"/>
                      </p:cNvPicPr>
                      <p:nvPr/>
                    </p:nvPicPr>
                    <p:blipFill>
                      <a:blip r:embed="rId8"/>
                      <a:srcRect/>
                      <a:stretch>
                        <a:fillRect/>
                      </a:stretch>
                    </p:blipFill>
                    <p:spPr bwMode="auto">
                      <a:xfrm>
                        <a:off x="5927749" y="3197383"/>
                        <a:ext cx="381000" cy="176212"/>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A54344EE-7F33-58D3-03A7-84B300B3BCD5}"/>
              </a:ext>
            </a:extLst>
          </p:cNvPr>
          <p:cNvGraphicFramePr>
            <a:graphicFrameLocks noChangeAspect="1"/>
          </p:cNvGraphicFramePr>
          <p:nvPr>
            <p:extLst>
              <p:ext uri="{D42A27DB-BD31-4B8C-83A1-F6EECF244321}">
                <p14:modId xmlns:p14="http://schemas.microsoft.com/office/powerpoint/2010/main" val="135977621"/>
              </p:ext>
            </p:extLst>
          </p:nvPr>
        </p:nvGraphicFramePr>
        <p:xfrm>
          <a:off x="3243186" y="3469980"/>
          <a:ext cx="355600" cy="177800"/>
        </p:xfrm>
        <a:graphic>
          <a:graphicData uri="http://schemas.openxmlformats.org/presentationml/2006/ole">
            <mc:AlternateContent xmlns:mc="http://schemas.openxmlformats.org/markup-compatibility/2006">
              <mc:Choice xmlns:v="urn:schemas-microsoft-com:vml" Requires="v">
                <p:oleObj name="Equation" r:id="rId9" imgW="355320" imgH="177480" progId="Equation.DSMT4">
                  <p:embed/>
                </p:oleObj>
              </mc:Choice>
              <mc:Fallback>
                <p:oleObj name="Equation" r:id="rId9" imgW="355320" imgH="177480" progId="Equation.DSMT4">
                  <p:embed/>
                  <p:pic>
                    <p:nvPicPr>
                      <p:cNvPr id="9" name="Object 8">
                        <a:extLst>
                          <a:ext uri="{FF2B5EF4-FFF2-40B4-BE49-F238E27FC236}">
                            <a16:creationId xmlns:a16="http://schemas.microsoft.com/office/drawing/2014/main" id="{A54344EE-7F33-58D3-03A7-84B300B3BCD5}"/>
                          </a:ext>
                        </a:extLst>
                      </p:cNvPr>
                      <p:cNvPicPr>
                        <a:picLocks noChangeAspect="1" noChangeArrowheads="1"/>
                      </p:cNvPicPr>
                      <p:nvPr/>
                    </p:nvPicPr>
                    <p:blipFill>
                      <a:blip r:embed="rId10"/>
                      <a:srcRect/>
                      <a:stretch>
                        <a:fillRect/>
                      </a:stretch>
                    </p:blipFill>
                    <p:spPr bwMode="auto">
                      <a:xfrm>
                        <a:off x="3243186" y="3469980"/>
                        <a:ext cx="355600" cy="177800"/>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951E5188-4B15-5405-8F2B-4C4E6930AB1E}"/>
              </a:ext>
            </a:extLst>
          </p:cNvPr>
          <p:cNvGraphicFramePr>
            <a:graphicFrameLocks noChangeAspect="1"/>
          </p:cNvGraphicFramePr>
          <p:nvPr>
            <p:extLst>
              <p:ext uri="{D42A27DB-BD31-4B8C-83A1-F6EECF244321}">
                <p14:modId xmlns:p14="http://schemas.microsoft.com/office/powerpoint/2010/main" val="2897233302"/>
              </p:ext>
            </p:extLst>
          </p:nvPr>
        </p:nvGraphicFramePr>
        <p:xfrm>
          <a:off x="4833257" y="3476330"/>
          <a:ext cx="88900" cy="165100"/>
        </p:xfrm>
        <a:graphic>
          <a:graphicData uri="http://schemas.openxmlformats.org/presentationml/2006/ole">
            <mc:AlternateContent xmlns:mc="http://schemas.openxmlformats.org/markup-compatibility/2006">
              <mc:Choice xmlns:v="urn:schemas-microsoft-com:vml" Requires="v">
                <p:oleObj name="Equation" r:id="rId11" imgW="88560" imgH="164880" progId="Equation.DSMT4">
                  <p:embed/>
                </p:oleObj>
              </mc:Choice>
              <mc:Fallback>
                <p:oleObj name="Equation" r:id="rId11" imgW="88560" imgH="164880" progId="Equation.DSMT4">
                  <p:embed/>
                  <p:pic>
                    <p:nvPicPr>
                      <p:cNvPr id="10" name="Object 9">
                        <a:extLst>
                          <a:ext uri="{FF2B5EF4-FFF2-40B4-BE49-F238E27FC236}">
                            <a16:creationId xmlns:a16="http://schemas.microsoft.com/office/drawing/2014/main" id="{951E5188-4B15-5405-8F2B-4C4E6930AB1E}"/>
                          </a:ext>
                        </a:extLst>
                      </p:cNvPr>
                      <p:cNvPicPr>
                        <a:picLocks noChangeAspect="1" noChangeArrowheads="1"/>
                      </p:cNvPicPr>
                      <p:nvPr/>
                    </p:nvPicPr>
                    <p:blipFill>
                      <a:blip r:embed="rId12"/>
                      <a:srcRect/>
                      <a:stretch>
                        <a:fillRect/>
                      </a:stretch>
                    </p:blipFill>
                    <p:spPr bwMode="auto">
                      <a:xfrm>
                        <a:off x="4833257" y="3476330"/>
                        <a:ext cx="88900" cy="165100"/>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D057F1F4-319B-191B-B751-06E2BC5F46AA}"/>
              </a:ext>
            </a:extLst>
          </p:cNvPr>
          <p:cNvGraphicFramePr>
            <a:graphicFrameLocks noChangeAspect="1"/>
          </p:cNvGraphicFramePr>
          <p:nvPr>
            <p:extLst>
              <p:ext uri="{D42A27DB-BD31-4B8C-83A1-F6EECF244321}">
                <p14:modId xmlns:p14="http://schemas.microsoft.com/office/powerpoint/2010/main" val="4261940974"/>
              </p:ext>
            </p:extLst>
          </p:nvPr>
        </p:nvGraphicFramePr>
        <p:xfrm>
          <a:off x="5885437" y="3474543"/>
          <a:ext cx="427524" cy="181374"/>
        </p:xfrm>
        <a:graphic>
          <a:graphicData uri="http://schemas.openxmlformats.org/presentationml/2006/ole">
            <mc:AlternateContent xmlns:mc="http://schemas.openxmlformats.org/markup-compatibility/2006">
              <mc:Choice xmlns:v="urn:schemas-microsoft-com:vml" Requires="v">
                <p:oleObj name="Equation" r:id="rId13" imgW="419040" imgH="177480" progId="Equation.DSMT4">
                  <p:embed/>
                </p:oleObj>
              </mc:Choice>
              <mc:Fallback>
                <p:oleObj name="Equation" r:id="rId13" imgW="419040" imgH="177480" progId="Equation.DSMT4">
                  <p:embed/>
                  <p:pic>
                    <p:nvPicPr>
                      <p:cNvPr id="11" name="Object 10">
                        <a:extLst>
                          <a:ext uri="{FF2B5EF4-FFF2-40B4-BE49-F238E27FC236}">
                            <a16:creationId xmlns:a16="http://schemas.microsoft.com/office/drawing/2014/main" id="{D057F1F4-319B-191B-B751-06E2BC5F46AA}"/>
                          </a:ext>
                        </a:extLst>
                      </p:cNvPr>
                      <p:cNvPicPr>
                        <a:picLocks noChangeAspect="1" noChangeArrowheads="1"/>
                      </p:cNvPicPr>
                      <p:nvPr/>
                    </p:nvPicPr>
                    <p:blipFill>
                      <a:blip r:embed="rId14"/>
                      <a:srcRect/>
                      <a:stretch>
                        <a:fillRect/>
                      </a:stretch>
                    </p:blipFill>
                    <p:spPr bwMode="auto">
                      <a:xfrm>
                        <a:off x="5885437" y="3474543"/>
                        <a:ext cx="427524" cy="181374"/>
                      </a:xfrm>
                      <a:prstGeom prst="rect">
                        <a:avLst/>
                      </a:prstGeom>
                      <a:noFill/>
                    </p:spPr>
                  </p:pic>
                </p:oleObj>
              </mc:Fallback>
            </mc:AlternateContent>
          </a:graphicData>
        </a:graphic>
      </p:graphicFrame>
      <p:graphicFrame>
        <p:nvGraphicFramePr>
          <p:cNvPr id="12" name="Object 11">
            <a:extLst>
              <a:ext uri="{FF2B5EF4-FFF2-40B4-BE49-F238E27FC236}">
                <a16:creationId xmlns:a16="http://schemas.microsoft.com/office/drawing/2014/main" id="{3DC42A8B-0AF2-71B2-09D1-081B2082523D}"/>
              </a:ext>
            </a:extLst>
          </p:cNvPr>
          <p:cNvGraphicFramePr>
            <a:graphicFrameLocks noChangeAspect="1"/>
          </p:cNvGraphicFramePr>
          <p:nvPr>
            <p:extLst>
              <p:ext uri="{D42A27DB-BD31-4B8C-83A1-F6EECF244321}">
                <p14:modId xmlns:p14="http://schemas.microsoft.com/office/powerpoint/2010/main" val="2159326125"/>
              </p:ext>
            </p:extLst>
          </p:nvPr>
        </p:nvGraphicFramePr>
        <p:xfrm>
          <a:off x="3241700" y="3724739"/>
          <a:ext cx="355600" cy="177800"/>
        </p:xfrm>
        <a:graphic>
          <a:graphicData uri="http://schemas.openxmlformats.org/presentationml/2006/ole">
            <mc:AlternateContent xmlns:mc="http://schemas.openxmlformats.org/markup-compatibility/2006">
              <mc:Choice xmlns:v="urn:schemas-microsoft-com:vml" Requires="v">
                <p:oleObj name="Equation" r:id="rId9" imgW="355320" imgH="177480" progId="Equation.DSMT4">
                  <p:embed/>
                </p:oleObj>
              </mc:Choice>
              <mc:Fallback>
                <p:oleObj name="Equation" r:id="rId9" imgW="355320" imgH="177480" progId="Equation.DSMT4">
                  <p:embed/>
                  <p:pic>
                    <p:nvPicPr>
                      <p:cNvPr id="12" name="Object 11">
                        <a:extLst>
                          <a:ext uri="{FF2B5EF4-FFF2-40B4-BE49-F238E27FC236}">
                            <a16:creationId xmlns:a16="http://schemas.microsoft.com/office/drawing/2014/main" id="{3DC42A8B-0AF2-71B2-09D1-081B2082523D}"/>
                          </a:ext>
                        </a:extLst>
                      </p:cNvPr>
                      <p:cNvPicPr>
                        <a:picLocks noChangeAspect="1" noChangeArrowheads="1"/>
                      </p:cNvPicPr>
                      <p:nvPr/>
                    </p:nvPicPr>
                    <p:blipFill>
                      <a:blip r:embed="rId10"/>
                      <a:srcRect/>
                      <a:stretch>
                        <a:fillRect/>
                      </a:stretch>
                    </p:blipFill>
                    <p:spPr bwMode="auto">
                      <a:xfrm>
                        <a:off x="3241700" y="3724739"/>
                        <a:ext cx="355600" cy="177800"/>
                      </a:xfrm>
                      <a:prstGeom prst="rect">
                        <a:avLst/>
                      </a:prstGeom>
                      <a:noFill/>
                    </p:spPr>
                  </p:pic>
                </p:oleObj>
              </mc:Fallback>
            </mc:AlternateContent>
          </a:graphicData>
        </a:graphic>
      </p:graphicFrame>
      <p:graphicFrame>
        <p:nvGraphicFramePr>
          <p:cNvPr id="13" name="Object 12">
            <a:extLst>
              <a:ext uri="{FF2B5EF4-FFF2-40B4-BE49-F238E27FC236}">
                <a16:creationId xmlns:a16="http://schemas.microsoft.com/office/drawing/2014/main" id="{5F6652C2-29A3-6AD1-D52D-F8C9E7CB070A}"/>
              </a:ext>
            </a:extLst>
          </p:cNvPr>
          <p:cNvGraphicFramePr>
            <a:graphicFrameLocks noChangeAspect="1"/>
          </p:cNvGraphicFramePr>
          <p:nvPr>
            <p:extLst>
              <p:ext uri="{D42A27DB-BD31-4B8C-83A1-F6EECF244321}">
                <p14:modId xmlns:p14="http://schemas.microsoft.com/office/powerpoint/2010/main" val="571307589"/>
              </p:ext>
            </p:extLst>
          </p:nvPr>
        </p:nvGraphicFramePr>
        <p:xfrm>
          <a:off x="4823973" y="3727161"/>
          <a:ext cx="127000" cy="165100"/>
        </p:xfrm>
        <a:graphic>
          <a:graphicData uri="http://schemas.openxmlformats.org/presentationml/2006/ole">
            <mc:AlternateContent xmlns:mc="http://schemas.openxmlformats.org/markup-compatibility/2006">
              <mc:Choice xmlns:v="urn:schemas-microsoft-com:vml" Requires="v">
                <p:oleObj name="Equation" r:id="rId15" imgW="126720" imgH="164880" progId="Equation.DSMT4">
                  <p:embed/>
                </p:oleObj>
              </mc:Choice>
              <mc:Fallback>
                <p:oleObj name="Equation" r:id="rId15" imgW="126720" imgH="164880" progId="Equation.DSMT4">
                  <p:embed/>
                  <p:pic>
                    <p:nvPicPr>
                      <p:cNvPr id="13" name="Object 12">
                        <a:extLst>
                          <a:ext uri="{FF2B5EF4-FFF2-40B4-BE49-F238E27FC236}">
                            <a16:creationId xmlns:a16="http://schemas.microsoft.com/office/drawing/2014/main" id="{5F6652C2-29A3-6AD1-D52D-F8C9E7CB070A}"/>
                          </a:ext>
                        </a:extLst>
                      </p:cNvPr>
                      <p:cNvPicPr>
                        <a:picLocks noChangeAspect="1" noChangeArrowheads="1"/>
                      </p:cNvPicPr>
                      <p:nvPr/>
                    </p:nvPicPr>
                    <p:blipFill>
                      <a:blip r:embed="rId16"/>
                      <a:srcRect/>
                      <a:stretch>
                        <a:fillRect/>
                      </a:stretch>
                    </p:blipFill>
                    <p:spPr bwMode="auto">
                      <a:xfrm>
                        <a:off x="4823973" y="3727161"/>
                        <a:ext cx="127000" cy="165100"/>
                      </a:xfrm>
                      <a:prstGeom prst="rect">
                        <a:avLst/>
                      </a:prstGeom>
                      <a:noFill/>
                    </p:spPr>
                  </p:pic>
                </p:oleObj>
              </mc:Fallback>
            </mc:AlternateContent>
          </a:graphicData>
        </a:graphic>
      </p:graphicFrame>
      <p:graphicFrame>
        <p:nvGraphicFramePr>
          <p:cNvPr id="14" name="Object 13">
            <a:extLst>
              <a:ext uri="{FF2B5EF4-FFF2-40B4-BE49-F238E27FC236}">
                <a16:creationId xmlns:a16="http://schemas.microsoft.com/office/drawing/2014/main" id="{3991D6DE-7CC7-B15A-7250-D0393B22A412}"/>
              </a:ext>
            </a:extLst>
          </p:cNvPr>
          <p:cNvGraphicFramePr>
            <a:graphicFrameLocks noChangeAspect="1"/>
          </p:cNvGraphicFramePr>
          <p:nvPr>
            <p:extLst>
              <p:ext uri="{D42A27DB-BD31-4B8C-83A1-F6EECF244321}">
                <p14:modId xmlns:p14="http://schemas.microsoft.com/office/powerpoint/2010/main" val="3811206120"/>
              </p:ext>
            </p:extLst>
          </p:nvPr>
        </p:nvGraphicFramePr>
        <p:xfrm>
          <a:off x="5885310" y="3722952"/>
          <a:ext cx="440479" cy="181374"/>
        </p:xfrm>
        <a:graphic>
          <a:graphicData uri="http://schemas.openxmlformats.org/presentationml/2006/ole">
            <mc:AlternateContent xmlns:mc="http://schemas.openxmlformats.org/markup-compatibility/2006">
              <mc:Choice xmlns:v="urn:schemas-microsoft-com:vml" Requires="v">
                <p:oleObj name="Equation" r:id="rId17" imgW="431640" imgH="177480" progId="Equation.DSMT4">
                  <p:embed/>
                </p:oleObj>
              </mc:Choice>
              <mc:Fallback>
                <p:oleObj name="Equation" r:id="rId17" imgW="431640" imgH="177480" progId="Equation.DSMT4">
                  <p:embed/>
                  <p:pic>
                    <p:nvPicPr>
                      <p:cNvPr id="14" name="Object 13">
                        <a:extLst>
                          <a:ext uri="{FF2B5EF4-FFF2-40B4-BE49-F238E27FC236}">
                            <a16:creationId xmlns:a16="http://schemas.microsoft.com/office/drawing/2014/main" id="{3991D6DE-7CC7-B15A-7250-D0393B22A412}"/>
                          </a:ext>
                        </a:extLst>
                      </p:cNvPr>
                      <p:cNvPicPr>
                        <a:picLocks noChangeAspect="1" noChangeArrowheads="1"/>
                      </p:cNvPicPr>
                      <p:nvPr/>
                    </p:nvPicPr>
                    <p:blipFill>
                      <a:blip r:embed="rId18"/>
                      <a:srcRect/>
                      <a:stretch>
                        <a:fillRect/>
                      </a:stretch>
                    </p:blipFill>
                    <p:spPr bwMode="auto">
                      <a:xfrm>
                        <a:off x="5885310" y="3722952"/>
                        <a:ext cx="440479" cy="181374"/>
                      </a:xfrm>
                      <a:prstGeom prst="rect">
                        <a:avLst/>
                      </a:prstGeom>
                      <a:noFill/>
                    </p:spPr>
                  </p:pic>
                </p:oleObj>
              </mc:Fallback>
            </mc:AlternateContent>
          </a:graphicData>
        </a:graphic>
      </p:graphicFrame>
      <p:graphicFrame>
        <p:nvGraphicFramePr>
          <p:cNvPr id="15" name="Object 14">
            <a:extLst>
              <a:ext uri="{FF2B5EF4-FFF2-40B4-BE49-F238E27FC236}">
                <a16:creationId xmlns:a16="http://schemas.microsoft.com/office/drawing/2014/main" id="{89FC8ED2-EB20-5311-E970-9DD43FD09E89}"/>
              </a:ext>
            </a:extLst>
          </p:cNvPr>
          <p:cNvGraphicFramePr>
            <a:graphicFrameLocks noChangeAspect="1"/>
          </p:cNvGraphicFramePr>
          <p:nvPr>
            <p:extLst>
              <p:ext uri="{D42A27DB-BD31-4B8C-83A1-F6EECF244321}">
                <p14:modId xmlns:p14="http://schemas.microsoft.com/office/powerpoint/2010/main" val="290384308"/>
              </p:ext>
            </p:extLst>
          </p:nvPr>
        </p:nvGraphicFramePr>
        <p:xfrm>
          <a:off x="3336950" y="4005883"/>
          <a:ext cx="76200" cy="177800"/>
        </p:xfrm>
        <a:graphic>
          <a:graphicData uri="http://schemas.openxmlformats.org/presentationml/2006/ole">
            <mc:AlternateContent xmlns:mc="http://schemas.openxmlformats.org/markup-compatibility/2006">
              <mc:Choice xmlns:v="urn:schemas-microsoft-com:vml" Requires="v">
                <p:oleObj name="Equation" r:id="rId19" imgW="75960" imgH="177480" progId="Equation.DSMT4">
                  <p:embed/>
                </p:oleObj>
              </mc:Choice>
              <mc:Fallback>
                <p:oleObj name="Equation" r:id="rId19" imgW="75960" imgH="177480" progId="Equation.DSMT4">
                  <p:embed/>
                  <p:pic>
                    <p:nvPicPr>
                      <p:cNvPr id="15" name="Object 14">
                        <a:extLst>
                          <a:ext uri="{FF2B5EF4-FFF2-40B4-BE49-F238E27FC236}">
                            <a16:creationId xmlns:a16="http://schemas.microsoft.com/office/drawing/2014/main" id="{89FC8ED2-EB20-5311-E970-9DD43FD09E89}"/>
                          </a:ext>
                        </a:extLst>
                      </p:cNvPr>
                      <p:cNvPicPr>
                        <a:picLocks noChangeAspect="1" noChangeArrowheads="1"/>
                      </p:cNvPicPr>
                      <p:nvPr/>
                    </p:nvPicPr>
                    <p:blipFill>
                      <a:blip r:embed="rId20"/>
                      <a:srcRect/>
                      <a:stretch>
                        <a:fillRect/>
                      </a:stretch>
                    </p:blipFill>
                    <p:spPr bwMode="auto">
                      <a:xfrm>
                        <a:off x="3336950" y="4005883"/>
                        <a:ext cx="76200" cy="177800"/>
                      </a:xfrm>
                      <a:prstGeom prst="rect">
                        <a:avLst/>
                      </a:prstGeom>
                      <a:noFill/>
                    </p:spPr>
                  </p:pic>
                </p:oleObj>
              </mc:Fallback>
            </mc:AlternateContent>
          </a:graphicData>
        </a:graphic>
      </p:graphicFrame>
      <p:graphicFrame>
        <p:nvGraphicFramePr>
          <p:cNvPr id="16" name="Object 15">
            <a:extLst>
              <a:ext uri="{FF2B5EF4-FFF2-40B4-BE49-F238E27FC236}">
                <a16:creationId xmlns:a16="http://schemas.microsoft.com/office/drawing/2014/main" id="{6252620C-58F1-9FE4-FD28-3DB5884356CB}"/>
              </a:ext>
            </a:extLst>
          </p:cNvPr>
          <p:cNvGraphicFramePr>
            <a:graphicFrameLocks noChangeAspect="1"/>
          </p:cNvGraphicFramePr>
          <p:nvPr>
            <p:extLst>
              <p:ext uri="{D42A27DB-BD31-4B8C-83A1-F6EECF244321}">
                <p14:modId xmlns:p14="http://schemas.microsoft.com/office/powerpoint/2010/main" val="2781300299"/>
              </p:ext>
            </p:extLst>
          </p:nvPr>
        </p:nvGraphicFramePr>
        <p:xfrm>
          <a:off x="4839607" y="3999942"/>
          <a:ext cx="76200" cy="177800"/>
        </p:xfrm>
        <a:graphic>
          <a:graphicData uri="http://schemas.openxmlformats.org/presentationml/2006/ole">
            <mc:AlternateContent xmlns:mc="http://schemas.openxmlformats.org/markup-compatibility/2006">
              <mc:Choice xmlns:v="urn:schemas-microsoft-com:vml" Requires="v">
                <p:oleObj name="Equation" r:id="rId19" imgW="75960" imgH="177480" progId="Equation.DSMT4">
                  <p:embed/>
                </p:oleObj>
              </mc:Choice>
              <mc:Fallback>
                <p:oleObj name="Equation" r:id="rId19" imgW="75960" imgH="177480" progId="Equation.DSMT4">
                  <p:embed/>
                  <p:pic>
                    <p:nvPicPr>
                      <p:cNvPr id="16" name="Object 15">
                        <a:extLst>
                          <a:ext uri="{FF2B5EF4-FFF2-40B4-BE49-F238E27FC236}">
                            <a16:creationId xmlns:a16="http://schemas.microsoft.com/office/drawing/2014/main" id="{6252620C-58F1-9FE4-FD28-3DB5884356CB}"/>
                          </a:ext>
                        </a:extLst>
                      </p:cNvPr>
                      <p:cNvPicPr>
                        <a:picLocks noChangeAspect="1" noChangeArrowheads="1"/>
                      </p:cNvPicPr>
                      <p:nvPr/>
                    </p:nvPicPr>
                    <p:blipFill>
                      <a:blip r:embed="rId20"/>
                      <a:srcRect/>
                      <a:stretch>
                        <a:fillRect/>
                      </a:stretch>
                    </p:blipFill>
                    <p:spPr bwMode="auto">
                      <a:xfrm>
                        <a:off x="4839607" y="3999942"/>
                        <a:ext cx="76200" cy="177800"/>
                      </a:xfrm>
                      <a:prstGeom prst="rect">
                        <a:avLst/>
                      </a:prstGeom>
                      <a:noFill/>
                    </p:spPr>
                  </p:pic>
                </p:oleObj>
              </mc:Fallback>
            </mc:AlternateContent>
          </a:graphicData>
        </a:graphic>
      </p:graphicFrame>
      <p:graphicFrame>
        <p:nvGraphicFramePr>
          <p:cNvPr id="17" name="Object 16">
            <a:extLst>
              <a:ext uri="{FF2B5EF4-FFF2-40B4-BE49-F238E27FC236}">
                <a16:creationId xmlns:a16="http://schemas.microsoft.com/office/drawing/2014/main" id="{900EAEEF-D7E0-F4DF-2380-80E0EAA8A594}"/>
              </a:ext>
            </a:extLst>
          </p:cNvPr>
          <p:cNvGraphicFramePr>
            <a:graphicFrameLocks noChangeAspect="1"/>
          </p:cNvGraphicFramePr>
          <p:nvPr>
            <p:extLst>
              <p:ext uri="{D42A27DB-BD31-4B8C-83A1-F6EECF244321}">
                <p14:modId xmlns:p14="http://schemas.microsoft.com/office/powerpoint/2010/main" val="2401291243"/>
              </p:ext>
            </p:extLst>
          </p:nvPr>
        </p:nvGraphicFramePr>
        <p:xfrm>
          <a:off x="6029349" y="4005883"/>
          <a:ext cx="76200" cy="177800"/>
        </p:xfrm>
        <a:graphic>
          <a:graphicData uri="http://schemas.openxmlformats.org/presentationml/2006/ole">
            <mc:AlternateContent xmlns:mc="http://schemas.openxmlformats.org/markup-compatibility/2006">
              <mc:Choice xmlns:v="urn:schemas-microsoft-com:vml" Requires="v">
                <p:oleObj name="Equation" r:id="rId19" imgW="75960" imgH="177480" progId="Equation.DSMT4">
                  <p:embed/>
                </p:oleObj>
              </mc:Choice>
              <mc:Fallback>
                <p:oleObj name="Equation" r:id="rId19" imgW="75960" imgH="177480" progId="Equation.DSMT4">
                  <p:embed/>
                  <p:pic>
                    <p:nvPicPr>
                      <p:cNvPr id="17" name="Object 16">
                        <a:extLst>
                          <a:ext uri="{FF2B5EF4-FFF2-40B4-BE49-F238E27FC236}">
                            <a16:creationId xmlns:a16="http://schemas.microsoft.com/office/drawing/2014/main" id="{900EAEEF-D7E0-F4DF-2380-80E0EAA8A594}"/>
                          </a:ext>
                        </a:extLst>
                      </p:cNvPr>
                      <p:cNvPicPr>
                        <a:picLocks noChangeAspect="1" noChangeArrowheads="1"/>
                      </p:cNvPicPr>
                      <p:nvPr/>
                    </p:nvPicPr>
                    <p:blipFill>
                      <a:blip r:embed="rId20"/>
                      <a:srcRect/>
                      <a:stretch>
                        <a:fillRect/>
                      </a:stretch>
                    </p:blipFill>
                    <p:spPr bwMode="auto">
                      <a:xfrm>
                        <a:off x="6029349" y="4005883"/>
                        <a:ext cx="76200" cy="177800"/>
                      </a:xfrm>
                      <a:prstGeom prst="rect">
                        <a:avLst/>
                      </a:prstGeom>
                      <a:noFill/>
                    </p:spPr>
                  </p:pic>
                </p:oleObj>
              </mc:Fallback>
            </mc:AlternateContent>
          </a:graphicData>
        </a:graphic>
      </p:graphicFrame>
      <p:graphicFrame>
        <p:nvGraphicFramePr>
          <p:cNvPr id="18" name="Object 17">
            <a:extLst>
              <a:ext uri="{FF2B5EF4-FFF2-40B4-BE49-F238E27FC236}">
                <a16:creationId xmlns:a16="http://schemas.microsoft.com/office/drawing/2014/main" id="{E1DC05F7-9596-D8EE-47F5-FC7C16A7BC23}"/>
              </a:ext>
            </a:extLst>
          </p:cNvPr>
          <p:cNvGraphicFramePr>
            <a:graphicFrameLocks noChangeAspect="1"/>
          </p:cNvGraphicFramePr>
          <p:nvPr>
            <p:extLst>
              <p:ext uri="{D42A27DB-BD31-4B8C-83A1-F6EECF244321}">
                <p14:modId xmlns:p14="http://schemas.microsoft.com/office/powerpoint/2010/main" val="1964793090"/>
              </p:ext>
            </p:extLst>
          </p:nvPr>
        </p:nvGraphicFramePr>
        <p:xfrm>
          <a:off x="3241700" y="4307617"/>
          <a:ext cx="355600" cy="177800"/>
        </p:xfrm>
        <a:graphic>
          <a:graphicData uri="http://schemas.openxmlformats.org/presentationml/2006/ole">
            <mc:AlternateContent xmlns:mc="http://schemas.openxmlformats.org/markup-compatibility/2006">
              <mc:Choice xmlns:v="urn:schemas-microsoft-com:vml" Requires="v">
                <p:oleObj name="Equation" r:id="rId21" imgW="355320" imgH="177480" progId="Equation.DSMT4">
                  <p:embed/>
                </p:oleObj>
              </mc:Choice>
              <mc:Fallback>
                <p:oleObj name="Equation" r:id="rId21" imgW="355320" imgH="177480" progId="Equation.DSMT4">
                  <p:embed/>
                  <p:pic>
                    <p:nvPicPr>
                      <p:cNvPr id="18" name="Object 17">
                        <a:extLst>
                          <a:ext uri="{FF2B5EF4-FFF2-40B4-BE49-F238E27FC236}">
                            <a16:creationId xmlns:a16="http://schemas.microsoft.com/office/drawing/2014/main" id="{E1DC05F7-9596-D8EE-47F5-FC7C16A7BC23}"/>
                          </a:ext>
                        </a:extLst>
                      </p:cNvPr>
                      <p:cNvPicPr>
                        <a:picLocks noChangeAspect="1" noChangeArrowheads="1"/>
                      </p:cNvPicPr>
                      <p:nvPr/>
                    </p:nvPicPr>
                    <p:blipFill>
                      <a:blip r:embed="rId22"/>
                      <a:srcRect/>
                      <a:stretch>
                        <a:fillRect/>
                      </a:stretch>
                    </p:blipFill>
                    <p:spPr bwMode="auto">
                      <a:xfrm>
                        <a:off x="3241700" y="4307617"/>
                        <a:ext cx="355600" cy="177800"/>
                      </a:xfrm>
                      <a:prstGeom prst="rect">
                        <a:avLst/>
                      </a:prstGeom>
                      <a:noFill/>
                    </p:spPr>
                  </p:pic>
                </p:oleObj>
              </mc:Fallback>
            </mc:AlternateContent>
          </a:graphicData>
        </a:graphic>
      </p:graphicFrame>
      <p:graphicFrame>
        <p:nvGraphicFramePr>
          <p:cNvPr id="19" name="Object 18">
            <a:extLst>
              <a:ext uri="{FF2B5EF4-FFF2-40B4-BE49-F238E27FC236}">
                <a16:creationId xmlns:a16="http://schemas.microsoft.com/office/drawing/2014/main" id="{DE2D5F82-B1BC-2956-3508-556C06B6279D}"/>
              </a:ext>
            </a:extLst>
          </p:cNvPr>
          <p:cNvGraphicFramePr>
            <a:graphicFrameLocks noChangeAspect="1"/>
          </p:cNvGraphicFramePr>
          <p:nvPr>
            <p:extLst>
              <p:ext uri="{D42A27DB-BD31-4B8C-83A1-F6EECF244321}">
                <p14:modId xmlns:p14="http://schemas.microsoft.com/office/powerpoint/2010/main" val="1582832537"/>
              </p:ext>
            </p:extLst>
          </p:nvPr>
        </p:nvGraphicFramePr>
        <p:xfrm>
          <a:off x="4823973" y="4262605"/>
          <a:ext cx="127000" cy="165100"/>
        </p:xfrm>
        <a:graphic>
          <a:graphicData uri="http://schemas.openxmlformats.org/presentationml/2006/ole">
            <mc:AlternateContent xmlns:mc="http://schemas.openxmlformats.org/markup-compatibility/2006">
              <mc:Choice xmlns:v="urn:schemas-microsoft-com:vml" Requires="v">
                <p:oleObj name="Equation" r:id="rId23" imgW="126720" imgH="164880" progId="Equation.DSMT4">
                  <p:embed/>
                </p:oleObj>
              </mc:Choice>
              <mc:Fallback>
                <p:oleObj name="Equation" r:id="rId23" imgW="126720" imgH="164880" progId="Equation.DSMT4">
                  <p:embed/>
                  <p:pic>
                    <p:nvPicPr>
                      <p:cNvPr id="19" name="Object 18">
                        <a:extLst>
                          <a:ext uri="{FF2B5EF4-FFF2-40B4-BE49-F238E27FC236}">
                            <a16:creationId xmlns:a16="http://schemas.microsoft.com/office/drawing/2014/main" id="{DE2D5F82-B1BC-2956-3508-556C06B6279D}"/>
                          </a:ext>
                        </a:extLst>
                      </p:cNvPr>
                      <p:cNvPicPr>
                        <a:picLocks noChangeAspect="1" noChangeArrowheads="1"/>
                      </p:cNvPicPr>
                      <p:nvPr/>
                    </p:nvPicPr>
                    <p:blipFill>
                      <a:blip r:embed="rId24"/>
                      <a:srcRect/>
                      <a:stretch>
                        <a:fillRect/>
                      </a:stretch>
                    </p:blipFill>
                    <p:spPr bwMode="auto">
                      <a:xfrm>
                        <a:off x="4823973" y="4262605"/>
                        <a:ext cx="127000" cy="165100"/>
                      </a:xfrm>
                      <a:prstGeom prst="rect">
                        <a:avLst/>
                      </a:prstGeom>
                      <a:noFill/>
                    </p:spPr>
                  </p:pic>
                </p:oleObj>
              </mc:Fallback>
            </mc:AlternateContent>
          </a:graphicData>
        </a:graphic>
      </p:graphicFrame>
      <p:graphicFrame>
        <p:nvGraphicFramePr>
          <p:cNvPr id="20" name="Object 19">
            <a:extLst>
              <a:ext uri="{FF2B5EF4-FFF2-40B4-BE49-F238E27FC236}">
                <a16:creationId xmlns:a16="http://schemas.microsoft.com/office/drawing/2014/main" id="{DE73040E-B1B0-19A8-2711-2D4FB2F3531F}"/>
              </a:ext>
            </a:extLst>
          </p:cNvPr>
          <p:cNvGraphicFramePr>
            <a:graphicFrameLocks noChangeAspect="1"/>
          </p:cNvGraphicFramePr>
          <p:nvPr>
            <p:extLst>
              <p:ext uri="{D42A27DB-BD31-4B8C-83A1-F6EECF244321}">
                <p14:modId xmlns:p14="http://schemas.microsoft.com/office/powerpoint/2010/main" val="363707228"/>
              </p:ext>
            </p:extLst>
          </p:nvPr>
        </p:nvGraphicFramePr>
        <p:xfrm>
          <a:off x="5859399" y="4272204"/>
          <a:ext cx="492300" cy="181374"/>
        </p:xfrm>
        <a:graphic>
          <a:graphicData uri="http://schemas.openxmlformats.org/presentationml/2006/ole">
            <mc:AlternateContent xmlns:mc="http://schemas.openxmlformats.org/markup-compatibility/2006">
              <mc:Choice xmlns:v="urn:schemas-microsoft-com:vml" Requires="v">
                <p:oleObj name="Equation" r:id="rId25" imgW="482400" imgH="177480" progId="Equation.DSMT4">
                  <p:embed/>
                </p:oleObj>
              </mc:Choice>
              <mc:Fallback>
                <p:oleObj name="Equation" r:id="rId25" imgW="482400" imgH="177480" progId="Equation.DSMT4">
                  <p:embed/>
                  <p:pic>
                    <p:nvPicPr>
                      <p:cNvPr id="20" name="Object 19">
                        <a:extLst>
                          <a:ext uri="{FF2B5EF4-FFF2-40B4-BE49-F238E27FC236}">
                            <a16:creationId xmlns:a16="http://schemas.microsoft.com/office/drawing/2014/main" id="{DE73040E-B1B0-19A8-2711-2D4FB2F3531F}"/>
                          </a:ext>
                        </a:extLst>
                      </p:cNvPr>
                      <p:cNvPicPr>
                        <a:picLocks noChangeAspect="1" noChangeArrowheads="1"/>
                      </p:cNvPicPr>
                      <p:nvPr/>
                    </p:nvPicPr>
                    <p:blipFill>
                      <a:blip r:embed="rId26"/>
                      <a:srcRect/>
                      <a:stretch>
                        <a:fillRect/>
                      </a:stretch>
                    </p:blipFill>
                    <p:spPr bwMode="auto">
                      <a:xfrm>
                        <a:off x="5859399" y="4272204"/>
                        <a:ext cx="492300" cy="181374"/>
                      </a:xfrm>
                      <a:prstGeom prst="rect">
                        <a:avLst/>
                      </a:prstGeom>
                      <a:noFill/>
                    </p:spPr>
                  </p:pic>
                </p:oleObj>
              </mc:Fallback>
            </mc:AlternateContent>
          </a:graphicData>
        </a:graphic>
      </p:graphicFrame>
    </p:spTree>
    <p:extLst>
      <p:ext uri="{BB962C8B-B14F-4D97-AF65-F5344CB8AC3E}">
        <p14:creationId xmlns:p14="http://schemas.microsoft.com/office/powerpoint/2010/main" val="2064224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221054-5B4C-AF76-4AE1-FDCC930E6219}"/>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4" name="Content Placeholder 3">
            <a:extLst>
              <a:ext uri="{FF2B5EF4-FFF2-40B4-BE49-F238E27FC236}">
                <a16:creationId xmlns:a16="http://schemas.microsoft.com/office/drawing/2014/main" id="{4B6F62C2-02B3-875E-51C6-B4039EFFBBF4}"/>
              </a:ext>
            </a:extLst>
          </p:cNvPr>
          <p:cNvSpPr>
            <a:spLocks noGrp="1"/>
          </p:cNvSpPr>
          <p:nvPr>
            <p:ph sz="quarter" idx="1"/>
          </p:nvPr>
        </p:nvSpPr>
        <p:spPr/>
        <p:txBody>
          <a:bodyPr>
            <a:normAutofit/>
          </a:bodyPr>
          <a:lstStyle/>
          <a:p>
            <a:pPr marL="0" indent="0">
              <a:buNone/>
            </a:pPr>
            <a:r>
              <a:rPr lang="en-US" sz="2400" b="1" dirty="0"/>
              <a:t>Example 5.10: </a:t>
            </a:r>
            <a:r>
              <a:rPr lang="en-US" sz="2400" dirty="0"/>
              <a:t>A health region has been battling COVID for the last few months. The data file “Covid” includes the daily number of new COVID cases in this health region for six weeks. It is known that the number of COVID cases recorded over weekend, which includes Saturday and Sunday, are lower than they are on weekdays. Estimate a linear model along with a weekend dummy variable and forecast the number of COVID cases for Monday and Saturday of week 7. </a:t>
            </a:r>
          </a:p>
        </p:txBody>
      </p:sp>
      <p:sp>
        <p:nvSpPr>
          <p:cNvPr id="5" name="Title 1">
            <a:extLst>
              <a:ext uri="{FF2B5EF4-FFF2-40B4-BE49-F238E27FC236}">
                <a16:creationId xmlns:a16="http://schemas.microsoft.com/office/drawing/2014/main" id="{9119F4FC-D756-CB60-B29E-87C8A857C853}"/>
              </a:ext>
            </a:extLst>
          </p:cNvPr>
          <p:cNvSpPr>
            <a:spLocks noGrp="1"/>
          </p:cNvSpPr>
          <p:nvPr>
            <p:ph type="title"/>
          </p:nvPr>
        </p:nvSpPr>
        <p:spPr>
          <a:xfrm>
            <a:off x="633344" y="332408"/>
            <a:ext cx="5379872" cy="1143000"/>
          </a:xfrm>
        </p:spPr>
        <p:txBody>
          <a:bodyPr/>
          <a:lstStyle/>
          <a:p>
            <a:r>
              <a:rPr lang="en-US" dirty="0"/>
              <a:t>Linear Trend Model with Seasonality</a:t>
            </a:r>
          </a:p>
        </p:txBody>
      </p:sp>
    </p:spTree>
    <p:extLst>
      <p:ext uri="{BB962C8B-B14F-4D97-AF65-F5344CB8AC3E}">
        <p14:creationId xmlns:p14="http://schemas.microsoft.com/office/powerpoint/2010/main" val="1300780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A3FF0-9CA1-8122-1A8E-F9F011BF7F25}"/>
              </a:ext>
            </a:extLst>
          </p:cNvPr>
          <p:cNvSpPr>
            <a:spLocks noGrp="1"/>
          </p:cNvSpPr>
          <p:nvPr>
            <p:ph type="title"/>
          </p:nvPr>
        </p:nvSpPr>
        <p:spPr/>
        <p:txBody>
          <a:bodyPr/>
          <a:lstStyle/>
          <a:p>
            <a:r>
              <a:rPr lang="en-US" dirty="0"/>
              <a:t>Model Selection Criteria</a:t>
            </a:r>
          </a:p>
        </p:txBody>
      </p:sp>
      <p:sp>
        <p:nvSpPr>
          <p:cNvPr id="3" name="Slide Number Placeholder 2">
            <a:extLst>
              <a:ext uri="{FF2B5EF4-FFF2-40B4-BE49-F238E27FC236}">
                <a16:creationId xmlns:a16="http://schemas.microsoft.com/office/drawing/2014/main" id="{9E798BE0-FC1E-FABF-6794-88FE30E6040D}"/>
              </a:ext>
            </a:extLst>
          </p:cNvPr>
          <p:cNvSpPr>
            <a:spLocks noGrp="1"/>
          </p:cNvSpPr>
          <p:nvPr>
            <p:ph type="sldNum" sz="quarter" idx="12"/>
          </p:nvPr>
        </p:nvSpPr>
        <p:spPr/>
        <p:txBody>
          <a:bodyPr/>
          <a:lstStyle/>
          <a:p>
            <a:fld id="{B6F15528-21DE-4FAA-801E-634DDDAF4B2B}" type="slidenum">
              <a:rPr lang="en-US" smtClean="0"/>
              <a:pPr/>
              <a:t>29</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E2DA60D-CEFA-1961-4CDC-A8FE9FE14858}"/>
                  </a:ext>
                </a:extLst>
              </p:cNvPr>
              <p:cNvSpPr>
                <a:spLocks noGrp="1"/>
              </p:cNvSpPr>
              <p:nvPr>
                <p:ph sz="quarter" idx="1"/>
              </p:nvPr>
            </p:nvSpPr>
            <p:spPr/>
            <p:txBody>
              <a:bodyPr/>
              <a:lstStyle/>
              <a:p>
                <a:r>
                  <a:rPr lang="en-US" dirty="0"/>
                  <a:t>We use performance measures to compare the performance of different models.</a:t>
                </a:r>
              </a:p>
              <a:p>
                <a:r>
                  <a:rPr lang="en-US" dirty="0"/>
                  <a:t>All these performance measures are based on the forecast error: </a:t>
                </a:r>
              </a:p>
              <a:p>
                <a:pPr lvl="1"/>
                <a:r>
                  <a:rPr lang="en-US" dirty="0"/>
                  <a:t>Error for period </a:t>
                </a:r>
                <a:r>
                  <a:rPr lang="en-US" i="1" dirty="0"/>
                  <a:t>t</a:t>
                </a:r>
                <a:r>
                  <a:rPr lang="en-US" dirty="0"/>
                  <a:t> = Actual value  - forecasted value</a:t>
                </a:r>
              </a:p>
              <a:p>
                <a:pPr lvl="1"/>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𝑒</m:t>
                        </m:r>
                      </m:e>
                      <m:sub>
                        <m:r>
                          <a:rPr lang="en-CA" b="0" i="1" smtClean="0">
                            <a:latin typeface="Cambria Math" panose="02040503050406030204" pitchFamily="18" charset="0"/>
                          </a:rPr>
                          <m:t>𝑡</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𝑡</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acc>
                          <m:accPr>
                            <m:chr m:val="̂"/>
                            <m:ctrlPr>
                              <a:rPr lang="en-CA" b="0" i="1" smtClean="0">
                                <a:latin typeface="Cambria Math" panose="02040503050406030204" pitchFamily="18" charset="0"/>
                              </a:rPr>
                            </m:ctrlPr>
                          </m:accPr>
                          <m:e>
                            <m:r>
                              <a:rPr lang="en-CA" b="0" i="1" smtClean="0">
                                <a:latin typeface="Cambria Math" panose="02040503050406030204" pitchFamily="18" charset="0"/>
                              </a:rPr>
                              <m:t>𝑦</m:t>
                            </m:r>
                          </m:e>
                        </m:acc>
                      </m:e>
                      <m:sub>
                        <m:r>
                          <a:rPr lang="en-CA" b="0" i="1" smtClean="0">
                            <a:latin typeface="Cambria Math" panose="02040503050406030204" pitchFamily="18" charset="0"/>
                          </a:rPr>
                          <m:t>𝑡</m:t>
                        </m:r>
                      </m:sub>
                    </m:sSub>
                  </m:oMath>
                </a14:m>
                <a:endParaRPr lang="en-US" dirty="0"/>
              </a:p>
              <a:p>
                <a:r>
                  <a:rPr lang="en-US" dirty="0"/>
                  <a:t>In general, we have three performance measures:</a:t>
                </a:r>
              </a:p>
              <a:p>
                <a:pPr marL="514350" indent="-514350">
                  <a:buFont typeface="+mj-lt"/>
                  <a:buAutoNum type="arabicPeriod"/>
                </a:pPr>
                <a:r>
                  <a:rPr lang="en-US" b="1" dirty="0"/>
                  <a:t>Mean Squared Error (MSE):</a:t>
                </a:r>
              </a:p>
              <a:p>
                <a:pPr marL="788670" lvl="1" indent="-514350"/>
                <a14:m>
                  <m:oMath xmlns:m="http://schemas.openxmlformats.org/officeDocument/2006/math">
                    <m:r>
                      <a:rPr lang="en-US" altLang="en-US" sz="2800" b="0" i="1" dirty="0" smtClean="0">
                        <a:latin typeface="Cambria Math"/>
                        <a:cs typeface="Times New Roman" panose="02020603050405020304" pitchFamily="18" charset="0"/>
                      </a:rPr>
                      <m:t>𝑀𝑆𝐸</m:t>
                    </m:r>
                    <m:r>
                      <a:rPr lang="en-US" altLang="en-US" sz="2800" b="0" i="1" dirty="0" smtClean="0">
                        <a:latin typeface="Cambria Math"/>
                        <a:cs typeface="Times New Roman" panose="02020603050405020304" pitchFamily="18" charset="0"/>
                      </a:rPr>
                      <m:t>= </m:t>
                    </m:r>
                    <m:f>
                      <m:fPr>
                        <m:ctrlPr>
                          <a:rPr lang="en-US" altLang="en-US" sz="2800" i="1" dirty="0" smtClean="0">
                            <a:latin typeface="Cambria Math" panose="02040503050406030204" pitchFamily="18" charset="0"/>
                            <a:cs typeface="Times New Roman" panose="02020603050405020304" pitchFamily="18" charset="0"/>
                          </a:rPr>
                        </m:ctrlPr>
                      </m:fPr>
                      <m:num>
                        <m:r>
                          <a:rPr lang="en-US" altLang="en-US" sz="2800" b="0" i="1" dirty="0">
                            <a:latin typeface="Cambria Math"/>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𝐸𝑟𝑟𝑜𝑟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𝑓𝑜𝑟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𝑝𝑒𝑟𝑖𝑜𝑑</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𝑡</m:t>
                        </m:r>
                        <m:r>
                          <a:rPr lang="en-US" altLang="en-US" sz="2800" b="0" i="1" dirty="0">
                            <a:latin typeface="Cambria Math"/>
                            <a:cs typeface="Times New Roman" panose="02020603050405020304" pitchFamily="18" charset="0"/>
                          </a:rPr>
                          <m:t>)</m:t>
                        </m:r>
                        <m:r>
                          <a:rPr lang="en-US" altLang="en-US" sz="2800" b="0" i="1" baseline="30000" dirty="0">
                            <a:latin typeface="Cambria Math"/>
                            <a:cs typeface="Times New Roman" panose="02020603050405020304" pitchFamily="18" charset="0"/>
                          </a:rPr>
                          <m:t>2</m:t>
                        </m:r>
                        <m:r>
                          <m:rPr>
                            <m:nor/>
                          </m:rPr>
                          <a:rPr lang="en-US" altLang="en-US" sz="2800" dirty="0">
                            <a:cs typeface="Times New Roman" panose="02020603050405020304" pitchFamily="18" charset="0"/>
                          </a:rPr>
                          <m:t> </m:t>
                        </m:r>
                      </m:num>
                      <m:den>
                        <m:r>
                          <a:rPr lang="en-US" altLang="en-US" sz="2800" b="0" i="1" dirty="0" smtClean="0">
                            <a:latin typeface="Cambria Math"/>
                            <a:cs typeface="Times New Roman" panose="02020603050405020304" pitchFamily="18" charset="0"/>
                          </a:rPr>
                          <m:t>𝑛</m:t>
                        </m:r>
                      </m:den>
                    </m:f>
                  </m:oMath>
                </a14:m>
                <a:r>
                  <a:rPr lang="en-US" altLang="en-US" sz="2800" i="1" dirty="0">
                    <a:cs typeface="Times New Roman" panose="02020603050405020304" pitchFamily="18" charset="0"/>
                  </a:rPr>
                  <a:t>= </a:t>
                </a:r>
                <a14:m>
                  <m:oMath xmlns:m="http://schemas.openxmlformats.org/officeDocument/2006/math">
                    <m:f>
                      <m:fPr>
                        <m:ctrlPr>
                          <a:rPr lang="en-US" altLang="en-US" sz="2800" i="1" smtClean="0">
                            <a:latin typeface="Cambria Math" panose="02040503050406030204" pitchFamily="18" charset="0"/>
                            <a:cs typeface="Times New Roman" panose="02020603050405020304" pitchFamily="18" charset="0"/>
                          </a:rPr>
                        </m:ctrlPr>
                      </m:fPr>
                      <m:num>
                        <m:r>
                          <a:rPr lang="en-CA" altLang="en-US" sz="2800" b="0" i="1" smtClean="0">
                            <a:latin typeface="Cambria Math" panose="02040503050406030204" pitchFamily="18" charset="0"/>
                            <a:cs typeface="Times New Roman" panose="02020603050405020304" pitchFamily="18" charset="0"/>
                          </a:rPr>
                          <m:t>1</m:t>
                        </m:r>
                      </m:num>
                      <m:den>
                        <m:r>
                          <a:rPr lang="en-CA" altLang="en-US" sz="2800" b="0" i="1" smtClean="0">
                            <a:latin typeface="Cambria Math" panose="02040503050406030204" pitchFamily="18" charset="0"/>
                            <a:cs typeface="Times New Roman" panose="02020603050405020304" pitchFamily="18" charset="0"/>
                          </a:rPr>
                          <m:t>𝑛</m:t>
                        </m:r>
                      </m:den>
                    </m:f>
                    <m:nary>
                      <m:naryPr>
                        <m:chr m:val="∑"/>
                        <m:subHide m:val="on"/>
                        <m:supHide m:val="on"/>
                        <m:ctrlPr>
                          <a:rPr lang="en-US" altLang="en-US" sz="2800" i="1" smtClean="0">
                            <a:latin typeface="Cambria Math" panose="02040503050406030204" pitchFamily="18" charset="0"/>
                            <a:cs typeface="Times New Roman" panose="02020603050405020304" pitchFamily="18" charset="0"/>
                          </a:rPr>
                        </m:ctrlPr>
                      </m:naryPr>
                      <m:sub/>
                      <m:sup/>
                      <m:e>
                        <m:sSubSup>
                          <m:sSubSupPr>
                            <m:ctrlPr>
                              <a:rPr lang="en-US" altLang="en-US" sz="2800" i="1" smtClean="0">
                                <a:latin typeface="Cambria Math" panose="02040503050406030204" pitchFamily="18" charset="0"/>
                                <a:cs typeface="Times New Roman" panose="02020603050405020304" pitchFamily="18" charset="0"/>
                              </a:rPr>
                            </m:ctrlPr>
                          </m:sSubSupPr>
                          <m:e>
                            <m:r>
                              <a:rPr lang="en-CA" altLang="en-US" sz="2800" b="0" i="1" smtClean="0">
                                <a:latin typeface="Cambria Math" panose="02040503050406030204" pitchFamily="18" charset="0"/>
                                <a:cs typeface="Times New Roman" panose="02020603050405020304" pitchFamily="18" charset="0"/>
                              </a:rPr>
                              <m:t>𝑒</m:t>
                            </m:r>
                          </m:e>
                          <m:sub>
                            <m:r>
                              <a:rPr lang="en-CA" altLang="en-US" sz="2800" b="0" i="1" smtClean="0">
                                <a:latin typeface="Cambria Math" panose="02040503050406030204" pitchFamily="18" charset="0"/>
                                <a:cs typeface="Times New Roman" panose="02020603050405020304" pitchFamily="18" charset="0"/>
                              </a:rPr>
                              <m:t>𝑡</m:t>
                            </m:r>
                          </m:sub>
                          <m:sup>
                            <m:r>
                              <a:rPr lang="en-CA" altLang="en-US" sz="2800" b="0" i="1" smtClean="0">
                                <a:latin typeface="Cambria Math" panose="02040503050406030204" pitchFamily="18" charset="0"/>
                                <a:cs typeface="Times New Roman" panose="02020603050405020304" pitchFamily="18" charset="0"/>
                              </a:rPr>
                              <m:t>2</m:t>
                            </m:r>
                          </m:sup>
                        </m:sSubSup>
                      </m:e>
                    </m:nary>
                  </m:oMath>
                </a14:m>
                <a:endParaRPr lang="en-US" altLang="en-US" sz="2400" i="1" dirty="0">
                  <a:cs typeface="Times New Roman" panose="02020603050405020304" pitchFamily="18" charset="0"/>
                </a:endParaRPr>
              </a:p>
              <a:p>
                <a:pPr marL="788670" lvl="1" indent="-514350"/>
                <a:endParaRPr lang="en-US" dirty="0"/>
              </a:p>
            </p:txBody>
          </p:sp>
        </mc:Choice>
        <mc:Fallback xmlns="">
          <p:sp>
            <p:nvSpPr>
              <p:cNvPr id="4" name="Content Placeholder 3">
                <a:extLst>
                  <a:ext uri="{FF2B5EF4-FFF2-40B4-BE49-F238E27FC236}">
                    <a16:creationId xmlns:a16="http://schemas.microsoft.com/office/drawing/2014/main" id="{7E2DA60D-CEFA-1961-4CDC-A8FE9FE14858}"/>
                  </a:ext>
                </a:extLst>
              </p:cNvPr>
              <p:cNvSpPr>
                <a:spLocks noGrp="1" noRot="1" noChangeAspect="1" noMove="1" noResize="1" noEditPoints="1" noAdjustHandles="1" noChangeArrowheads="1" noChangeShapeType="1" noTextEdit="1"/>
              </p:cNvSpPr>
              <p:nvPr>
                <p:ph sz="quarter" idx="1"/>
              </p:nvPr>
            </p:nvSpPr>
            <p:spPr>
              <a:blipFill>
                <a:blip r:embed="rId2"/>
                <a:stretch>
                  <a:fillRect l="-817" t="-1385" b="-12465"/>
                </a:stretch>
              </a:blipFill>
            </p:spPr>
            <p:txBody>
              <a:bodyPr/>
              <a:lstStyle/>
              <a:p>
                <a:r>
                  <a:rPr lang="en-US">
                    <a:noFill/>
                  </a:rPr>
                  <a:t> </a:t>
                </a:r>
              </a:p>
            </p:txBody>
          </p:sp>
        </mc:Fallback>
      </mc:AlternateContent>
    </p:spTree>
    <p:extLst>
      <p:ext uri="{BB962C8B-B14F-4D97-AF65-F5344CB8AC3E}">
        <p14:creationId xmlns:p14="http://schemas.microsoft.com/office/powerpoint/2010/main" val="2349583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A3FF0-9CA1-8122-1A8E-F9F011BF7F25}"/>
              </a:ext>
            </a:extLst>
          </p:cNvPr>
          <p:cNvSpPr>
            <a:spLocks noGrp="1"/>
          </p:cNvSpPr>
          <p:nvPr>
            <p:ph type="title"/>
          </p:nvPr>
        </p:nvSpPr>
        <p:spPr/>
        <p:txBody>
          <a:bodyPr/>
          <a:lstStyle/>
          <a:p>
            <a:r>
              <a:rPr lang="en-US" dirty="0"/>
              <a:t>Model Selection Criteria</a:t>
            </a:r>
          </a:p>
        </p:txBody>
      </p:sp>
      <p:sp>
        <p:nvSpPr>
          <p:cNvPr id="3" name="Slide Number Placeholder 2">
            <a:extLst>
              <a:ext uri="{FF2B5EF4-FFF2-40B4-BE49-F238E27FC236}">
                <a16:creationId xmlns:a16="http://schemas.microsoft.com/office/drawing/2014/main" id="{9E798BE0-FC1E-FABF-6794-88FE30E6040D}"/>
              </a:ext>
            </a:extLst>
          </p:cNvPr>
          <p:cNvSpPr>
            <a:spLocks noGrp="1"/>
          </p:cNvSpPr>
          <p:nvPr>
            <p:ph type="sldNum" sz="quarter" idx="12"/>
          </p:nvPr>
        </p:nvSpPr>
        <p:spPr/>
        <p:txBody>
          <a:bodyPr/>
          <a:lstStyle/>
          <a:p>
            <a:fld id="{B6F15528-21DE-4FAA-801E-634DDDAF4B2B}" type="slidenum">
              <a:rPr lang="en-US" smtClean="0"/>
              <a:pPr/>
              <a:t>30</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E2DA60D-CEFA-1961-4CDC-A8FE9FE14858}"/>
                  </a:ext>
                </a:extLst>
              </p:cNvPr>
              <p:cNvSpPr>
                <a:spLocks noGrp="1"/>
              </p:cNvSpPr>
              <p:nvPr>
                <p:ph sz="quarter" idx="1"/>
              </p:nvPr>
            </p:nvSpPr>
            <p:spPr/>
            <p:txBody>
              <a:bodyPr/>
              <a:lstStyle/>
              <a:p>
                <a:pPr marL="514350" indent="-514350">
                  <a:buFont typeface="+mj-lt"/>
                  <a:buAutoNum type="arabicPeriod" startAt="2"/>
                </a:pPr>
                <a:r>
                  <a:rPr lang="en-US" b="1" dirty="0"/>
                  <a:t>Mean Absolute Deviation (MAD):</a:t>
                </a:r>
              </a:p>
              <a:p>
                <a:pPr marL="788670" lvl="1" indent="-514350"/>
                <a14:m>
                  <m:oMath xmlns:m="http://schemas.openxmlformats.org/officeDocument/2006/math">
                    <m:r>
                      <a:rPr lang="en-US" altLang="en-US" sz="2800" b="0" i="1" dirty="0" smtClean="0">
                        <a:latin typeface="Cambria Math"/>
                        <a:cs typeface="Times New Roman" panose="02020603050405020304" pitchFamily="18" charset="0"/>
                      </a:rPr>
                      <m:t>𝑀</m:t>
                    </m:r>
                    <m:r>
                      <a:rPr lang="en-CA" altLang="en-US" sz="2800" b="0" i="1" dirty="0" smtClean="0">
                        <a:latin typeface="Cambria Math" panose="02040503050406030204" pitchFamily="18" charset="0"/>
                        <a:cs typeface="Times New Roman" panose="02020603050405020304" pitchFamily="18" charset="0"/>
                      </a:rPr>
                      <m:t>𝐴𝐷</m:t>
                    </m:r>
                    <m:r>
                      <a:rPr lang="en-US" altLang="en-US" sz="2800" b="0" i="1" dirty="0" smtClean="0">
                        <a:latin typeface="Cambria Math"/>
                        <a:cs typeface="Times New Roman" panose="02020603050405020304" pitchFamily="18" charset="0"/>
                      </a:rPr>
                      <m:t>= </m:t>
                    </m:r>
                    <m:f>
                      <m:fPr>
                        <m:ctrlPr>
                          <a:rPr lang="en-US" altLang="en-US" sz="2800" i="1" dirty="0" smtClean="0">
                            <a:latin typeface="Cambria Math" panose="02040503050406030204" pitchFamily="18" charset="0"/>
                            <a:cs typeface="Times New Roman" panose="02020603050405020304" pitchFamily="18" charset="0"/>
                          </a:rPr>
                        </m:ctrlPr>
                      </m:fPr>
                      <m:num>
                        <m:r>
                          <a:rPr lang="en-US" altLang="en-US" sz="2800" b="0" i="1" dirty="0">
                            <a:latin typeface="Cambria Math"/>
                            <a:cs typeface="Times New Roman" panose="02020603050405020304" pitchFamily="18" charset="0"/>
                          </a:rPr>
                          <m:t>∑</m:t>
                        </m:r>
                        <m:r>
                          <a:rPr lang="en-CA" altLang="en-US" sz="2800" b="0" i="1" dirty="0" smtClean="0">
                            <a:latin typeface="Cambria Math" panose="02040503050406030204" pitchFamily="18" charset="0"/>
                            <a:cs typeface="Times New Roman" panose="02020603050405020304" pitchFamily="18" charset="0"/>
                          </a:rPr>
                          <m:t>|</m:t>
                        </m:r>
                        <m:r>
                          <a:rPr lang="en-CA" altLang="en-US" sz="2800" b="0" i="1" dirty="0" smtClean="0">
                            <a:latin typeface="Cambria Math" panose="02040503050406030204" pitchFamily="18" charset="0"/>
                            <a:cs typeface="Times New Roman" panose="02020603050405020304" pitchFamily="18" charset="0"/>
                          </a:rPr>
                          <m:t>𝐸𝑟𝑟𝑜𝑟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𝑓𝑜𝑟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𝑝𝑒𝑟𝑖𝑜𝑑</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𝑡</m:t>
                        </m:r>
                        <m:r>
                          <a:rPr lang="en-CA" altLang="en-US" sz="2800" b="0" i="1" dirty="0" smtClean="0">
                            <a:latin typeface="Cambria Math" panose="02040503050406030204" pitchFamily="18" charset="0"/>
                            <a:cs typeface="Times New Roman" panose="02020603050405020304" pitchFamily="18" charset="0"/>
                          </a:rPr>
                          <m:t>| </m:t>
                        </m:r>
                      </m:num>
                      <m:den>
                        <m:r>
                          <a:rPr lang="en-US" altLang="en-US" sz="2800" b="0" i="1" dirty="0" smtClean="0">
                            <a:latin typeface="Cambria Math"/>
                            <a:cs typeface="Times New Roman" panose="02020603050405020304" pitchFamily="18" charset="0"/>
                          </a:rPr>
                          <m:t>𝑛</m:t>
                        </m:r>
                      </m:den>
                    </m:f>
                  </m:oMath>
                </a14:m>
                <a:r>
                  <a:rPr lang="en-US" altLang="en-US" sz="2800" i="1" dirty="0">
                    <a:cs typeface="Times New Roman" panose="02020603050405020304" pitchFamily="18" charset="0"/>
                  </a:rPr>
                  <a:t>= </a:t>
                </a:r>
                <a14:m>
                  <m:oMath xmlns:m="http://schemas.openxmlformats.org/officeDocument/2006/math">
                    <m:f>
                      <m:fPr>
                        <m:ctrlPr>
                          <a:rPr lang="en-US" altLang="en-US" sz="2800" i="1" smtClean="0">
                            <a:latin typeface="Cambria Math" panose="02040503050406030204" pitchFamily="18" charset="0"/>
                            <a:cs typeface="Times New Roman" panose="02020603050405020304" pitchFamily="18" charset="0"/>
                          </a:rPr>
                        </m:ctrlPr>
                      </m:fPr>
                      <m:num>
                        <m:r>
                          <a:rPr lang="en-CA" altLang="en-US" sz="2800" b="0" i="1" smtClean="0">
                            <a:latin typeface="Cambria Math" panose="02040503050406030204" pitchFamily="18" charset="0"/>
                            <a:cs typeface="Times New Roman" panose="02020603050405020304" pitchFamily="18" charset="0"/>
                          </a:rPr>
                          <m:t>1</m:t>
                        </m:r>
                      </m:num>
                      <m:den>
                        <m:r>
                          <a:rPr lang="en-CA" altLang="en-US" sz="2800" b="0" i="1" smtClean="0">
                            <a:latin typeface="Cambria Math" panose="02040503050406030204" pitchFamily="18" charset="0"/>
                            <a:cs typeface="Times New Roman" panose="02020603050405020304" pitchFamily="18" charset="0"/>
                          </a:rPr>
                          <m:t>𝑛</m:t>
                        </m:r>
                      </m:den>
                    </m:f>
                    <m:nary>
                      <m:naryPr>
                        <m:chr m:val="∑"/>
                        <m:subHide m:val="on"/>
                        <m:supHide m:val="on"/>
                        <m:ctrlPr>
                          <a:rPr lang="en-US" altLang="en-US" sz="2800" i="1" smtClean="0">
                            <a:latin typeface="Cambria Math" panose="02040503050406030204" pitchFamily="18" charset="0"/>
                            <a:cs typeface="Times New Roman" panose="02020603050405020304" pitchFamily="18" charset="0"/>
                          </a:rPr>
                        </m:ctrlPr>
                      </m:naryPr>
                      <m:sub/>
                      <m:sup/>
                      <m:e>
                        <m:d>
                          <m:dPr>
                            <m:begChr m:val="|"/>
                            <m:endChr m:val="|"/>
                            <m:ctrlPr>
                              <a:rPr lang="en-US" altLang="en-US" sz="2800" i="1" smtClean="0">
                                <a:latin typeface="Cambria Math" panose="02040503050406030204" pitchFamily="18" charset="0"/>
                                <a:cs typeface="Times New Roman" panose="02020603050405020304" pitchFamily="18" charset="0"/>
                              </a:rPr>
                            </m:ctrlPr>
                          </m:dPr>
                          <m:e>
                            <m:sSub>
                              <m:sSubPr>
                                <m:ctrlPr>
                                  <a:rPr lang="en-US" altLang="en-US" sz="2800" i="1" smtClean="0">
                                    <a:latin typeface="Cambria Math" panose="02040503050406030204" pitchFamily="18" charset="0"/>
                                    <a:cs typeface="Times New Roman" panose="02020603050405020304" pitchFamily="18" charset="0"/>
                                  </a:rPr>
                                </m:ctrlPr>
                              </m:sSubPr>
                              <m:e>
                                <m:r>
                                  <a:rPr lang="en-CA" altLang="en-US" sz="2800" b="0" i="1" smtClean="0">
                                    <a:latin typeface="Cambria Math" panose="02040503050406030204" pitchFamily="18" charset="0"/>
                                    <a:cs typeface="Times New Roman" panose="02020603050405020304" pitchFamily="18" charset="0"/>
                                  </a:rPr>
                                  <m:t>𝑒</m:t>
                                </m:r>
                              </m:e>
                              <m:sub>
                                <m:r>
                                  <a:rPr lang="en-CA" altLang="en-US" sz="2800" b="0" i="1" smtClean="0">
                                    <a:latin typeface="Cambria Math" panose="02040503050406030204" pitchFamily="18" charset="0"/>
                                    <a:cs typeface="Times New Roman" panose="02020603050405020304" pitchFamily="18" charset="0"/>
                                  </a:rPr>
                                  <m:t>𝑡</m:t>
                                </m:r>
                              </m:sub>
                            </m:sSub>
                          </m:e>
                        </m:d>
                      </m:e>
                    </m:nary>
                  </m:oMath>
                </a14:m>
                <a:endParaRPr lang="en-US" altLang="en-US" sz="2400" i="1" dirty="0">
                  <a:cs typeface="Times New Roman" panose="02020603050405020304" pitchFamily="18" charset="0"/>
                </a:endParaRPr>
              </a:p>
              <a:p>
                <a:pPr marL="788670" lvl="1" indent="-514350"/>
                <a:endParaRPr lang="en-US" dirty="0"/>
              </a:p>
              <a:p>
                <a:pPr marL="514350" indent="-514350">
                  <a:buFont typeface="+mj-lt"/>
                  <a:buAutoNum type="arabicPeriod" startAt="2"/>
                </a:pPr>
                <a:r>
                  <a:rPr lang="en-US" b="1" dirty="0"/>
                  <a:t>Mean Absolute Percent Error (MAPE):</a:t>
                </a:r>
              </a:p>
              <a:p>
                <a:pPr marL="788670" lvl="1" indent="-514350"/>
                <a14:m>
                  <m:oMath xmlns:m="http://schemas.openxmlformats.org/officeDocument/2006/math">
                    <m:r>
                      <a:rPr lang="en-CA" altLang="en-US" sz="2800" b="0" i="1" dirty="0" smtClean="0">
                        <a:latin typeface="Cambria Math" panose="02040503050406030204" pitchFamily="18" charset="0"/>
                        <a:cs typeface="Times New Roman" panose="02020603050405020304" pitchFamily="18" charset="0"/>
                      </a:rPr>
                      <m:t>𝑀𝐴𝑃𝐸</m:t>
                    </m:r>
                    <m:r>
                      <a:rPr lang="en-CA" altLang="en-US" sz="2800" b="0" i="1" dirty="0" smtClean="0">
                        <a:latin typeface="Cambria Math" panose="02040503050406030204" pitchFamily="18" charset="0"/>
                        <a:cs typeface="Times New Roman" panose="02020603050405020304" pitchFamily="18" charset="0"/>
                      </a:rPr>
                      <m:t>= </m:t>
                    </m:r>
                    <m:f>
                      <m:fPr>
                        <m:ctrlPr>
                          <a:rPr lang="en-CA" altLang="en-US" sz="2800" b="0" i="1" dirty="0" smtClean="0">
                            <a:latin typeface="Cambria Math" panose="02040503050406030204" pitchFamily="18" charset="0"/>
                            <a:cs typeface="Times New Roman" panose="02020603050405020304" pitchFamily="18" charset="0"/>
                          </a:rPr>
                        </m:ctrlPr>
                      </m:fPr>
                      <m:num>
                        <m:r>
                          <a:rPr lang="en-CA" altLang="en-US" sz="2800" b="0" i="1" dirty="0" smtClean="0">
                            <a:latin typeface="Cambria Math" panose="02040503050406030204" pitchFamily="18" charset="0"/>
                            <a:cs typeface="Times New Roman" panose="02020603050405020304" pitchFamily="18" charset="0"/>
                          </a:rPr>
                          <m:t>1</m:t>
                        </m:r>
                      </m:num>
                      <m:den>
                        <m:r>
                          <a:rPr lang="en-CA" altLang="en-US" sz="2800" b="0" i="1" dirty="0" smtClean="0">
                            <a:latin typeface="Cambria Math" panose="02040503050406030204" pitchFamily="18" charset="0"/>
                            <a:cs typeface="Times New Roman" panose="02020603050405020304" pitchFamily="18" charset="0"/>
                          </a:rPr>
                          <m:t>𝑛</m:t>
                        </m:r>
                      </m:den>
                    </m:f>
                    <m:d>
                      <m:dPr>
                        <m:ctrlPr>
                          <a:rPr lang="en-CA" altLang="en-US" sz="2800" b="0" i="1" dirty="0" smtClean="0">
                            <a:latin typeface="Cambria Math" panose="02040503050406030204" pitchFamily="18" charset="0"/>
                            <a:cs typeface="Times New Roman" panose="02020603050405020304" pitchFamily="18" charset="0"/>
                          </a:rPr>
                        </m:ctrlPr>
                      </m:dPr>
                      <m:e>
                        <m:nary>
                          <m:naryPr>
                            <m:chr m:val="∑"/>
                            <m:subHide m:val="on"/>
                            <m:supHide m:val="on"/>
                            <m:ctrlPr>
                              <a:rPr lang="en-CA" altLang="en-US" sz="2800" b="0" i="1" dirty="0" smtClean="0">
                                <a:latin typeface="Cambria Math" panose="02040503050406030204" pitchFamily="18" charset="0"/>
                                <a:cs typeface="Times New Roman" panose="02020603050405020304" pitchFamily="18" charset="0"/>
                              </a:rPr>
                            </m:ctrlPr>
                          </m:naryPr>
                          <m:sub/>
                          <m:sup/>
                          <m:e>
                            <m:d>
                              <m:dPr>
                                <m:begChr m:val="|"/>
                                <m:endChr m:val="|"/>
                                <m:ctrlPr>
                                  <a:rPr lang="en-CA" altLang="en-US" sz="2800" b="0" i="1" dirty="0" smtClean="0">
                                    <a:latin typeface="Cambria Math" panose="02040503050406030204" pitchFamily="18" charset="0"/>
                                    <a:cs typeface="Times New Roman" panose="02020603050405020304" pitchFamily="18" charset="0"/>
                                  </a:rPr>
                                </m:ctrlPr>
                              </m:dPr>
                              <m:e>
                                <m:f>
                                  <m:fPr>
                                    <m:ctrlPr>
                                      <a:rPr lang="en-CA" altLang="en-US" sz="2800" b="0" i="1" dirty="0" smtClean="0">
                                        <a:latin typeface="Cambria Math" panose="02040503050406030204" pitchFamily="18" charset="0"/>
                                        <a:cs typeface="Times New Roman" panose="02020603050405020304" pitchFamily="18" charset="0"/>
                                      </a:rPr>
                                    </m:ctrlPr>
                                  </m:fPr>
                                  <m:num>
                                    <m:r>
                                      <a:rPr lang="en-CA" altLang="en-US" sz="2800" b="0" i="1" dirty="0" smtClean="0">
                                        <a:latin typeface="Cambria Math" panose="02040503050406030204" pitchFamily="18" charset="0"/>
                                        <a:cs typeface="Times New Roman" panose="02020603050405020304" pitchFamily="18" charset="0"/>
                                      </a:rPr>
                                      <m:t>𝐸𝑟𝑟𝑜𝑟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𝑓𝑜𝑟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𝑝𝑒𝑟𝑖𝑜𝑑</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𝑡</m:t>
                                    </m:r>
                                  </m:num>
                                  <m:den>
                                    <m:r>
                                      <a:rPr lang="en-CA" altLang="en-US" sz="2800" b="0" i="1" dirty="0" smtClean="0">
                                        <a:latin typeface="Cambria Math" panose="02040503050406030204" pitchFamily="18" charset="0"/>
                                        <a:cs typeface="Times New Roman" panose="02020603050405020304" pitchFamily="18" charset="0"/>
                                      </a:rPr>
                                      <m:t>𝐴𝑐𝑡𝑢𝑎𝑙</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𝑣𝑎𝑙𝑢𝑒</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𝑓𝑜𝑟</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𝑝𝑒𝑟𝑖𝑜𝑑</m:t>
                                    </m:r>
                                    <m:r>
                                      <a:rPr lang="en-CA" altLang="en-US" sz="2800" b="0" i="1" dirty="0" smtClean="0">
                                        <a:latin typeface="Cambria Math" panose="02040503050406030204" pitchFamily="18" charset="0"/>
                                        <a:cs typeface="Times New Roman" panose="02020603050405020304" pitchFamily="18" charset="0"/>
                                      </a:rPr>
                                      <m:t> </m:t>
                                    </m:r>
                                    <m:r>
                                      <a:rPr lang="en-CA" altLang="en-US" sz="2800" b="0" i="1" dirty="0" smtClean="0">
                                        <a:latin typeface="Cambria Math" panose="02040503050406030204" pitchFamily="18" charset="0"/>
                                        <a:cs typeface="Times New Roman" panose="02020603050405020304" pitchFamily="18" charset="0"/>
                                      </a:rPr>
                                      <m:t>𝑡</m:t>
                                    </m:r>
                                  </m:den>
                                </m:f>
                              </m:e>
                            </m:d>
                          </m:e>
                        </m:nary>
                      </m:e>
                    </m:d>
                    <m:r>
                      <a:rPr lang="en-CA" altLang="en-US" sz="2800" b="0" i="1" dirty="0" smtClean="0">
                        <a:latin typeface="Cambria Math" panose="02040503050406030204" pitchFamily="18" charset="0"/>
                        <a:ea typeface="Cambria Math" panose="02040503050406030204" pitchFamily="18" charset="0"/>
                      </a:rPr>
                      <m:t>×100</m:t>
                    </m:r>
                  </m:oMath>
                </a14:m>
                <a:endParaRPr lang="en-CA" altLang="en-US" sz="2800" b="0" dirty="0">
                  <a:ea typeface="Cambria Math" panose="02040503050406030204" pitchFamily="18" charset="0"/>
                </a:endParaRPr>
              </a:p>
              <a:p>
                <a:pPr marL="274320" lvl="1" indent="0">
                  <a:buNone/>
                </a:pPr>
                <a14:m>
                  <m:oMathPara xmlns:m="http://schemas.openxmlformats.org/officeDocument/2006/math">
                    <m:oMathParaPr>
                      <m:jc m:val="centerGroup"/>
                    </m:oMathParaPr>
                    <m:oMath xmlns:m="http://schemas.openxmlformats.org/officeDocument/2006/math">
                      <m:r>
                        <a:rPr lang="en-CA" altLang="en-US" sz="2800" b="0" i="1" dirty="0" smtClean="0">
                          <a:latin typeface="Cambria Math" panose="02040503050406030204" pitchFamily="18" charset="0"/>
                        </a:rPr>
                        <m:t>= </m:t>
                      </m:r>
                      <m:f>
                        <m:fPr>
                          <m:ctrlPr>
                            <a:rPr lang="en-CA" altLang="en-US" sz="2800" b="0" i="1" dirty="0" smtClean="0">
                              <a:latin typeface="Cambria Math" panose="02040503050406030204" pitchFamily="18" charset="0"/>
                            </a:rPr>
                          </m:ctrlPr>
                        </m:fPr>
                        <m:num>
                          <m:r>
                            <a:rPr lang="en-CA" altLang="en-US" sz="2800" b="0" i="1" dirty="0" smtClean="0">
                              <a:latin typeface="Cambria Math" panose="02040503050406030204" pitchFamily="18" charset="0"/>
                            </a:rPr>
                            <m:t>1</m:t>
                          </m:r>
                        </m:num>
                        <m:den>
                          <m:r>
                            <a:rPr lang="en-CA" altLang="en-US" sz="2800" b="0" i="1" dirty="0" smtClean="0">
                              <a:latin typeface="Cambria Math" panose="02040503050406030204" pitchFamily="18" charset="0"/>
                            </a:rPr>
                            <m:t>𝑛</m:t>
                          </m:r>
                        </m:den>
                      </m:f>
                      <m:d>
                        <m:dPr>
                          <m:ctrlPr>
                            <a:rPr lang="en-CA" altLang="en-US" sz="2800" b="0" i="1" dirty="0" smtClean="0">
                              <a:latin typeface="Cambria Math" panose="02040503050406030204" pitchFamily="18" charset="0"/>
                            </a:rPr>
                          </m:ctrlPr>
                        </m:dPr>
                        <m:e>
                          <m:nary>
                            <m:naryPr>
                              <m:chr m:val="∑"/>
                              <m:subHide m:val="on"/>
                              <m:supHide m:val="on"/>
                              <m:ctrlPr>
                                <a:rPr lang="en-CA" altLang="en-US" sz="2800" b="0" i="1" dirty="0" smtClean="0">
                                  <a:latin typeface="Cambria Math" panose="02040503050406030204" pitchFamily="18" charset="0"/>
                                </a:rPr>
                              </m:ctrlPr>
                            </m:naryPr>
                            <m:sub/>
                            <m:sup/>
                            <m:e>
                              <m:d>
                                <m:dPr>
                                  <m:begChr m:val="|"/>
                                  <m:endChr m:val="|"/>
                                  <m:ctrlPr>
                                    <a:rPr lang="en-CA" altLang="en-US" sz="2800" b="0" i="1" dirty="0" smtClean="0">
                                      <a:latin typeface="Cambria Math" panose="02040503050406030204" pitchFamily="18" charset="0"/>
                                    </a:rPr>
                                  </m:ctrlPr>
                                </m:dPr>
                                <m:e>
                                  <m:f>
                                    <m:fPr>
                                      <m:ctrlPr>
                                        <a:rPr lang="en-CA" altLang="en-US" sz="2800" b="0" i="1" dirty="0" smtClean="0">
                                          <a:latin typeface="Cambria Math" panose="02040503050406030204" pitchFamily="18" charset="0"/>
                                        </a:rPr>
                                      </m:ctrlPr>
                                    </m:fPr>
                                    <m:num>
                                      <m:sSub>
                                        <m:sSubPr>
                                          <m:ctrlPr>
                                            <a:rPr lang="en-CA" altLang="en-US" sz="2800" b="0" i="1" dirty="0" smtClean="0">
                                              <a:latin typeface="Cambria Math" panose="02040503050406030204" pitchFamily="18" charset="0"/>
                                            </a:rPr>
                                          </m:ctrlPr>
                                        </m:sSubPr>
                                        <m:e>
                                          <m:r>
                                            <a:rPr lang="en-CA" altLang="en-US" sz="2800" b="0" i="1" dirty="0" smtClean="0">
                                              <a:latin typeface="Cambria Math" panose="02040503050406030204" pitchFamily="18" charset="0"/>
                                            </a:rPr>
                                            <m:t>𝑒</m:t>
                                          </m:r>
                                        </m:e>
                                        <m:sub>
                                          <m:r>
                                            <a:rPr lang="en-CA" altLang="en-US" sz="2800" b="0" i="1" dirty="0" smtClean="0">
                                              <a:latin typeface="Cambria Math" panose="02040503050406030204" pitchFamily="18" charset="0"/>
                                            </a:rPr>
                                            <m:t>𝑡</m:t>
                                          </m:r>
                                        </m:sub>
                                      </m:sSub>
                                    </m:num>
                                    <m:den>
                                      <m:sSub>
                                        <m:sSubPr>
                                          <m:ctrlPr>
                                            <a:rPr lang="en-CA" altLang="en-US" sz="2800" b="0" i="1" dirty="0" smtClean="0">
                                              <a:latin typeface="Cambria Math" panose="02040503050406030204" pitchFamily="18" charset="0"/>
                                            </a:rPr>
                                          </m:ctrlPr>
                                        </m:sSubPr>
                                        <m:e>
                                          <m:r>
                                            <a:rPr lang="en-CA" altLang="en-US" sz="2800" b="0" i="1" dirty="0" smtClean="0">
                                              <a:latin typeface="Cambria Math" panose="02040503050406030204" pitchFamily="18" charset="0"/>
                                            </a:rPr>
                                            <m:t>𝑦</m:t>
                                          </m:r>
                                        </m:e>
                                        <m:sub>
                                          <m:r>
                                            <a:rPr lang="en-CA" altLang="en-US" sz="2800" b="0" i="1" dirty="0" smtClean="0">
                                              <a:latin typeface="Cambria Math" panose="02040503050406030204" pitchFamily="18" charset="0"/>
                                            </a:rPr>
                                            <m:t>𝑡</m:t>
                                          </m:r>
                                        </m:sub>
                                      </m:sSub>
                                    </m:den>
                                  </m:f>
                                </m:e>
                              </m:d>
                            </m:e>
                          </m:nary>
                        </m:e>
                      </m:d>
                      <m:r>
                        <a:rPr lang="en-CA" altLang="en-US" sz="2800" b="0" i="1" dirty="0" smtClean="0">
                          <a:latin typeface="Cambria Math" panose="02040503050406030204" pitchFamily="18" charset="0"/>
                          <a:ea typeface="Cambria Math" panose="02040503050406030204" pitchFamily="18" charset="0"/>
                        </a:rPr>
                        <m:t>×100</m:t>
                      </m:r>
                    </m:oMath>
                  </m:oMathPara>
                </a14:m>
                <a:endParaRPr lang="en-US" sz="2800" dirty="0"/>
              </a:p>
              <a:p>
                <a:pPr marL="788670" lvl="1" indent="-514350"/>
                <a:endParaRPr lang="en-US" dirty="0"/>
              </a:p>
            </p:txBody>
          </p:sp>
        </mc:Choice>
        <mc:Fallback xmlns="">
          <p:sp>
            <p:nvSpPr>
              <p:cNvPr id="4" name="Content Placeholder 3">
                <a:extLst>
                  <a:ext uri="{FF2B5EF4-FFF2-40B4-BE49-F238E27FC236}">
                    <a16:creationId xmlns:a16="http://schemas.microsoft.com/office/drawing/2014/main" id="{7E2DA60D-CEFA-1961-4CDC-A8FE9FE14858}"/>
                  </a:ext>
                </a:extLst>
              </p:cNvPr>
              <p:cNvSpPr>
                <a:spLocks noGrp="1" noRot="1" noChangeAspect="1" noMove="1" noResize="1" noEditPoints="1" noAdjustHandles="1" noChangeArrowheads="1" noChangeShapeType="1" noTextEdit="1"/>
              </p:cNvSpPr>
              <p:nvPr>
                <p:ph sz="quarter" idx="1"/>
              </p:nvPr>
            </p:nvSpPr>
            <p:spPr>
              <a:blipFill>
                <a:blip r:embed="rId2"/>
                <a:stretch>
                  <a:fillRect l="-817" t="-2770" r="-163" b="-31302"/>
                </a:stretch>
              </a:blipFill>
            </p:spPr>
            <p:txBody>
              <a:bodyPr/>
              <a:lstStyle/>
              <a:p>
                <a:r>
                  <a:rPr lang="en-US">
                    <a:noFill/>
                  </a:rPr>
                  <a:t> </a:t>
                </a:r>
              </a:p>
            </p:txBody>
          </p:sp>
        </mc:Fallback>
      </mc:AlternateContent>
    </p:spTree>
    <p:extLst>
      <p:ext uri="{BB962C8B-B14F-4D97-AF65-F5344CB8AC3E}">
        <p14:creationId xmlns:p14="http://schemas.microsoft.com/office/powerpoint/2010/main" val="1187840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68E94-118B-941E-F30B-FFFAFEB2335F}"/>
              </a:ext>
            </a:extLst>
          </p:cNvPr>
          <p:cNvSpPr>
            <a:spLocks noGrp="1"/>
          </p:cNvSpPr>
          <p:nvPr>
            <p:ph type="title"/>
          </p:nvPr>
        </p:nvSpPr>
        <p:spPr/>
        <p:txBody>
          <a:bodyPr/>
          <a:lstStyle/>
          <a:p>
            <a:r>
              <a:rPr lang="en-US" dirty="0"/>
              <a:t>Model Selection Criteria</a:t>
            </a:r>
          </a:p>
        </p:txBody>
      </p:sp>
      <p:sp>
        <p:nvSpPr>
          <p:cNvPr id="3" name="Slide Number Placeholder 2">
            <a:extLst>
              <a:ext uri="{FF2B5EF4-FFF2-40B4-BE49-F238E27FC236}">
                <a16:creationId xmlns:a16="http://schemas.microsoft.com/office/drawing/2014/main" id="{2D18E37C-9B2F-95EE-CC9D-29E9871A011F}"/>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4" name="Content Placeholder 3">
            <a:extLst>
              <a:ext uri="{FF2B5EF4-FFF2-40B4-BE49-F238E27FC236}">
                <a16:creationId xmlns:a16="http://schemas.microsoft.com/office/drawing/2014/main" id="{C24E56ED-4BB6-92A1-FC83-02E158512F35}"/>
              </a:ext>
            </a:extLst>
          </p:cNvPr>
          <p:cNvSpPr>
            <a:spLocks noGrp="1"/>
          </p:cNvSpPr>
          <p:nvPr>
            <p:ph sz="quarter" idx="1"/>
          </p:nvPr>
        </p:nvSpPr>
        <p:spPr/>
        <p:txBody>
          <a:bodyPr/>
          <a:lstStyle/>
          <a:p>
            <a:r>
              <a:rPr lang="en-US" dirty="0"/>
              <a:t>Similar to Regression Models, it is better to use cross-validation to test the forecasting models.</a:t>
            </a:r>
          </a:p>
          <a:p>
            <a:r>
              <a:rPr lang="en-US" dirty="0"/>
              <a:t>We need to measure the predictive power of a model based on a set of data not used in estimation.</a:t>
            </a:r>
          </a:p>
          <a:p>
            <a:r>
              <a:rPr lang="en-US" dirty="0"/>
              <a:t>Cross validation is a technique that evaluates predictive models by partitioning the sample.</a:t>
            </a:r>
          </a:p>
          <a:p>
            <a:pPr lvl="1"/>
            <a:r>
              <a:rPr lang="en-US" b="1" dirty="0"/>
              <a:t>Training set: </a:t>
            </a:r>
            <a:r>
              <a:rPr lang="en-US" dirty="0"/>
              <a:t>use to train the model.</a:t>
            </a:r>
          </a:p>
          <a:p>
            <a:pPr lvl="1"/>
            <a:r>
              <a:rPr lang="en-US" b="1" dirty="0"/>
              <a:t>Validation set: </a:t>
            </a:r>
            <a:r>
              <a:rPr lang="en-US" dirty="0"/>
              <a:t>use to evaluate/validate the model. </a:t>
            </a:r>
          </a:p>
          <a:p>
            <a:endParaRPr lang="en-US" dirty="0"/>
          </a:p>
        </p:txBody>
      </p:sp>
      <p:pic>
        <p:nvPicPr>
          <p:cNvPr id="5" name="Picture 4" descr="A rectangular block has 2 unequal portions. The larger part represents training set and the smaller part represents validation set.">
            <a:extLst>
              <a:ext uri="{FF2B5EF4-FFF2-40B4-BE49-F238E27FC236}">
                <a16:creationId xmlns:a16="http://schemas.microsoft.com/office/drawing/2014/main" id="{DA7B97EF-C2A3-5AF6-BCB4-D1A25FB52312}"/>
              </a:ext>
            </a:extLst>
          </p:cNvPr>
          <p:cNvPicPr>
            <a:picLocks noChangeAspect="1"/>
          </p:cNvPicPr>
          <p:nvPr/>
        </p:nvPicPr>
        <p:blipFill>
          <a:blip r:embed="rId2"/>
          <a:stretch>
            <a:fillRect/>
          </a:stretch>
        </p:blipFill>
        <p:spPr>
          <a:xfrm>
            <a:off x="1926194" y="5058172"/>
            <a:ext cx="5184587" cy="1152128"/>
          </a:xfrm>
          <a:prstGeom prst="rect">
            <a:avLst/>
          </a:prstGeom>
        </p:spPr>
      </p:pic>
    </p:spTree>
    <p:extLst>
      <p:ext uri="{BB962C8B-B14F-4D97-AF65-F5344CB8AC3E}">
        <p14:creationId xmlns:p14="http://schemas.microsoft.com/office/powerpoint/2010/main" val="3451216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63F27-695E-299B-33DC-DD5420F97BD8}"/>
              </a:ext>
            </a:extLst>
          </p:cNvPr>
          <p:cNvSpPr>
            <a:spLocks noGrp="1"/>
          </p:cNvSpPr>
          <p:nvPr>
            <p:ph type="title"/>
          </p:nvPr>
        </p:nvSpPr>
        <p:spPr/>
        <p:txBody>
          <a:bodyPr/>
          <a:lstStyle/>
          <a:p>
            <a:r>
              <a:rPr lang="en-US" dirty="0"/>
              <a:t>Model Selection Criteria</a:t>
            </a:r>
          </a:p>
        </p:txBody>
      </p:sp>
      <p:sp>
        <p:nvSpPr>
          <p:cNvPr id="3" name="Slide Number Placeholder 2">
            <a:extLst>
              <a:ext uri="{FF2B5EF4-FFF2-40B4-BE49-F238E27FC236}">
                <a16:creationId xmlns:a16="http://schemas.microsoft.com/office/drawing/2014/main" id="{8D3DAE21-4622-6ACC-D95B-96323FFD516B}"/>
              </a:ext>
            </a:extLst>
          </p:cNvPr>
          <p:cNvSpPr>
            <a:spLocks noGrp="1"/>
          </p:cNvSpPr>
          <p:nvPr>
            <p:ph type="sldNum" sz="quarter" idx="12"/>
          </p:nvPr>
        </p:nvSpPr>
        <p:spPr/>
        <p:txBody>
          <a:bodyPr/>
          <a:lstStyle/>
          <a:p>
            <a:fld id="{B6F15528-21DE-4FAA-801E-634DDDAF4B2B}" type="slidenum">
              <a:rPr lang="en-US" smtClean="0"/>
              <a:pPr/>
              <a:t>32</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4E1D3EE-5540-28AE-2324-5958C739E342}"/>
                  </a:ext>
                </a:extLst>
              </p:cNvPr>
              <p:cNvSpPr>
                <a:spLocks noGrp="1"/>
              </p:cNvSpPr>
              <p:nvPr>
                <p:ph sz="quarter" idx="1"/>
              </p:nvPr>
            </p:nvSpPr>
            <p:spPr/>
            <p:txBody>
              <a:bodyPr>
                <a:normAutofit/>
              </a:bodyPr>
              <a:lstStyle/>
              <a:p>
                <a:pPr marL="0" indent="0">
                  <a:buNone/>
                </a:pPr>
                <a:r>
                  <a:rPr lang="en-US" b="1" dirty="0"/>
                  <a:t>Example 5.11: </a:t>
                </a:r>
                <a:r>
                  <a:rPr lang="en-US" dirty="0"/>
                  <a:t>Recall Example 5.5 (“</a:t>
                </a:r>
                <a:r>
                  <a:rPr lang="en-US" dirty="0" err="1"/>
                  <a:t>Cafe_Sales</a:t>
                </a:r>
                <a:r>
                  <a:rPr lang="en-US" dirty="0"/>
                  <a:t>” data set). For cross-validation, let the training and the validation sets comprise the first 80 days and the last 20 days, respectively. Use the training set to implement the Holt exponential smoothing method with two sets of user-supplied smoothing parameters,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CA" b="0" i="1" smtClean="0">
                        <a:latin typeface="Cambria Math" panose="02040503050406030204" pitchFamily="18" charset="0"/>
                        <a:ea typeface="Cambria Math" panose="02040503050406030204" pitchFamily="18" charset="0"/>
                      </a:rPr>
                      <m:t>=0.2</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=0.</m:t>
                    </m:r>
                    <m:r>
                      <a:rPr lang="en-CA" b="0" i="1" smtClean="0">
                        <a:latin typeface="Cambria Math" panose="02040503050406030204" pitchFamily="18" charset="0"/>
                        <a:ea typeface="Cambria Math" panose="02040503050406030204" pitchFamily="18" charset="0"/>
                      </a:rPr>
                      <m:t>1</m:t>
                    </m:r>
                  </m:oMath>
                </a14:m>
                <a:r>
                  <a:rPr lang="en-US" b="1" dirty="0"/>
                  <a:t> </a:t>
                </a:r>
                <a:r>
                  <a:rPr lang="en-US" dirty="0"/>
                  <a:t>and </a:t>
                </a:r>
                <a14:m>
                  <m:oMath xmlns:m="http://schemas.openxmlformats.org/officeDocument/2006/math">
                    <m:r>
                      <a:rPr lang="en-US" i="1">
                        <a:latin typeface="Cambria Math" panose="02040503050406030204" pitchFamily="18" charset="0"/>
                        <a:ea typeface="Cambria Math" panose="02040503050406030204" pitchFamily="18" charset="0"/>
                      </a:rPr>
                      <m:t>𝛼</m:t>
                    </m:r>
                    <m:r>
                      <a:rPr lang="en-CA" i="1">
                        <a:latin typeface="Cambria Math" panose="02040503050406030204" pitchFamily="18" charset="0"/>
                        <a:ea typeface="Cambria Math" panose="02040503050406030204" pitchFamily="18" charset="0"/>
                      </a:rPr>
                      <m:t>=0.</m:t>
                    </m:r>
                    <m:r>
                      <a:rPr lang="en-CA" b="0" i="1" smtClean="0">
                        <a:latin typeface="Cambria Math" panose="02040503050406030204" pitchFamily="18" charset="0"/>
                        <a:ea typeface="Cambria Math" panose="02040503050406030204" pitchFamily="18" charset="0"/>
                      </a:rPr>
                      <m:t>3</m:t>
                    </m:r>
                  </m:oMath>
                </a14:m>
                <a:r>
                  <a:rPr lang="en-US" dirty="0"/>
                  <a:t> and </a:t>
                </a:r>
                <a14:m>
                  <m:oMath xmlns:m="http://schemas.openxmlformats.org/officeDocument/2006/math">
                    <m:r>
                      <a:rPr lang="en-US" i="1">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=0.</m:t>
                    </m:r>
                    <m:r>
                      <a:rPr lang="en-CA" b="0" i="1" smtClean="0">
                        <a:latin typeface="Cambria Math" panose="02040503050406030204" pitchFamily="18" charset="0"/>
                        <a:ea typeface="Cambria Math" panose="02040503050406030204" pitchFamily="18" charset="0"/>
                      </a:rPr>
                      <m:t>2</m:t>
                    </m:r>
                  </m:oMath>
                </a14:m>
                <a:r>
                  <a:rPr lang="en-US" b="1" dirty="0"/>
                  <a:t>. </a:t>
                </a:r>
                <a:r>
                  <a:rPr lang="en-US" dirty="0"/>
                  <a:t>Compute the resulting MSE, MAD, and MAPE for the validation set.</a:t>
                </a:r>
                <a:endParaRPr lang="en-US" b="1" dirty="0"/>
              </a:p>
            </p:txBody>
          </p:sp>
        </mc:Choice>
        <mc:Fallback xmlns="">
          <p:sp>
            <p:nvSpPr>
              <p:cNvPr id="4" name="Content Placeholder 3">
                <a:extLst>
                  <a:ext uri="{FF2B5EF4-FFF2-40B4-BE49-F238E27FC236}">
                    <a16:creationId xmlns:a16="http://schemas.microsoft.com/office/drawing/2014/main" id="{64E1D3EE-5540-28AE-2324-5958C739E342}"/>
                  </a:ext>
                </a:extLst>
              </p:cNvPr>
              <p:cNvSpPr>
                <a:spLocks noGrp="1" noRot="1" noChangeAspect="1" noMove="1" noResize="1" noEditPoints="1" noAdjustHandles="1" noChangeArrowheads="1" noChangeShapeType="1" noTextEdit="1"/>
              </p:cNvSpPr>
              <p:nvPr>
                <p:ph sz="quarter" idx="1"/>
              </p:nvPr>
            </p:nvSpPr>
            <p:spPr>
              <a:blipFill>
                <a:blip r:embed="rId2"/>
                <a:stretch>
                  <a:fillRect l="-1471" t="-1385"/>
                </a:stretch>
              </a:blipFill>
            </p:spPr>
            <p:txBody>
              <a:bodyPr/>
              <a:lstStyle/>
              <a:p>
                <a:r>
                  <a:rPr lang="en-US">
                    <a:noFill/>
                  </a:rPr>
                  <a:t> </a:t>
                </a:r>
              </a:p>
            </p:txBody>
          </p:sp>
        </mc:Fallback>
      </mc:AlternateContent>
    </p:spTree>
    <p:extLst>
      <p:ext uri="{BB962C8B-B14F-4D97-AF65-F5344CB8AC3E}">
        <p14:creationId xmlns:p14="http://schemas.microsoft.com/office/powerpoint/2010/main" val="1614563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63F27-695E-299B-33DC-DD5420F97BD8}"/>
              </a:ext>
            </a:extLst>
          </p:cNvPr>
          <p:cNvSpPr>
            <a:spLocks noGrp="1"/>
          </p:cNvSpPr>
          <p:nvPr>
            <p:ph type="title"/>
          </p:nvPr>
        </p:nvSpPr>
        <p:spPr/>
        <p:txBody>
          <a:bodyPr/>
          <a:lstStyle/>
          <a:p>
            <a:r>
              <a:rPr lang="en-US" dirty="0"/>
              <a:t>Model Selection Criteria</a:t>
            </a:r>
          </a:p>
        </p:txBody>
      </p:sp>
      <p:sp>
        <p:nvSpPr>
          <p:cNvPr id="3" name="Slide Number Placeholder 2">
            <a:extLst>
              <a:ext uri="{FF2B5EF4-FFF2-40B4-BE49-F238E27FC236}">
                <a16:creationId xmlns:a16="http://schemas.microsoft.com/office/drawing/2014/main" id="{8D3DAE21-4622-6ACC-D95B-96323FFD516B}"/>
              </a:ext>
            </a:extLst>
          </p:cNvPr>
          <p:cNvSpPr>
            <a:spLocks noGrp="1"/>
          </p:cNvSpPr>
          <p:nvPr>
            <p:ph type="sldNum" sz="quarter" idx="12"/>
          </p:nvPr>
        </p:nvSpPr>
        <p:spPr/>
        <p:txBody>
          <a:bodyPr/>
          <a:lstStyle/>
          <a:p>
            <a:fld id="{B6F15528-21DE-4FAA-801E-634DDDAF4B2B}" type="slidenum">
              <a:rPr lang="en-US" smtClean="0"/>
              <a:pPr/>
              <a:t>33</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4E1D3EE-5540-28AE-2324-5958C739E342}"/>
                  </a:ext>
                </a:extLst>
              </p:cNvPr>
              <p:cNvSpPr>
                <a:spLocks noGrp="1"/>
              </p:cNvSpPr>
              <p:nvPr>
                <p:ph sz="quarter" idx="1"/>
              </p:nvPr>
            </p:nvSpPr>
            <p:spPr/>
            <p:txBody>
              <a:bodyPr>
                <a:normAutofit/>
              </a:bodyPr>
              <a:lstStyle/>
              <a:p>
                <a:pPr marL="0" indent="0">
                  <a:buNone/>
                </a:pPr>
                <a:r>
                  <a:rPr lang="en-US" b="1" dirty="0"/>
                  <a:t>Example 5.12: </a:t>
                </a:r>
                <a:r>
                  <a:rPr lang="en-US" dirty="0"/>
                  <a:t>Recall Example 5.6 (“</a:t>
                </a:r>
                <a:r>
                  <a:rPr lang="en-US" dirty="0" err="1"/>
                  <a:t>Stock_Price</a:t>
                </a:r>
                <a:r>
                  <a:rPr lang="en-US" dirty="0"/>
                  <a:t>” data set). For cross-validation, let the training and the validation sets comprise the first 40 weeks and the last 13 weeks, respectively. Use the training set to implement the Holt exponential smoothing method with user-supplied smoothing parameters,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CA" b="0" i="1" smtClean="0">
                        <a:latin typeface="Cambria Math" panose="02040503050406030204" pitchFamily="18" charset="0"/>
                        <a:ea typeface="Cambria Math" panose="02040503050406030204" pitchFamily="18" charset="0"/>
                      </a:rPr>
                      <m:t>=0.2</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𝛽</m:t>
                    </m:r>
                    <m:r>
                      <a:rPr lang="en-CA" i="1">
                        <a:latin typeface="Cambria Math" panose="02040503050406030204" pitchFamily="18" charset="0"/>
                        <a:ea typeface="Cambria Math" panose="02040503050406030204" pitchFamily="18" charset="0"/>
                      </a:rPr>
                      <m:t>=0.</m:t>
                    </m:r>
                    <m:r>
                      <a:rPr lang="en-CA" b="0" i="1" smtClean="0">
                        <a:latin typeface="Cambria Math" panose="02040503050406030204" pitchFamily="18" charset="0"/>
                        <a:ea typeface="Cambria Math" panose="02040503050406030204" pitchFamily="18" charset="0"/>
                      </a:rPr>
                      <m:t>1</m:t>
                    </m:r>
                  </m:oMath>
                </a14:m>
                <a:r>
                  <a:rPr lang="en-US" b="1" dirty="0"/>
                  <a:t> </a:t>
                </a:r>
                <a:r>
                  <a:rPr lang="en-US" dirty="0"/>
                  <a:t>and, as well as computer-generated smoothing parameters. Compute the resulting MSE, MAD, and MAPE for the validation set.</a:t>
                </a:r>
                <a:endParaRPr lang="en-US" b="1" dirty="0"/>
              </a:p>
            </p:txBody>
          </p:sp>
        </mc:Choice>
        <mc:Fallback xmlns="">
          <p:sp>
            <p:nvSpPr>
              <p:cNvPr id="4" name="Content Placeholder 3">
                <a:extLst>
                  <a:ext uri="{FF2B5EF4-FFF2-40B4-BE49-F238E27FC236}">
                    <a16:creationId xmlns:a16="http://schemas.microsoft.com/office/drawing/2014/main" id="{64E1D3EE-5540-28AE-2324-5958C739E342}"/>
                  </a:ext>
                </a:extLst>
              </p:cNvPr>
              <p:cNvSpPr>
                <a:spLocks noGrp="1" noRot="1" noChangeAspect="1" noMove="1" noResize="1" noEditPoints="1" noAdjustHandles="1" noChangeArrowheads="1" noChangeShapeType="1" noTextEdit="1"/>
              </p:cNvSpPr>
              <p:nvPr>
                <p:ph sz="quarter" idx="1"/>
              </p:nvPr>
            </p:nvSpPr>
            <p:spPr>
              <a:blipFill>
                <a:blip r:embed="rId2"/>
                <a:stretch>
                  <a:fillRect l="-1471" t="-1385" r="-1797"/>
                </a:stretch>
              </a:blipFill>
            </p:spPr>
            <p:txBody>
              <a:bodyPr/>
              <a:lstStyle/>
              <a:p>
                <a:r>
                  <a:rPr lang="en-US">
                    <a:noFill/>
                  </a:rPr>
                  <a:t> </a:t>
                </a:r>
              </a:p>
            </p:txBody>
          </p:sp>
        </mc:Fallback>
      </mc:AlternateContent>
    </p:spTree>
    <p:extLst>
      <p:ext uri="{BB962C8B-B14F-4D97-AF65-F5344CB8AC3E}">
        <p14:creationId xmlns:p14="http://schemas.microsoft.com/office/powerpoint/2010/main" val="23775054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erations Managemen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Operations Management</Template>
  <TotalTime>8656</TotalTime>
  <Words>2012</Words>
  <Application>Microsoft Macintosh PowerPoint</Application>
  <PresentationFormat>On-screen Show (4:3)</PresentationFormat>
  <Paragraphs>305</Paragraphs>
  <Slides>33</Slides>
  <Notes>14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3" baseType="lpstr">
      <vt:lpstr>Arial</vt:lpstr>
      <vt:lpstr>Calibri</vt:lpstr>
      <vt:lpstr>Cambria Math</vt:lpstr>
      <vt:lpstr>Franklin Gothic Book</vt:lpstr>
      <vt:lpstr>Perpetua</vt:lpstr>
      <vt:lpstr>Times New Roman</vt:lpstr>
      <vt:lpstr>Wingdings</vt:lpstr>
      <vt:lpstr>Wingdings 2</vt:lpstr>
      <vt:lpstr>Operations Management</vt:lpstr>
      <vt:lpstr>Equation</vt:lpstr>
      <vt:lpstr>Forecasting</vt:lpstr>
      <vt:lpstr>What is Forecasting?</vt:lpstr>
      <vt:lpstr>The Realities!</vt:lpstr>
      <vt:lpstr>Forecasting Approaches</vt:lpstr>
      <vt:lpstr>Time-Series Forecasting </vt:lpstr>
      <vt:lpstr>Time-Series Forecasting </vt:lpstr>
      <vt:lpstr>Time-Series Forecasting</vt:lpstr>
      <vt:lpstr>Moving Average Method</vt:lpstr>
      <vt:lpstr>Moving Average Method</vt:lpstr>
      <vt:lpstr>Moving Average Method</vt:lpstr>
      <vt:lpstr>Moving Average Method</vt:lpstr>
      <vt:lpstr>Moving Average Method</vt:lpstr>
      <vt:lpstr>Exponential Smoothing</vt:lpstr>
      <vt:lpstr>Exponential Smoothing</vt:lpstr>
      <vt:lpstr>Exponential Smoothing</vt:lpstr>
      <vt:lpstr>Exponential Smoothing</vt:lpstr>
      <vt:lpstr>Exponential Smoothing</vt:lpstr>
      <vt:lpstr>Time-Series Forecasting</vt:lpstr>
      <vt:lpstr>Holt Exponential Smoothing</vt:lpstr>
      <vt:lpstr>Holt Exponential Smoothing</vt:lpstr>
      <vt:lpstr>Holt Exponential Smoothing</vt:lpstr>
      <vt:lpstr>Time-Series Forecasting</vt:lpstr>
      <vt:lpstr>Linear Trend Model</vt:lpstr>
      <vt:lpstr>Linear Trend Model</vt:lpstr>
      <vt:lpstr>Linear Trend Model with Seasonality</vt:lpstr>
      <vt:lpstr>Linear Trend Model with Seasonality</vt:lpstr>
      <vt:lpstr>Linear Trend Model with Seasonality</vt:lpstr>
      <vt:lpstr>Linear Trend Model with Seasonality</vt:lpstr>
      <vt:lpstr>Model Selection Criteria</vt:lpstr>
      <vt:lpstr>Model Selection Criteria</vt:lpstr>
      <vt:lpstr>Model Selection Criteria</vt:lpstr>
      <vt:lpstr>Model Selection Criteria</vt:lpstr>
      <vt:lpstr>Model Selection Criteria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Management</dc:title>
  <dc:creator>Amir</dc:creator>
  <cp:lastModifiedBy>Amirmohsen Golmohammadi</cp:lastModifiedBy>
  <cp:revision>80</cp:revision>
  <dcterms:created xsi:type="dcterms:W3CDTF">2016-10-30T21:44:55Z</dcterms:created>
  <dcterms:modified xsi:type="dcterms:W3CDTF">2025-10-20T17:18:22Z</dcterms:modified>
</cp:coreProperties>
</file>