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7"/>
  </p:notesMasterIdLst>
  <p:sldIdLst>
    <p:sldId id="256" r:id="rId2"/>
    <p:sldId id="304" r:id="rId3"/>
    <p:sldId id="292" r:id="rId4"/>
    <p:sldId id="294" r:id="rId5"/>
    <p:sldId id="305" r:id="rId6"/>
    <p:sldId id="293" r:id="rId7"/>
    <p:sldId id="301" r:id="rId8"/>
    <p:sldId id="295" r:id="rId9"/>
    <p:sldId id="306" r:id="rId10"/>
    <p:sldId id="307" r:id="rId11"/>
    <p:sldId id="297" r:id="rId12"/>
    <p:sldId id="302" r:id="rId13"/>
    <p:sldId id="298" r:id="rId14"/>
    <p:sldId id="300" r:id="rId15"/>
    <p:sldId id="30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580CC-F8F1-954B-97B6-0BFC225D7CFE}" v="6" dt="2025-09-22T14:31:01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10"/>
    <p:restoredTop sz="64575"/>
  </p:normalViewPr>
  <p:slideViewPr>
    <p:cSldViewPr>
      <p:cViewPr varScale="1">
        <p:scale>
          <a:sx n="78" d="100"/>
          <a:sy n="78" d="100"/>
        </p:scale>
        <p:origin x="24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mohsen Golmohammadi" userId="7ce0db84-c3cb-435b-9860-51974a9f0fdd" providerId="ADAL" clId="{A57DD809-FFCD-C745-84A9-FF7A3915F0F6}"/>
    <pc:docChg chg="addSld modSld">
      <pc:chgData name="Amirmohsen Golmohammadi" userId="7ce0db84-c3cb-435b-9860-51974a9f0fdd" providerId="ADAL" clId="{A57DD809-FFCD-C745-84A9-FF7A3915F0F6}" dt="2025-09-19T16:17:11.731" v="169" actId="20577"/>
      <pc:docMkLst>
        <pc:docMk/>
      </pc:docMkLst>
      <pc:sldChg chg="modSp new mod">
        <pc:chgData name="Amirmohsen Golmohammadi" userId="7ce0db84-c3cb-435b-9860-51974a9f0fdd" providerId="ADAL" clId="{A57DD809-FFCD-C745-84A9-FF7A3915F0F6}" dt="2025-09-19T16:17:11.731" v="169" actId="20577"/>
        <pc:sldMkLst>
          <pc:docMk/>
          <pc:sldMk cId="1556047156" sldId="304"/>
        </pc:sldMkLst>
        <pc:spChg chg="mod">
          <ac:chgData name="Amirmohsen Golmohammadi" userId="7ce0db84-c3cb-435b-9860-51974a9f0fdd" providerId="ADAL" clId="{A57DD809-FFCD-C745-84A9-FF7A3915F0F6}" dt="2025-09-19T16:15:02.485" v="16" actId="20577"/>
          <ac:spMkLst>
            <pc:docMk/>
            <pc:sldMk cId="1556047156" sldId="304"/>
            <ac:spMk id="2" creationId="{BFDBEE41-2776-1083-C465-289D06F8BB9B}"/>
          </ac:spMkLst>
        </pc:spChg>
        <pc:spChg chg="mod">
          <ac:chgData name="Amirmohsen Golmohammadi" userId="7ce0db84-c3cb-435b-9860-51974a9f0fdd" providerId="ADAL" clId="{A57DD809-FFCD-C745-84A9-FF7A3915F0F6}" dt="2025-09-19T16:17:11.731" v="169" actId="20577"/>
          <ac:spMkLst>
            <pc:docMk/>
            <pc:sldMk cId="1556047156" sldId="304"/>
            <ac:spMk id="4" creationId="{B89460F3-CA33-6154-0A1C-4FC0367F4DB3}"/>
          </ac:spMkLst>
        </pc:spChg>
      </pc:sldChg>
    </pc:docChg>
  </pc:docChgLst>
  <pc:docChgLst>
    <pc:chgData name="Amirmohsen Golmohammadi" userId="7ce0db84-c3cb-435b-9860-51974a9f0fdd" providerId="ADAL" clId="{98A580CC-F8F1-954B-97B6-0BFC225D7CFE}"/>
    <pc:docChg chg="undo custSel addSld delSld modSld">
      <pc:chgData name="Amirmohsen Golmohammadi" userId="7ce0db84-c3cb-435b-9860-51974a9f0fdd" providerId="ADAL" clId="{98A580CC-F8F1-954B-97B6-0BFC225D7CFE}" dt="2025-09-22T15:34:12.013" v="303" actId="20577"/>
      <pc:docMkLst>
        <pc:docMk/>
      </pc:docMkLst>
      <pc:sldChg chg="modSp mod">
        <pc:chgData name="Amirmohsen Golmohammadi" userId="7ce0db84-c3cb-435b-9860-51974a9f0fdd" providerId="ADAL" clId="{98A580CC-F8F1-954B-97B6-0BFC225D7CFE}" dt="2025-09-22T13:26:42.510" v="3" actId="20577"/>
        <pc:sldMkLst>
          <pc:docMk/>
          <pc:sldMk cId="3430346124" sldId="294"/>
        </pc:sldMkLst>
        <pc:spChg chg="mod">
          <ac:chgData name="Amirmohsen Golmohammadi" userId="7ce0db84-c3cb-435b-9860-51974a9f0fdd" providerId="ADAL" clId="{98A580CC-F8F1-954B-97B6-0BFC225D7CFE}" dt="2025-09-22T13:26:42.510" v="3" actId="20577"/>
          <ac:spMkLst>
            <pc:docMk/>
            <pc:sldMk cId="3430346124" sldId="294"/>
            <ac:spMk id="4" creationId="{82CDB318-92B3-AEFA-EBA0-9AE275F71750}"/>
          </ac:spMkLst>
        </pc:spChg>
      </pc:sldChg>
      <pc:sldChg chg="addSp delSp modSp del mod">
        <pc:chgData name="Amirmohsen Golmohammadi" userId="7ce0db84-c3cb-435b-9860-51974a9f0fdd" providerId="ADAL" clId="{98A580CC-F8F1-954B-97B6-0BFC225D7CFE}" dt="2025-09-22T14:27:43.043" v="236" actId="2696"/>
        <pc:sldMkLst>
          <pc:docMk/>
          <pc:sldMk cId="804589596" sldId="296"/>
        </pc:sldMkLst>
        <pc:spChg chg="add del mod">
          <ac:chgData name="Amirmohsen Golmohammadi" userId="7ce0db84-c3cb-435b-9860-51974a9f0fdd" providerId="ADAL" clId="{98A580CC-F8F1-954B-97B6-0BFC225D7CFE}" dt="2025-09-22T14:27:11.965" v="233" actId="478"/>
          <ac:spMkLst>
            <pc:docMk/>
            <pc:sldMk cId="804589596" sldId="296"/>
            <ac:spMk id="6" creationId="{DD21000E-21B2-94B4-874A-522651CAC80A}"/>
          </ac:spMkLst>
        </pc:spChg>
      </pc:sldChg>
      <pc:sldChg chg="addSp modSp new mod">
        <pc:chgData name="Amirmohsen Golmohammadi" userId="7ce0db84-c3cb-435b-9860-51974a9f0fdd" providerId="ADAL" clId="{98A580CC-F8F1-954B-97B6-0BFC225D7CFE}" dt="2025-09-22T15:34:12.013" v="303" actId="20577"/>
        <pc:sldMkLst>
          <pc:docMk/>
          <pc:sldMk cId="20890521" sldId="305"/>
        </pc:sldMkLst>
        <pc:spChg chg="mod">
          <ac:chgData name="Amirmohsen Golmohammadi" userId="7ce0db84-c3cb-435b-9860-51974a9f0fdd" providerId="ADAL" clId="{98A580CC-F8F1-954B-97B6-0BFC225D7CFE}" dt="2025-09-22T13:31:25.208" v="34" actId="20577"/>
          <ac:spMkLst>
            <pc:docMk/>
            <pc:sldMk cId="20890521" sldId="305"/>
            <ac:spMk id="2" creationId="{9032E98B-0224-D5F0-3042-D9451B358636}"/>
          </ac:spMkLst>
        </pc:spChg>
        <pc:spChg chg="mod">
          <ac:chgData name="Amirmohsen Golmohammadi" userId="7ce0db84-c3cb-435b-9860-51974a9f0fdd" providerId="ADAL" clId="{98A580CC-F8F1-954B-97B6-0BFC225D7CFE}" dt="2025-09-22T13:33:27.285" v="140" actId="1076"/>
          <ac:spMkLst>
            <pc:docMk/>
            <pc:sldMk cId="20890521" sldId="305"/>
            <ac:spMk id="4" creationId="{602D30B3-8258-7EEC-6F92-8646EA269E58}"/>
          </ac:spMkLst>
        </pc:spChg>
        <pc:graphicFrameChg chg="add mod modGraphic">
          <ac:chgData name="Amirmohsen Golmohammadi" userId="7ce0db84-c3cb-435b-9860-51974a9f0fdd" providerId="ADAL" clId="{98A580CC-F8F1-954B-97B6-0BFC225D7CFE}" dt="2025-09-22T15:34:12.013" v="303" actId="20577"/>
          <ac:graphicFrameMkLst>
            <pc:docMk/>
            <pc:sldMk cId="20890521" sldId="305"/>
            <ac:graphicFrameMk id="5" creationId="{CC51E6DB-66E5-01B3-4E03-DEBEFEB58865}"/>
          </ac:graphicFrameMkLst>
        </pc:graphicFrameChg>
      </pc:sldChg>
      <pc:sldChg chg="delSp modSp add del mod">
        <pc:chgData name="Amirmohsen Golmohammadi" userId="7ce0db84-c3cb-435b-9860-51974a9f0fdd" providerId="ADAL" clId="{98A580CC-F8F1-954B-97B6-0BFC225D7CFE}" dt="2025-09-22T14:28:23.980" v="245" actId="478"/>
        <pc:sldMkLst>
          <pc:docMk/>
          <pc:sldMk cId="2961453028" sldId="306"/>
        </pc:sldMkLst>
        <pc:spChg chg="del mod">
          <ac:chgData name="Amirmohsen Golmohammadi" userId="7ce0db84-c3cb-435b-9860-51974a9f0fdd" providerId="ADAL" clId="{98A580CC-F8F1-954B-97B6-0BFC225D7CFE}" dt="2025-09-22T14:28:23.980" v="245" actId="478"/>
          <ac:spMkLst>
            <pc:docMk/>
            <pc:sldMk cId="2961453028" sldId="306"/>
            <ac:spMk id="6" creationId="{DD21000E-21B2-94B4-874A-522651CAC80A}"/>
          </ac:spMkLst>
        </pc:spChg>
      </pc:sldChg>
      <pc:sldChg chg="addSp modSp add mod">
        <pc:chgData name="Amirmohsen Golmohammadi" userId="7ce0db84-c3cb-435b-9860-51974a9f0fdd" providerId="ADAL" clId="{98A580CC-F8F1-954B-97B6-0BFC225D7CFE}" dt="2025-09-22T14:49:29.275" v="292" actId="20577"/>
        <pc:sldMkLst>
          <pc:docMk/>
          <pc:sldMk cId="893129980" sldId="307"/>
        </pc:sldMkLst>
        <pc:spChg chg="mod">
          <ac:chgData name="Amirmohsen Golmohammadi" userId="7ce0db84-c3cb-435b-9860-51974a9f0fdd" providerId="ADAL" clId="{98A580CC-F8F1-954B-97B6-0BFC225D7CFE}" dt="2025-09-22T14:49:29.275" v="292" actId="20577"/>
          <ac:spMkLst>
            <pc:docMk/>
            <pc:sldMk cId="893129980" sldId="307"/>
            <ac:spMk id="6" creationId="{DD21000E-21B2-94B4-874A-522651CAC80A}"/>
          </ac:spMkLst>
        </pc:spChg>
        <pc:spChg chg="add mod">
          <ac:chgData name="Amirmohsen Golmohammadi" userId="7ce0db84-c3cb-435b-9860-51974a9f0fdd" providerId="ADAL" clId="{98A580CC-F8F1-954B-97B6-0BFC225D7CFE}" dt="2025-09-22T14:30:56.710" v="282" actId="1076"/>
          <ac:spMkLst>
            <pc:docMk/>
            <pc:sldMk cId="893129980" sldId="307"/>
            <ac:spMk id="9" creationId="{835BB7DB-3082-6702-FFDB-E03E63AA1EF9}"/>
          </ac:spMkLst>
        </pc:spChg>
        <pc:cxnChg chg="add mod">
          <ac:chgData name="Amirmohsen Golmohammadi" userId="7ce0db84-c3cb-435b-9860-51974a9f0fdd" providerId="ADAL" clId="{98A580CC-F8F1-954B-97B6-0BFC225D7CFE}" dt="2025-09-22T14:29:07.923" v="254" actId="692"/>
          <ac:cxnSpMkLst>
            <pc:docMk/>
            <pc:sldMk cId="893129980" sldId="307"/>
            <ac:cxnSpMk id="8" creationId="{6FAA793D-B287-1C5C-704B-1120BF0A7A25}"/>
          </ac:cxnSpMkLst>
        </pc:cxnChg>
        <pc:cxnChg chg="add mod">
          <ac:chgData name="Amirmohsen Golmohammadi" userId="7ce0db84-c3cb-435b-9860-51974a9f0fdd" providerId="ADAL" clId="{98A580CC-F8F1-954B-97B6-0BFC225D7CFE}" dt="2025-09-22T14:31:20.687" v="286" actId="14100"/>
          <ac:cxnSpMkLst>
            <pc:docMk/>
            <pc:sldMk cId="893129980" sldId="307"/>
            <ac:cxnSpMk id="10" creationId="{E591EA28-F57B-F9D4-D925-B0B8097DAC7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6A9A-16AD-4618-924D-B9BC32209995}" type="datetimeFigureOut">
              <a:rPr lang="en-CA" smtClean="0"/>
              <a:t>2025-09-22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66ADF-CD7C-484F-ACCD-98481CFD3C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1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Hello again, everyone. Today, we will be discussing circular supply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603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0509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43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5203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695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79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A7FBD20D-25EF-CE9F-DF7C-0222E67386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0" t="18786" r="7182" b="18369"/>
          <a:stretch/>
        </p:blipFill>
        <p:spPr bwMode="auto">
          <a:xfrm>
            <a:off x="2699792" y="5229200"/>
            <a:ext cx="367240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32288" y="-114482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1560" y="1447800"/>
            <a:ext cx="8075240" cy="47895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08C38C11-CD61-8F76-D948-FBEE34CB78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864" y="237208"/>
            <a:ext cx="2687600" cy="95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7030A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sz="4800" dirty="0">
                <a:latin typeface="+mn-lt"/>
              </a:rPr>
              <a:t>Summary Measures and Detecting Outliers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7B34A-F589-C636-F55B-75453D4EF1F1}"/>
              </a:ext>
            </a:extLst>
          </p:cNvPr>
          <p:cNvSpPr txBox="1"/>
          <p:nvPr/>
        </p:nvSpPr>
        <p:spPr>
          <a:xfrm>
            <a:off x="3162528" y="3284984"/>
            <a:ext cx="281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229372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E41-2776-1083-C465-289D06F8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Measures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1C8E2B-80F2-AC56-2630-B44D1F08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460F3-CA33-6154-0A1C-4FC0367F4D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After cleaning and organizing data, we need to describe our data: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Measurement of central location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dirty="0"/>
              <a:t>Measurement of dispersion</a:t>
            </a:r>
          </a:p>
        </p:txBody>
      </p:sp>
    </p:spTree>
    <p:extLst>
      <p:ext uri="{BB962C8B-B14F-4D97-AF65-F5344CB8AC3E}">
        <p14:creationId xmlns:p14="http://schemas.microsoft.com/office/powerpoint/2010/main" val="155604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we want to describe a characteristic of a population using a single value, we use measurement of central location.</a:t>
            </a:r>
          </a:p>
          <a:p>
            <a:r>
              <a:rPr lang="en-US" dirty="0"/>
              <a:t>Measurement of central location attempt to find a typical or central value that describes a variable.</a:t>
            </a:r>
          </a:p>
          <a:p>
            <a:r>
              <a:rPr lang="en-US" dirty="0"/>
              <a:t>Measures of central location: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b="1" dirty="0"/>
              <a:t>Mean:</a:t>
            </a:r>
            <a:r>
              <a:rPr lang="en-US" dirty="0"/>
              <a:t> sum of the observation over the number of observations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b="1" dirty="0"/>
              <a:t>Median: </a:t>
            </a:r>
            <a:r>
              <a:rPr lang="en-US" dirty="0"/>
              <a:t>The middle value of a data set</a:t>
            </a:r>
            <a:endParaRPr lang="en-US" b="1" dirty="0"/>
          </a:p>
          <a:p>
            <a:pPr marL="502920" indent="-457200"/>
            <a:r>
              <a:rPr lang="en-US" dirty="0"/>
              <a:t>E.g.: [1, 4, 5, 6, 9, 12, 15]</a:t>
            </a:r>
          </a:p>
        </p:txBody>
      </p:sp>
    </p:spTree>
    <p:extLst>
      <p:ext uri="{BB962C8B-B14F-4D97-AF65-F5344CB8AC3E}">
        <p14:creationId xmlns:p14="http://schemas.microsoft.com/office/powerpoint/2010/main" val="35810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Dispersion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CDB318-92B3-AEFA-EBA0-9AE275F7175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14400" y="1447800"/>
                <a:ext cx="7772400" cy="5005536"/>
              </a:xfrm>
            </p:spPr>
            <p:txBody>
              <a:bodyPr/>
              <a:lstStyle/>
              <a:p>
                <a:r>
                  <a:rPr lang="en-US" dirty="0"/>
                  <a:t>Measures of dispersion show the underlying variability of the variable.</a:t>
                </a:r>
              </a:p>
              <a:p>
                <a:r>
                  <a:rPr lang="en-US" dirty="0"/>
                  <a:t>Measures of variability:</a:t>
                </a:r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b="1" dirty="0"/>
                  <a:t>Range: </a:t>
                </a:r>
                <a:r>
                  <a:rPr lang="en-US" dirty="0"/>
                  <a:t>Difference between maximum and minimum</a:t>
                </a:r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b="1" dirty="0"/>
                  <a:t>Mean absolute difference: </a:t>
                </a:r>
                <a:r>
                  <a:rPr lang="en-US" dirty="0"/>
                  <a:t>Average of the absolute differences between the observations and the mean.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𝑀𝐴𝐷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</m:nary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CA" b="0" dirty="0"/>
              </a:p>
              <a:p>
                <a:pPr marL="777240" lvl="1" indent="-457200">
                  <a:buFont typeface="+mj-lt"/>
                  <a:buAutoNum type="arabicPeriod"/>
                </a:pPr>
                <a:r>
                  <a:rPr lang="en-US" b="1" dirty="0"/>
                  <a:t>Variance: </a:t>
                </a:r>
                <a:r>
                  <a:rPr lang="en-US" dirty="0"/>
                  <a:t>Average of squared differences.</a:t>
                </a:r>
              </a:p>
              <a:p>
                <a:pPr marL="77724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502920" indent="-457200"/>
                <a:r>
                  <a:rPr lang="en-US" dirty="0"/>
                  <a:t>E.g.: [1, 4, 5, 6, 9, 12, 15]</a:t>
                </a:r>
              </a:p>
              <a:p>
                <a:pPr marL="502920" indent="-457200"/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CDB318-92B3-AEFA-EBA0-9AE275F71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14400" y="1447800"/>
                <a:ext cx="7772400" cy="5005536"/>
              </a:xfrm>
              <a:blipFill>
                <a:blip r:embed="rId2"/>
                <a:stretch>
                  <a:fillRect l="-817" t="-1266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34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E98B-0224-D5F0-3042-D9451B35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Dispersion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E27429-9321-B9F4-5B1B-98D1FFE2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D30B3-8258-7EEC-6F92-8646EA269E5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39312" y="1143000"/>
            <a:ext cx="7772400" cy="4572000"/>
          </a:xfrm>
        </p:spPr>
        <p:txBody>
          <a:bodyPr/>
          <a:lstStyle/>
          <a:p>
            <a:r>
              <a:rPr lang="en-US" dirty="0"/>
              <a:t>Variance is very sensitive to outliers: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C51E6DB-66E5-01B3-4E03-DEBEFEB58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715694"/>
              </p:ext>
            </p:extLst>
          </p:nvPr>
        </p:nvGraphicFramePr>
        <p:xfrm>
          <a:off x="1470488" y="1716283"/>
          <a:ext cx="6096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734398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228477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6522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Normal data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With </a:t>
                      </a:r>
                      <a:r>
                        <a:rPr lang="en-US" sz="2400" dirty="0" err="1"/>
                        <a:t>oulier</a:t>
                      </a:r>
                      <a:endParaRPr lang="en-US" sz="2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3394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3336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987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404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7923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138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2976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761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4389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239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090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MAD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5.1</a:t>
                      </a:r>
                      <a:endParaRPr lang="en-US" sz="24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1534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Variance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1.75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81.8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7026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3.1: </a:t>
            </a:r>
            <a:r>
              <a:rPr lang="en-US" dirty="0"/>
              <a:t>A financial advisor meets an investor who has questions regarding two approaches to mutual fund investing: growth investing versus value investing. Growth funds invest in companies whose stock prices are expected to grow at a faster rate. Value funds, on the other hand, invest in companies whose stock prices are below their true value. </a:t>
            </a:r>
          </a:p>
          <a:p>
            <a:pPr marL="0" indent="0">
              <a:buNone/>
            </a:pPr>
            <a:r>
              <a:rPr lang="en-US" dirty="0"/>
              <a:t>Calculate the mean, median, standard deviation, range, and MAD for different investment options.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8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3.2: </a:t>
            </a:r>
            <a:r>
              <a:rPr lang="en-US" dirty="0"/>
              <a:t>The data file, “Rent”, shows the monthly rent (Rent) and square footage (Footage) for 40 rentals in large college town.</a:t>
            </a:r>
          </a:p>
          <a:p>
            <a:pPr marL="0" indent="0">
              <a:buNone/>
            </a:pPr>
            <a:r>
              <a:rPr lang="en-US" dirty="0"/>
              <a:t>Calculate the mean, range, MAD, and standard deviation for monthly rent.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3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1520"/>
          </a:xfrm>
        </p:spPr>
        <p:txBody>
          <a:bodyPr/>
          <a:lstStyle/>
          <a:p>
            <a:r>
              <a:rPr lang="en-US" dirty="0"/>
              <a:t>Extremely large or small observations for a variable are referred to as outliers.</a:t>
            </a:r>
          </a:p>
          <a:p>
            <a:r>
              <a:rPr lang="en-US" dirty="0"/>
              <a:t>Outliers can influence summary statistics, such as the mean or standard deviation.</a:t>
            </a:r>
          </a:p>
          <a:p>
            <a:r>
              <a:rPr lang="en-US" dirty="0"/>
              <a:t>Sometimes outliers may just be due to random variations, in which case the relevant observations should remain in the data set.</a:t>
            </a:r>
          </a:p>
          <a:p>
            <a:r>
              <a:rPr lang="en-US" dirty="0"/>
              <a:t>Outliers may indicate bad data due to incorrectly recorded observations or incorrectly included observations in data set (we need to correct or delete outliers)</a:t>
            </a:r>
          </a:p>
        </p:txBody>
      </p:sp>
    </p:spTree>
    <p:extLst>
      <p:ext uri="{BB962C8B-B14F-4D97-AF65-F5344CB8AC3E}">
        <p14:creationId xmlns:p14="http://schemas.microsoft.com/office/powerpoint/2010/main" val="2931675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45360" y="1031594"/>
            <a:ext cx="7772400" cy="5635906"/>
          </a:xfrm>
        </p:spPr>
        <p:txBody>
          <a:bodyPr/>
          <a:lstStyle/>
          <a:p>
            <a:r>
              <a:rPr lang="en-US" dirty="0"/>
              <a:t>There are no universally agree upon methods for treating outliers.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Box plots:</a:t>
            </a:r>
          </a:p>
          <a:p>
            <a:pPr marL="788670" lvl="1" indent="-514350"/>
            <a:r>
              <a:rPr lang="en-US" dirty="0"/>
              <a:t>A common way to quickly summarize a variable is to use a five-number summary.</a:t>
            </a:r>
          </a:p>
          <a:p>
            <a:pPr marL="788670" lvl="1" indent="-514350"/>
            <a:r>
              <a:rPr lang="en-US" dirty="0"/>
              <a:t>A five-number summary shows the minimum, the quartiles (Q1, Q2, and Q3), and the maximum.</a:t>
            </a:r>
          </a:p>
          <a:p>
            <a:pPr marL="788670" lvl="1" indent="-514350"/>
            <a:r>
              <a:rPr lang="en-US" dirty="0"/>
              <a:t>A boxplot, also referred to as a box-and-whisker plot, is a way to graphically display a five-number summary.</a:t>
            </a:r>
          </a:p>
          <a:p>
            <a:pPr marL="788670" lvl="1" indent="-514350"/>
            <a:endParaRPr lang="en-US" dirty="0"/>
          </a:p>
          <a:p>
            <a:pPr marL="788670" lvl="1" indent="-514350"/>
            <a:endParaRPr lang="en-US" dirty="0"/>
          </a:p>
          <a:p>
            <a:pPr marL="788670" lvl="1" indent="-514350"/>
            <a:endParaRPr lang="en-US" dirty="0"/>
          </a:p>
          <a:p>
            <a:pPr marL="788670" lvl="1" indent="-514350"/>
            <a:r>
              <a:rPr lang="en-US" dirty="0"/>
              <a:t>Interquartile range (IQR) = Q3 – Q1</a:t>
            </a:r>
          </a:p>
        </p:txBody>
      </p:sp>
      <p:pic>
        <p:nvPicPr>
          <p:cNvPr id="5" name="Picture 4" descr="A chart with a diagram of a boxplot depicts steps to detect outliers.">
            <a:extLst>
              <a:ext uri="{FF2B5EF4-FFF2-40B4-BE49-F238E27FC236}">
                <a16:creationId xmlns:a16="http://schemas.microsoft.com/office/drawing/2014/main" id="{D80B1A40-5168-AB36-ECD2-03603B5448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5" b="3843"/>
          <a:stretch/>
        </p:blipFill>
        <p:spPr>
          <a:xfrm>
            <a:off x="1735345" y="4725144"/>
            <a:ext cx="666934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5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45360" y="1031594"/>
            <a:ext cx="7772400" cy="5635906"/>
          </a:xfrm>
        </p:spPr>
        <p:txBody>
          <a:bodyPr/>
          <a:lstStyle/>
          <a:p>
            <a:r>
              <a:rPr lang="en-US" dirty="0"/>
              <a:t>There are no universally agree upon methods for treating outliers.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Box plots:</a:t>
            </a:r>
          </a:p>
          <a:p>
            <a:pPr marL="788670" lvl="1" indent="-514350"/>
            <a:r>
              <a:rPr lang="en-US" dirty="0"/>
              <a:t>A common way to quickly summarize a variable is to use a five-number summary.</a:t>
            </a:r>
          </a:p>
          <a:p>
            <a:pPr marL="788670" lvl="1" indent="-514350"/>
            <a:r>
              <a:rPr lang="en-US" dirty="0"/>
              <a:t>A five-number summary shows the minimum, the quartiles (Q1, Q2, and Q3), and the maximum.</a:t>
            </a:r>
          </a:p>
          <a:p>
            <a:pPr marL="788670" lvl="1" indent="-514350"/>
            <a:r>
              <a:rPr lang="en-US" dirty="0"/>
              <a:t>A boxplot, also referred to as a box-and-whisker plot, is a way to graphically display a five-number summary.</a:t>
            </a:r>
          </a:p>
          <a:p>
            <a:pPr marL="788670" lvl="1" indent="-514350"/>
            <a:endParaRPr lang="en-US" dirty="0"/>
          </a:p>
          <a:p>
            <a:pPr marL="788670" lvl="1" indent="-514350"/>
            <a:endParaRPr lang="en-US" dirty="0"/>
          </a:p>
          <a:p>
            <a:pPr marL="788670" lvl="1" indent="-514350"/>
            <a:endParaRPr lang="en-US" dirty="0"/>
          </a:p>
          <a:p>
            <a:pPr marL="788670" lvl="1" indent="-514350"/>
            <a:r>
              <a:rPr lang="en-US" dirty="0"/>
              <a:t>Interquartile range (IQR) = Q3 – Q1</a:t>
            </a:r>
          </a:p>
        </p:txBody>
      </p:sp>
      <p:pic>
        <p:nvPicPr>
          <p:cNvPr id="5" name="Picture 4" descr="A chart with a diagram of a boxplot depicts steps to detect outliers.">
            <a:extLst>
              <a:ext uri="{FF2B5EF4-FFF2-40B4-BE49-F238E27FC236}">
                <a16:creationId xmlns:a16="http://schemas.microsoft.com/office/drawing/2014/main" id="{D80B1A40-5168-AB36-ECD2-03603B5448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5" b="3843"/>
          <a:stretch/>
        </p:blipFill>
        <p:spPr>
          <a:xfrm>
            <a:off x="1735345" y="4725144"/>
            <a:ext cx="6669343" cy="12961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1000E-21B2-94B4-874A-522651CAC80A}"/>
              </a:ext>
            </a:extLst>
          </p:cNvPr>
          <p:cNvSpPr txBox="1"/>
          <p:nvPr/>
        </p:nvSpPr>
        <p:spPr>
          <a:xfrm>
            <a:off x="86872" y="4124707"/>
            <a:ext cx="4629144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Maximum of{Min, Q1 – 1.5IQR}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AA793D-B287-1C5C-704B-1120BF0A7A25}"/>
              </a:ext>
            </a:extLst>
          </p:cNvPr>
          <p:cNvCxnSpPr/>
          <p:nvPr/>
        </p:nvCxnSpPr>
        <p:spPr>
          <a:xfrm flipH="1" flipV="1">
            <a:off x="1907704" y="4722068"/>
            <a:ext cx="1008112" cy="5071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5BB7DB-3082-6702-FFDB-E03E63AA1EF9}"/>
              </a:ext>
            </a:extLst>
          </p:cNvPr>
          <p:cNvSpPr txBox="1"/>
          <p:nvPr/>
        </p:nvSpPr>
        <p:spPr>
          <a:xfrm>
            <a:off x="3729418" y="5836895"/>
            <a:ext cx="4888342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Minimum of{Max, Q3 + 1.5IQR}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91EA28-F57B-F9D4-D925-B0B8097DAC70}"/>
              </a:ext>
            </a:extLst>
          </p:cNvPr>
          <p:cNvCxnSpPr>
            <a:cxnSpLocks/>
          </p:cNvCxnSpPr>
          <p:nvPr/>
        </p:nvCxnSpPr>
        <p:spPr>
          <a:xfrm flipH="1">
            <a:off x="6444208" y="5190683"/>
            <a:ext cx="1080120" cy="6357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12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3.3: </a:t>
            </a:r>
            <a:r>
              <a:rPr lang="en-US" dirty="0"/>
              <a:t>Construct a boxplots for the Growth and Value variables from Example 3.1.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8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3.4: </a:t>
            </a:r>
            <a:r>
              <a:rPr lang="en-US" dirty="0"/>
              <a:t>The data file “Prime” shows the annual expenditures (Expenditures) for 100 Amazon Prime customers.</a:t>
            </a:r>
          </a:p>
          <a:p>
            <a:pPr marL="0" indent="0">
              <a:buNone/>
            </a:pPr>
            <a:r>
              <a:rPr lang="en-US" dirty="0"/>
              <a:t>Construct a boxplot for the Expenditures variable. Does the boxplot suggest that outliers exist?</a:t>
            </a:r>
          </a:p>
          <a:p>
            <a:pPr marL="0" indent="0">
              <a:buNone/>
            </a:pPr>
            <a:r>
              <a:rPr lang="en-US" dirty="0"/>
              <a:t>Find the outliers and drop them.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774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A77B-FBA3-7E63-1ED6-DA0B7F39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938FC3-09C5-4ECB-1354-A11C20C7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78C7D6D-C4C9-5135-39C6-00445453C57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23528" y="1340768"/>
                <a:ext cx="5256584" cy="5326732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z-score:</a:t>
                </a:r>
              </a:p>
              <a:p>
                <a:pPr marL="788670" lvl="1" indent="-514350"/>
                <a:r>
                  <a:rPr lang="en-US" dirty="0"/>
                  <a:t>If a variable follows a normal distribution, then 0.27% of the data falls outside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788670" lvl="1" indent="-514350"/>
                <a:r>
                  <a:rPr lang="en-US" dirty="0"/>
                  <a:t>We use z-score to find the relative position of an observation with other data points.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dirty="0"/>
              </a:p>
              <a:p>
                <a:pPr marL="788670" lvl="1" indent="-514350"/>
                <a:r>
                  <a:rPr lang="en-US" dirty="0"/>
                  <a:t>Converting observations into z-scores is also called standardizing the observations.</a:t>
                </a:r>
              </a:p>
              <a:p>
                <a:pPr marL="788670" lvl="1" indent="-514350"/>
                <a:r>
                  <a:rPr lang="en-US" dirty="0"/>
                  <a:t>An observation is an outlier if its z-score is more than 3 or less than -3.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78C7D6D-C4C9-5135-39C6-00445453C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23528" y="1340768"/>
                <a:ext cx="5256584" cy="5326732"/>
              </a:xfrm>
              <a:blipFill>
                <a:blip r:embed="rId3"/>
                <a:stretch>
                  <a:fillRect l="-1205" t="-950" r="-723" b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hart with a bell curve presents the percentage of observations that fall within specified standard deviations.">
            <a:extLst>
              <a:ext uri="{FF2B5EF4-FFF2-40B4-BE49-F238E27FC236}">
                <a16:creationId xmlns:a16="http://schemas.microsoft.com/office/drawing/2014/main" id="{1DE2296E-5C3F-3C23-39C9-BE50D8D09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999787"/>
            <a:ext cx="3557519" cy="26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66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3.5: </a:t>
            </a:r>
            <a:r>
              <a:rPr lang="en-US" dirty="0"/>
              <a:t>Find the outliers in Example 3.1 for the Growth and Value variables using z-score.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187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639-4911-F190-C38B-31D571CF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015E3-7806-4C9B-66E2-FC19C11E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B318-92B3-AEFA-EBA0-9AE275F717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3.6: </a:t>
            </a:r>
            <a:r>
              <a:rPr lang="en-US" dirty="0"/>
              <a:t>Find the outliers in Example 3.4 for the Expenditures variable using z-score.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7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erations Management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Operations Management</Template>
  <TotalTime>6660</TotalTime>
  <Words>834</Words>
  <Application>Microsoft Macintosh PowerPoint</Application>
  <PresentationFormat>On-screen Show (4:3)</PresentationFormat>
  <Paragraphs>121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Cambria Math</vt:lpstr>
      <vt:lpstr>Franklin Gothic Book</vt:lpstr>
      <vt:lpstr>Perpetua</vt:lpstr>
      <vt:lpstr>Times New Roman</vt:lpstr>
      <vt:lpstr>Wingdings 2</vt:lpstr>
      <vt:lpstr>Operations Management</vt:lpstr>
      <vt:lpstr>Summary Measures and Detecting Outliers</vt:lpstr>
      <vt:lpstr>Summary Measures</vt:lpstr>
      <vt:lpstr>Measures of Central Location</vt:lpstr>
      <vt:lpstr>Measures of Dispersion</vt:lpstr>
      <vt:lpstr>Measures of Dispersion</vt:lpstr>
      <vt:lpstr>Measures of Central Location</vt:lpstr>
      <vt:lpstr>Measures of Central Location</vt:lpstr>
      <vt:lpstr>Detecting Outliers</vt:lpstr>
      <vt:lpstr>Detecting Outliers</vt:lpstr>
      <vt:lpstr>Detecting Outliers</vt:lpstr>
      <vt:lpstr>Detecting Outliers</vt:lpstr>
      <vt:lpstr>Detecting Outliers</vt:lpstr>
      <vt:lpstr>Detecting Outliers</vt:lpstr>
      <vt:lpstr>Detecting Outliers</vt:lpstr>
      <vt:lpstr>Detecting Outliers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Management</dc:title>
  <dc:creator>Amir</dc:creator>
  <cp:lastModifiedBy>Amirmohsen Golmohammadi</cp:lastModifiedBy>
  <cp:revision>65</cp:revision>
  <dcterms:created xsi:type="dcterms:W3CDTF">2016-10-30T21:44:55Z</dcterms:created>
  <dcterms:modified xsi:type="dcterms:W3CDTF">2025-09-22T15:34:13Z</dcterms:modified>
</cp:coreProperties>
</file>