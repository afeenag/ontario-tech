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3"/>
  </p:notesMasterIdLst>
  <p:sldIdLst>
    <p:sldId id="256" r:id="rId2"/>
    <p:sldId id="292" r:id="rId3"/>
    <p:sldId id="293" r:id="rId4"/>
    <p:sldId id="294" r:id="rId5"/>
    <p:sldId id="295" r:id="rId6"/>
    <p:sldId id="297" r:id="rId7"/>
    <p:sldId id="296" r:id="rId8"/>
    <p:sldId id="298" r:id="rId9"/>
    <p:sldId id="1482" r:id="rId10"/>
    <p:sldId id="299" r:id="rId11"/>
    <p:sldId id="300" r:id="rId12"/>
    <p:sldId id="301" r:id="rId13"/>
    <p:sldId id="1483" r:id="rId14"/>
    <p:sldId id="302" r:id="rId15"/>
    <p:sldId id="303" r:id="rId16"/>
    <p:sldId id="1463" r:id="rId17"/>
    <p:sldId id="1464" r:id="rId18"/>
    <p:sldId id="1465" r:id="rId19"/>
    <p:sldId id="1466" r:id="rId20"/>
    <p:sldId id="1467" r:id="rId21"/>
    <p:sldId id="1468" r:id="rId22"/>
    <p:sldId id="1491" r:id="rId23"/>
    <p:sldId id="1469" r:id="rId24"/>
    <p:sldId id="1470" r:id="rId25"/>
    <p:sldId id="1484" r:id="rId26"/>
    <p:sldId id="1485" r:id="rId27"/>
    <p:sldId id="1487" r:id="rId28"/>
    <p:sldId id="1488" r:id="rId29"/>
    <p:sldId id="1486" r:id="rId30"/>
    <p:sldId id="1489" r:id="rId31"/>
    <p:sldId id="1476" r:id="rId32"/>
    <p:sldId id="1477" r:id="rId33"/>
    <p:sldId id="1478" r:id="rId34"/>
    <p:sldId id="1479" r:id="rId35"/>
    <p:sldId id="1480" r:id="rId36"/>
    <p:sldId id="1481" r:id="rId37"/>
    <p:sldId id="1492" r:id="rId38"/>
    <p:sldId id="1490" r:id="rId39"/>
    <p:sldId id="1493" r:id="rId40"/>
    <p:sldId id="1494" r:id="rId41"/>
    <p:sldId id="149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ADC1C9-4C03-DC48-8CFB-ADCB9EEAC8D1}" v="301" dt="2025-10-03T18:42:55.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50"/>
    <p:restoredTop sz="64537"/>
  </p:normalViewPr>
  <p:slideViewPr>
    <p:cSldViewPr>
      <p:cViewPr varScale="1">
        <p:scale>
          <a:sx n="77" d="100"/>
          <a:sy n="77" d="100"/>
        </p:scale>
        <p:origin x="232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rmohsen Golmohammadi" userId="7ce0db84-c3cb-435b-9860-51974a9f0fdd" providerId="ADAL" clId="{619DC1E3-9024-CD4A-BC0C-DF53E3B1FF96}"/>
    <pc:docChg chg="modSld">
      <pc:chgData name="Amirmohsen Golmohammadi" userId="7ce0db84-c3cb-435b-9860-51974a9f0fdd" providerId="ADAL" clId="{619DC1E3-9024-CD4A-BC0C-DF53E3B1FF96}" dt="2025-09-15T14:48:25.154" v="1" actId="20577"/>
      <pc:docMkLst>
        <pc:docMk/>
      </pc:docMkLst>
      <pc:sldChg chg="modSp mod">
        <pc:chgData name="Amirmohsen Golmohammadi" userId="7ce0db84-c3cb-435b-9860-51974a9f0fdd" providerId="ADAL" clId="{619DC1E3-9024-CD4A-BC0C-DF53E3B1FF96}" dt="2025-09-15T14:48:25.154" v="1" actId="20577"/>
        <pc:sldMkLst>
          <pc:docMk/>
          <pc:sldMk cId="42525660" sldId="1488"/>
        </pc:sldMkLst>
        <pc:spChg chg="mod">
          <ac:chgData name="Amirmohsen Golmohammadi" userId="7ce0db84-c3cb-435b-9860-51974a9f0fdd" providerId="ADAL" clId="{619DC1E3-9024-CD4A-BC0C-DF53E3B1FF96}" dt="2025-09-15T14:48:25.154" v="1" actId="20577"/>
          <ac:spMkLst>
            <pc:docMk/>
            <pc:sldMk cId="42525660" sldId="1488"/>
            <ac:spMk id="2" creationId="{7F5E3A90-1036-C8D4-9FF0-10E26D4E7DA8}"/>
          </ac:spMkLst>
        </pc:spChg>
      </pc:sldChg>
    </pc:docChg>
  </pc:docChgLst>
  <pc:docChgLst>
    <pc:chgData name="Amirmohsen Golmohammadi" userId="7ce0db84-c3cb-435b-9860-51974a9f0fdd" providerId="ADAL" clId="{E6ADC1C9-4C03-DC48-8CFB-ADCB9EEAC8D1}"/>
    <pc:docChg chg="undo custSel addSld modSld">
      <pc:chgData name="Amirmohsen Golmohammadi" userId="7ce0db84-c3cb-435b-9860-51974a9f0fdd" providerId="ADAL" clId="{E6ADC1C9-4C03-DC48-8CFB-ADCB9EEAC8D1}" dt="2025-10-03T19:17:39.670" v="2293" actId="20577"/>
      <pc:docMkLst>
        <pc:docMk/>
      </pc:docMkLst>
      <pc:sldChg chg="modSp mod">
        <pc:chgData name="Amirmohsen Golmohammadi" userId="7ce0db84-c3cb-435b-9860-51974a9f0fdd" providerId="ADAL" clId="{E6ADC1C9-4C03-DC48-8CFB-ADCB9EEAC8D1}" dt="2025-09-22T18:53:43.870" v="4" actId="20577"/>
        <pc:sldMkLst>
          <pc:docMk/>
          <pc:sldMk cId="1496933090" sldId="296"/>
        </pc:sldMkLst>
        <pc:spChg chg="mod">
          <ac:chgData name="Amirmohsen Golmohammadi" userId="7ce0db84-c3cb-435b-9860-51974a9f0fdd" providerId="ADAL" clId="{E6ADC1C9-4C03-DC48-8CFB-ADCB9EEAC8D1}" dt="2025-09-22T18:53:43.870" v="4" actId="20577"/>
          <ac:spMkLst>
            <pc:docMk/>
            <pc:sldMk cId="1496933090" sldId="296"/>
            <ac:spMk id="4" creationId="{5705DD6F-DE26-F2A4-6896-10BE7A7FA5C4}"/>
          </ac:spMkLst>
        </pc:spChg>
      </pc:sldChg>
      <pc:sldChg chg="modSp mod">
        <pc:chgData name="Amirmohsen Golmohammadi" userId="7ce0db84-c3cb-435b-9860-51974a9f0fdd" providerId="ADAL" clId="{E6ADC1C9-4C03-DC48-8CFB-ADCB9EEAC8D1}" dt="2025-09-26T19:07:01.636" v="69" actId="20577"/>
        <pc:sldMkLst>
          <pc:docMk/>
          <pc:sldMk cId="1564321266" sldId="299"/>
        </pc:sldMkLst>
        <pc:spChg chg="mod">
          <ac:chgData name="Amirmohsen Golmohammadi" userId="7ce0db84-c3cb-435b-9860-51974a9f0fdd" providerId="ADAL" clId="{E6ADC1C9-4C03-DC48-8CFB-ADCB9EEAC8D1}" dt="2025-09-26T19:07:01.636" v="69" actId="20577"/>
          <ac:spMkLst>
            <pc:docMk/>
            <pc:sldMk cId="1564321266" sldId="299"/>
            <ac:spMk id="4" creationId="{E6A9F816-A090-45B5-8E9F-5E4CBF2B91DC}"/>
          </ac:spMkLst>
        </pc:spChg>
      </pc:sldChg>
      <pc:sldChg chg="modSp mod">
        <pc:chgData name="Amirmohsen Golmohammadi" userId="7ce0db84-c3cb-435b-9860-51974a9f0fdd" providerId="ADAL" clId="{E6ADC1C9-4C03-DC48-8CFB-ADCB9EEAC8D1}" dt="2025-09-26T19:42:03.306" v="135" actId="20577"/>
        <pc:sldMkLst>
          <pc:docMk/>
          <pc:sldMk cId="1504878577" sldId="300"/>
        </pc:sldMkLst>
        <pc:spChg chg="mod">
          <ac:chgData name="Amirmohsen Golmohammadi" userId="7ce0db84-c3cb-435b-9860-51974a9f0fdd" providerId="ADAL" clId="{E6ADC1C9-4C03-DC48-8CFB-ADCB9EEAC8D1}" dt="2025-09-26T19:42:03.306" v="135" actId="20577"/>
          <ac:spMkLst>
            <pc:docMk/>
            <pc:sldMk cId="1504878577" sldId="300"/>
            <ac:spMk id="4" creationId="{E6A9F816-A090-45B5-8E9F-5E4CBF2B91DC}"/>
          </ac:spMkLst>
        </pc:spChg>
      </pc:sldChg>
      <pc:sldChg chg="modSp mod">
        <pc:chgData name="Amirmohsen Golmohammadi" userId="7ce0db84-c3cb-435b-9860-51974a9f0fdd" providerId="ADAL" clId="{E6ADC1C9-4C03-DC48-8CFB-ADCB9EEAC8D1}" dt="2025-09-29T17:27:32.319" v="137" actId="20577"/>
        <pc:sldMkLst>
          <pc:docMk/>
          <pc:sldMk cId="1171717188" sldId="301"/>
        </pc:sldMkLst>
        <pc:spChg chg="mod">
          <ac:chgData name="Amirmohsen Golmohammadi" userId="7ce0db84-c3cb-435b-9860-51974a9f0fdd" providerId="ADAL" clId="{E6ADC1C9-4C03-DC48-8CFB-ADCB9EEAC8D1}" dt="2025-09-29T17:27:32.319" v="137" actId="20577"/>
          <ac:spMkLst>
            <pc:docMk/>
            <pc:sldMk cId="1171717188" sldId="301"/>
            <ac:spMk id="4" creationId="{5705DD6F-DE26-F2A4-6896-10BE7A7FA5C4}"/>
          </ac:spMkLst>
        </pc:spChg>
      </pc:sldChg>
      <pc:sldChg chg="modSp mod">
        <pc:chgData name="Amirmohsen Golmohammadi" userId="7ce0db84-c3cb-435b-9860-51974a9f0fdd" providerId="ADAL" clId="{E6ADC1C9-4C03-DC48-8CFB-ADCB9EEAC8D1}" dt="2025-09-29T17:47:30.050" v="148" actId="20577"/>
        <pc:sldMkLst>
          <pc:docMk/>
          <pc:sldMk cId="3686596009" sldId="302"/>
        </pc:sldMkLst>
        <pc:spChg chg="mod">
          <ac:chgData name="Amirmohsen Golmohammadi" userId="7ce0db84-c3cb-435b-9860-51974a9f0fdd" providerId="ADAL" clId="{E6ADC1C9-4C03-DC48-8CFB-ADCB9EEAC8D1}" dt="2025-09-29T17:47:30.050" v="148" actId="20577"/>
          <ac:spMkLst>
            <pc:docMk/>
            <pc:sldMk cId="3686596009" sldId="302"/>
            <ac:spMk id="4" creationId="{E6A9F816-A090-45B5-8E9F-5E4CBF2B91DC}"/>
          </ac:spMkLst>
        </pc:spChg>
      </pc:sldChg>
      <pc:sldChg chg="modSp mod">
        <pc:chgData name="Amirmohsen Golmohammadi" userId="7ce0db84-c3cb-435b-9860-51974a9f0fdd" providerId="ADAL" clId="{E6ADC1C9-4C03-DC48-8CFB-ADCB9EEAC8D1}" dt="2025-09-29T18:09:42.450" v="200" actId="20577"/>
        <pc:sldMkLst>
          <pc:docMk/>
          <pc:sldMk cId="3110708525" sldId="1467"/>
        </pc:sldMkLst>
        <pc:spChg chg="mod">
          <ac:chgData name="Amirmohsen Golmohammadi" userId="7ce0db84-c3cb-435b-9860-51974a9f0fdd" providerId="ADAL" clId="{E6ADC1C9-4C03-DC48-8CFB-ADCB9EEAC8D1}" dt="2025-09-29T18:09:42.450" v="200" actId="20577"/>
          <ac:spMkLst>
            <pc:docMk/>
            <pc:sldMk cId="3110708525" sldId="1467"/>
            <ac:spMk id="4" creationId="{E6A9F816-A090-45B5-8E9F-5E4CBF2B91DC}"/>
          </ac:spMkLst>
        </pc:spChg>
      </pc:sldChg>
      <pc:sldChg chg="modSp">
        <pc:chgData name="Amirmohsen Golmohammadi" userId="7ce0db84-c3cb-435b-9860-51974a9f0fdd" providerId="ADAL" clId="{E6ADC1C9-4C03-DC48-8CFB-ADCB9EEAC8D1}" dt="2025-10-03T17:58:31.363" v="376" actId="20577"/>
        <pc:sldMkLst>
          <pc:docMk/>
          <pc:sldMk cId="4146209338" sldId="1479"/>
        </pc:sldMkLst>
        <pc:spChg chg="mod">
          <ac:chgData name="Amirmohsen Golmohammadi" userId="7ce0db84-c3cb-435b-9860-51974a9f0fdd" providerId="ADAL" clId="{E6ADC1C9-4C03-DC48-8CFB-ADCB9EEAC8D1}" dt="2025-10-03T17:58:31.363" v="376" actId="20577"/>
          <ac:spMkLst>
            <pc:docMk/>
            <pc:sldMk cId="4146209338" sldId="1479"/>
            <ac:spMk id="4" creationId="{3BA8ABC2-6DD1-660E-9FF9-F136228F6092}"/>
          </ac:spMkLst>
        </pc:spChg>
      </pc:sldChg>
      <pc:sldChg chg="modSp mod">
        <pc:chgData name="Amirmohsen Golmohammadi" userId="7ce0db84-c3cb-435b-9860-51974a9f0fdd" providerId="ADAL" clId="{E6ADC1C9-4C03-DC48-8CFB-ADCB9EEAC8D1}" dt="2025-10-03T17:51:38.399" v="297" actId="27636"/>
        <pc:sldMkLst>
          <pc:docMk/>
          <pc:sldMk cId="3840024311" sldId="1480"/>
        </pc:sldMkLst>
        <pc:spChg chg="mod">
          <ac:chgData name="Amirmohsen Golmohammadi" userId="7ce0db84-c3cb-435b-9860-51974a9f0fdd" providerId="ADAL" clId="{E6ADC1C9-4C03-DC48-8CFB-ADCB9EEAC8D1}" dt="2025-10-03T17:51:38.399" v="297" actId="27636"/>
          <ac:spMkLst>
            <pc:docMk/>
            <pc:sldMk cId="3840024311" sldId="1480"/>
            <ac:spMk id="4" creationId="{3BA8ABC2-6DD1-660E-9FF9-F136228F6092}"/>
          </ac:spMkLst>
        </pc:spChg>
        <pc:picChg chg="mod modCrop">
          <ac:chgData name="Amirmohsen Golmohammadi" userId="7ce0db84-c3cb-435b-9860-51974a9f0fdd" providerId="ADAL" clId="{E6ADC1C9-4C03-DC48-8CFB-ADCB9EEAC8D1}" dt="2025-10-03T17:51:25.805" v="291" actId="14100"/>
          <ac:picMkLst>
            <pc:docMk/>
            <pc:sldMk cId="3840024311" sldId="1480"/>
            <ac:picMk id="5" creationId="{BE85624B-BE1E-E1A6-4EDF-FA665F4DB0A6}"/>
          </ac:picMkLst>
        </pc:picChg>
      </pc:sldChg>
      <pc:sldChg chg="modSp">
        <pc:chgData name="Amirmohsen Golmohammadi" userId="7ce0db84-c3cb-435b-9860-51974a9f0fdd" providerId="ADAL" clId="{E6ADC1C9-4C03-DC48-8CFB-ADCB9EEAC8D1}" dt="2025-10-03T16:12:34.080" v="215" actId="20577"/>
        <pc:sldMkLst>
          <pc:docMk/>
          <pc:sldMk cId="2630557752" sldId="1489"/>
        </pc:sldMkLst>
        <pc:spChg chg="mod">
          <ac:chgData name="Amirmohsen Golmohammadi" userId="7ce0db84-c3cb-435b-9860-51974a9f0fdd" providerId="ADAL" clId="{E6ADC1C9-4C03-DC48-8CFB-ADCB9EEAC8D1}" dt="2025-10-03T16:12:34.080" v="215" actId="20577"/>
          <ac:spMkLst>
            <pc:docMk/>
            <pc:sldMk cId="2630557752" sldId="1489"/>
            <ac:spMk id="4" creationId="{C5C55495-BAC5-87E3-575D-0EED6A55864F}"/>
          </ac:spMkLst>
        </pc:spChg>
      </pc:sldChg>
      <pc:sldChg chg="addSp delSp modSp add mod">
        <pc:chgData name="Amirmohsen Golmohammadi" userId="7ce0db84-c3cb-435b-9860-51974a9f0fdd" providerId="ADAL" clId="{E6ADC1C9-4C03-DC48-8CFB-ADCB9EEAC8D1}" dt="2025-09-29T18:14:05.531" v="207" actId="478"/>
        <pc:sldMkLst>
          <pc:docMk/>
          <pc:sldMk cId="1173859970" sldId="1491"/>
        </pc:sldMkLst>
        <pc:spChg chg="add mod">
          <ac:chgData name="Amirmohsen Golmohammadi" userId="7ce0db84-c3cb-435b-9860-51974a9f0fdd" providerId="ADAL" clId="{E6ADC1C9-4C03-DC48-8CFB-ADCB9EEAC8D1}" dt="2025-09-29T18:13:50.546" v="204" actId="207"/>
          <ac:spMkLst>
            <pc:docMk/>
            <pc:sldMk cId="1173859970" sldId="1491"/>
            <ac:spMk id="5" creationId="{896A265C-DC7C-921F-4D61-EA01478374DA}"/>
          </ac:spMkLst>
        </pc:spChg>
        <pc:spChg chg="add del mod">
          <ac:chgData name="Amirmohsen Golmohammadi" userId="7ce0db84-c3cb-435b-9860-51974a9f0fdd" providerId="ADAL" clId="{E6ADC1C9-4C03-DC48-8CFB-ADCB9EEAC8D1}" dt="2025-09-29T18:14:05.531" v="207" actId="478"/>
          <ac:spMkLst>
            <pc:docMk/>
            <pc:sldMk cId="1173859970" sldId="1491"/>
            <ac:spMk id="6" creationId="{894A74D1-0F90-EA0C-0CC9-330A8EC80F66}"/>
          </ac:spMkLst>
        </pc:spChg>
        <pc:graphicFrameChg chg="add mod">
          <ac:chgData name="Amirmohsen Golmohammadi" userId="7ce0db84-c3cb-435b-9860-51974a9f0fdd" providerId="ADAL" clId="{E6ADC1C9-4C03-DC48-8CFB-ADCB9EEAC8D1}" dt="2025-09-29T18:14:01.341" v="206" actId="1076"/>
          <ac:graphicFrameMkLst>
            <pc:docMk/>
            <pc:sldMk cId="1173859970" sldId="1491"/>
            <ac:graphicFrameMk id="7" creationId="{5717F1ED-932E-919B-EF55-7E82AC508070}"/>
          </ac:graphicFrameMkLst>
        </pc:graphicFrameChg>
        <pc:graphicFrameChg chg="add mod">
          <ac:chgData name="Amirmohsen Golmohammadi" userId="7ce0db84-c3cb-435b-9860-51974a9f0fdd" providerId="ADAL" clId="{E6ADC1C9-4C03-DC48-8CFB-ADCB9EEAC8D1}" dt="2025-09-29T18:14:01.341" v="206" actId="1076"/>
          <ac:graphicFrameMkLst>
            <pc:docMk/>
            <pc:sldMk cId="1173859970" sldId="1491"/>
            <ac:graphicFrameMk id="8" creationId="{1D7DBB2C-9AB4-3D19-7CFC-B2E524FBCDD5}"/>
          </ac:graphicFrameMkLst>
        </pc:graphicFrameChg>
        <pc:graphicFrameChg chg="add mod">
          <ac:chgData name="Amirmohsen Golmohammadi" userId="7ce0db84-c3cb-435b-9860-51974a9f0fdd" providerId="ADAL" clId="{E6ADC1C9-4C03-DC48-8CFB-ADCB9EEAC8D1}" dt="2025-09-29T18:14:01.341" v="206" actId="1076"/>
          <ac:graphicFrameMkLst>
            <pc:docMk/>
            <pc:sldMk cId="1173859970" sldId="1491"/>
            <ac:graphicFrameMk id="9" creationId="{37625B48-BC4B-80BE-445C-0B1B8380829A}"/>
          </ac:graphicFrameMkLst>
        </pc:graphicFrameChg>
      </pc:sldChg>
      <pc:sldChg chg="modSp new mod">
        <pc:chgData name="Amirmohsen Golmohammadi" userId="7ce0db84-c3cb-435b-9860-51974a9f0fdd" providerId="ADAL" clId="{E6ADC1C9-4C03-DC48-8CFB-ADCB9EEAC8D1}" dt="2025-10-03T18:01:57.600" v="671" actId="20577"/>
        <pc:sldMkLst>
          <pc:docMk/>
          <pc:sldMk cId="2657074752" sldId="1492"/>
        </pc:sldMkLst>
        <pc:spChg chg="mod">
          <ac:chgData name="Amirmohsen Golmohammadi" userId="7ce0db84-c3cb-435b-9860-51974a9f0fdd" providerId="ADAL" clId="{E6ADC1C9-4C03-DC48-8CFB-ADCB9EEAC8D1}" dt="2025-10-03T17:56:01.530" v="349" actId="20577"/>
          <ac:spMkLst>
            <pc:docMk/>
            <pc:sldMk cId="2657074752" sldId="1492"/>
            <ac:spMk id="2" creationId="{C8251BFA-AEC1-AE93-FAF4-4FA9EAB3D335}"/>
          </ac:spMkLst>
        </pc:spChg>
        <pc:spChg chg="mod">
          <ac:chgData name="Amirmohsen Golmohammadi" userId="7ce0db84-c3cb-435b-9860-51974a9f0fdd" providerId="ADAL" clId="{E6ADC1C9-4C03-DC48-8CFB-ADCB9EEAC8D1}" dt="2025-10-03T18:01:57.600" v="671" actId="20577"/>
          <ac:spMkLst>
            <pc:docMk/>
            <pc:sldMk cId="2657074752" sldId="1492"/>
            <ac:spMk id="4" creationId="{3F7C956D-BE65-BA3F-098D-EA0CD464835C}"/>
          </ac:spMkLst>
        </pc:spChg>
      </pc:sldChg>
      <pc:sldChg chg="addSp delSp modSp new mod">
        <pc:chgData name="Amirmohsen Golmohammadi" userId="7ce0db84-c3cb-435b-9860-51974a9f0fdd" providerId="ADAL" clId="{E6ADC1C9-4C03-DC48-8CFB-ADCB9EEAC8D1}" dt="2025-10-03T18:43:36.118" v="1201"/>
        <pc:sldMkLst>
          <pc:docMk/>
          <pc:sldMk cId="3345191689" sldId="1493"/>
        </pc:sldMkLst>
        <pc:spChg chg="mod">
          <ac:chgData name="Amirmohsen Golmohammadi" userId="7ce0db84-c3cb-435b-9860-51974a9f0fdd" providerId="ADAL" clId="{E6ADC1C9-4C03-DC48-8CFB-ADCB9EEAC8D1}" dt="2025-10-03T18:35:58.424" v="691" actId="20577"/>
          <ac:spMkLst>
            <pc:docMk/>
            <pc:sldMk cId="3345191689" sldId="1493"/>
            <ac:spMk id="2" creationId="{A1B91BB8-CAC1-7BF9-BB52-CF667304E8E2}"/>
          </ac:spMkLst>
        </pc:spChg>
        <pc:spChg chg="mod">
          <ac:chgData name="Amirmohsen Golmohammadi" userId="7ce0db84-c3cb-435b-9860-51974a9f0fdd" providerId="ADAL" clId="{E6ADC1C9-4C03-DC48-8CFB-ADCB9EEAC8D1}" dt="2025-10-03T18:43:32.785" v="1199" actId="20577"/>
          <ac:spMkLst>
            <pc:docMk/>
            <pc:sldMk cId="3345191689" sldId="1493"/>
            <ac:spMk id="4" creationId="{9A4B17EC-4C9F-2BE2-8162-BECABB83431F}"/>
          </ac:spMkLst>
        </pc:spChg>
        <pc:spChg chg="add del mod">
          <ac:chgData name="Amirmohsen Golmohammadi" userId="7ce0db84-c3cb-435b-9860-51974a9f0fdd" providerId="ADAL" clId="{E6ADC1C9-4C03-DC48-8CFB-ADCB9EEAC8D1}" dt="2025-10-03T18:43:36.118" v="1201"/>
          <ac:spMkLst>
            <pc:docMk/>
            <pc:sldMk cId="3345191689" sldId="1493"/>
            <ac:spMk id="5" creationId="{99A37F08-CD80-7221-8930-F329D1FA5D3B}"/>
          </ac:spMkLst>
        </pc:spChg>
      </pc:sldChg>
      <pc:sldChg chg="modSp new mod">
        <pc:chgData name="Amirmohsen Golmohammadi" userId="7ce0db84-c3cb-435b-9860-51974a9f0fdd" providerId="ADAL" clId="{E6ADC1C9-4C03-DC48-8CFB-ADCB9EEAC8D1}" dt="2025-10-03T18:51:55.984" v="1764" actId="20577"/>
        <pc:sldMkLst>
          <pc:docMk/>
          <pc:sldMk cId="3615891621" sldId="1494"/>
        </pc:sldMkLst>
        <pc:spChg chg="mod">
          <ac:chgData name="Amirmohsen Golmohammadi" userId="7ce0db84-c3cb-435b-9860-51974a9f0fdd" providerId="ADAL" clId="{E6ADC1C9-4C03-DC48-8CFB-ADCB9EEAC8D1}" dt="2025-10-03T18:43:44.319" v="1203"/>
          <ac:spMkLst>
            <pc:docMk/>
            <pc:sldMk cId="3615891621" sldId="1494"/>
            <ac:spMk id="2" creationId="{A7A37D81-628B-542C-8027-C062FAC60207}"/>
          </ac:spMkLst>
        </pc:spChg>
        <pc:spChg chg="mod">
          <ac:chgData name="Amirmohsen Golmohammadi" userId="7ce0db84-c3cb-435b-9860-51974a9f0fdd" providerId="ADAL" clId="{E6ADC1C9-4C03-DC48-8CFB-ADCB9EEAC8D1}" dt="2025-10-03T18:51:55.984" v="1764" actId="20577"/>
          <ac:spMkLst>
            <pc:docMk/>
            <pc:sldMk cId="3615891621" sldId="1494"/>
            <ac:spMk id="4" creationId="{E180805B-DCCF-D754-F4CE-098D50FB5E28}"/>
          </ac:spMkLst>
        </pc:spChg>
      </pc:sldChg>
      <pc:sldChg chg="modSp new mod">
        <pc:chgData name="Amirmohsen Golmohammadi" userId="7ce0db84-c3cb-435b-9860-51974a9f0fdd" providerId="ADAL" clId="{E6ADC1C9-4C03-DC48-8CFB-ADCB9EEAC8D1}" dt="2025-10-03T19:17:39.670" v="2293" actId="20577"/>
        <pc:sldMkLst>
          <pc:docMk/>
          <pc:sldMk cId="3400673386" sldId="1495"/>
        </pc:sldMkLst>
        <pc:spChg chg="mod">
          <ac:chgData name="Amirmohsen Golmohammadi" userId="7ce0db84-c3cb-435b-9860-51974a9f0fdd" providerId="ADAL" clId="{E6ADC1C9-4C03-DC48-8CFB-ADCB9EEAC8D1}" dt="2025-10-03T19:06:08.669" v="1766"/>
          <ac:spMkLst>
            <pc:docMk/>
            <pc:sldMk cId="3400673386" sldId="1495"/>
            <ac:spMk id="2" creationId="{162A5986-BF53-5EAB-FCB6-F331D9974EC8}"/>
          </ac:spMkLst>
        </pc:spChg>
        <pc:spChg chg="mod">
          <ac:chgData name="Amirmohsen Golmohammadi" userId="7ce0db84-c3cb-435b-9860-51974a9f0fdd" providerId="ADAL" clId="{E6ADC1C9-4C03-DC48-8CFB-ADCB9EEAC8D1}" dt="2025-10-03T19:17:39.670" v="2293" actId="20577"/>
          <ac:spMkLst>
            <pc:docMk/>
            <pc:sldMk cId="3400673386" sldId="1495"/>
            <ac:spMk id="4" creationId="{B430E4BE-3033-40C6-7300-B0E32C740C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D66A9A-16AD-4618-924D-B9BC32209995}" type="datetimeFigureOut">
              <a:rPr lang="en-CA" smtClean="0"/>
              <a:t>2025-10-03</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C66ADF-CD7C-484F-ACCD-98481CFD3C5C}" type="slidenum">
              <a:rPr lang="en-CA" smtClean="0"/>
              <a:t>‹#›</a:t>
            </a:fld>
            <a:endParaRPr lang="en-CA"/>
          </a:p>
        </p:txBody>
      </p:sp>
    </p:spTree>
    <p:extLst>
      <p:ext uri="{BB962C8B-B14F-4D97-AF65-F5344CB8AC3E}">
        <p14:creationId xmlns:p14="http://schemas.microsoft.com/office/powerpoint/2010/main" val="9791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a:t>
            </a:fld>
            <a:endParaRPr lang="en-CA"/>
          </a:p>
        </p:txBody>
      </p:sp>
    </p:spTree>
    <p:extLst>
      <p:ext uri="{BB962C8B-B14F-4D97-AF65-F5344CB8AC3E}">
        <p14:creationId xmlns:p14="http://schemas.microsoft.com/office/powerpoint/2010/main" val="3266036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3</a:t>
            </a:fld>
            <a:endParaRPr lang="en-CA"/>
          </a:p>
        </p:txBody>
      </p:sp>
    </p:spTree>
    <p:extLst>
      <p:ext uri="{BB962C8B-B14F-4D97-AF65-F5344CB8AC3E}">
        <p14:creationId xmlns:p14="http://schemas.microsoft.com/office/powerpoint/2010/main" val="3631222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4</a:t>
            </a:fld>
            <a:endParaRPr lang="en-CA"/>
          </a:p>
        </p:txBody>
      </p:sp>
    </p:spTree>
    <p:extLst>
      <p:ext uri="{BB962C8B-B14F-4D97-AF65-F5344CB8AC3E}">
        <p14:creationId xmlns:p14="http://schemas.microsoft.com/office/powerpoint/2010/main" val="1676120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5</a:t>
            </a:fld>
            <a:endParaRPr lang="en-CA"/>
          </a:p>
        </p:txBody>
      </p:sp>
    </p:spTree>
    <p:extLst>
      <p:ext uri="{BB962C8B-B14F-4D97-AF65-F5344CB8AC3E}">
        <p14:creationId xmlns:p14="http://schemas.microsoft.com/office/powerpoint/2010/main" val="1523438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15</a:t>
            </a:fld>
            <a:endParaRPr lang="en-CA"/>
          </a:p>
        </p:txBody>
      </p:sp>
    </p:spTree>
    <p:extLst>
      <p:ext uri="{BB962C8B-B14F-4D97-AF65-F5344CB8AC3E}">
        <p14:creationId xmlns:p14="http://schemas.microsoft.com/office/powerpoint/2010/main" val="2017443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16</a:t>
            </a:fld>
            <a:endParaRPr lang="en-CA"/>
          </a:p>
        </p:txBody>
      </p:sp>
    </p:spTree>
    <p:extLst>
      <p:ext uri="{BB962C8B-B14F-4D97-AF65-F5344CB8AC3E}">
        <p14:creationId xmlns:p14="http://schemas.microsoft.com/office/powerpoint/2010/main" val="496213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17</a:t>
            </a:fld>
            <a:endParaRPr lang="en-CA"/>
          </a:p>
        </p:txBody>
      </p:sp>
    </p:spTree>
    <p:extLst>
      <p:ext uri="{BB962C8B-B14F-4D97-AF65-F5344CB8AC3E}">
        <p14:creationId xmlns:p14="http://schemas.microsoft.com/office/powerpoint/2010/main" val="4164374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24</a:t>
            </a:fld>
            <a:endParaRPr lang="en-CA"/>
          </a:p>
        </p:txBody>
      </p:sp>
    </p:spTree>
    <p:extLst>
      <p:ext uri="{BB962C8B-B14F-4D97-AF65-F5344CB8AC3E}">
        <p14:creationId xmlns:p14="http://schemas.microsoft.com/office/powerpoint/2010/main" val="1657213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25</a:t>
            </a:fld>
            <a:endParaRPr lang="en-CA"/>
          </a:p>
        </p:txBody>
      </p:sp>
    </p:spTree>
    <p:extLst>
      <p:ext uri="{BB962C8B-B14F-4D97-AF65-F5344CB8AC3E}">
        <p14:creationId xmlns:p14="http://schemas.microsoft.com/office/powerpoint/2010/main" val="4147201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33</a:t>
            </a:fld>
            <a:endParaRPr lang="en-CA"/>
          </a:p>
        </p:txBody>
      </p:sp>
    </p:spTree>
    <p:extLst>
      <p:ext uri="{BB962C8B-B14F-4D97-AF65-F5344CB8AC3E}">
        <p14:creationId xmlns:p14="http://schemas.microsoft.com/office/powerpoint/2010/main" val="2224532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35</a:t>
            </a:fld>
            <a:endParaRPr lang="en-CA"/>
          </a:p>
        </p:txBody>
      </p:sp>
    </p:spTree>
    <p:extLst>
      <p:ext uri="{BB962C8B-B14F-4D97-AF65-F5344CB8AC3E}">
        <p14:creationId xmlns:p14="http://schemas.microsoft.com/office/powerpoint/2010/main" val="2973579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36</a:t>
            </a:fld>
            <a:endParaRPr lang="en-CA"/>
          </a:p>
        </p:txBody>
      </p:sp>
    </p:spTree>
    <p:extLst>
      <p:ext uri="{BB962C8B-B14F-4D97-AF65-F5344CB8AC3E}">
        <p14:creationId xmlns:p14="http://schemas.microsoft.com/office/powerpoint/2010/main" val="275919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38</a:t>
            </a:fld>
            <a:endParaRPr lang="en-CA"/>
          </a:p>
        </p:txBody>
      </p:sp>
    </p:spTree>
    <p:extLst>
      <p:ext uri="{BB962C8B-B14F-4D97-AF65-F5344CB8AC3E}">
        <p14:creationId xmlns:p14="http://schemas.microsoft.com/office/powerpoint/2010/main" val="163893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39</a:t>
            </a:fld>
            <a:endParaRPr lang="en-CA"/>
          </a:p>
        </p:txBody>
      </p:sp>
    </p:spTree>
    <p:extLst>
      <p:ext uri="{BB962C8B-B14F-4D97-AF65-F5344CB8AC3E}">
        <p14:creationId xmlns:p14="http://schemas.microsoft.com/office/powerpoint/2010/main" val="22530675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pic>
        <p:nvPicPr>
          <p:cNvPr id="2" name="Picture 2" descr="Ontario Tech University – OUInfo">
            <a:extLst>
              <a:ext uri="{FF2B5EF4-FFF2-40B4-BE49-F238E27FC236}">
                <a16:creationId xmlns:a16="http://schemas.microsoft.com/office/drawing/2014/main" id="{A7FBD20D-25EF-CE9F-DF7C-0222E673860F}"/>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5470" t="18786" r="7182" b="18369"/>
          <a:stretch/>
        </p:blipFill>
        <p:spPr bwMode="auto">
          <a:xfrm>
            <a:off x="2699792" y="5229200"/>
            <a:ext cx="3672408" cy="93610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632288" y="-114482"/>
            <a:ext cx="7772400" cy="1143000"/>
          </a:xfrm>
          <a:prstGeom prst="rect">
            <a:avLst/>
          </a:prstGeom>
        </p:spPr>
        <p:txBody>
          <a:bodyPr bIns="91440" anchor="b" anchorCtr="0">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611560" y="1447800"/>
            <a:ext cx="8075240" cy="4789512"/>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pic>
        <p:nvPicPr>
          <p:cNvPr id="2" name="Picture 2" descr="Ontario Tech University – OUInfo">
            <a:extLst>
              <a:ext uri="{FF2B5EF4-FFF2-40B4-BE49-F238E27FC236}">
                <a16:creationId xmlns:a16="http://schemas.microsoft.com/office/drawing/2014/main" id="{08C38C11-CD61-8F76-D948-FBEE34CB78C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060864" y="237208"/>
            <a:ext cx="2687600" cy="95217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ftr="0" dt="0"/>
  <p:txStyles>
    <p:titleStyle>
      <a:lvl1pPr algn="l" rtl="0" eaLnBrk="1" latinLnBrk="0" hangingPunct="1">
        <a:spcBef>
          <a:spcPct val="0"/>
        </a:spcBef>
        <a:buNone/>
        <a:defRPr kumimoji="0" sz="3200" kern="1200">
          <a:solidFill>
            <a:srgbClr val="7030A0"/>
          </a:solidFill>
          <a:latin typeface="Times New Roman" panose="02020603050405020304" pitchFamily="18" charset="0"/>
          <a:ea typeface="+mj-ea"/>
          <a:cs typeface="Times New Roman" panose="02020603050405020304" pitchFamily="18" charset="0"/>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3" Type="http://schemas.openxmlformats.org/officeDocument/2006/relationships/oleObject" Target="../embeddings/oleObject6.bin"/><Relationship Id="rId18" Type="http://schemas.openxmlformats.org/officeDocument/2006/relationships/image" Target="../media/image14.wmf"/><Relationship Id="rId26" Type="http://schemas.openxmlformats.org/officeDocument/2006/relationships/image" Target="../media/image18.wmf"/><Relationship Id="rId21" Type="http://schemas.openxmlformats.org/officeDocument/2006/relationships/oleObject" Target="../embeddings/oleObject10.bin"/><Relationship Id="rId34" Type="http://schemas.openxmlformats.org/officeDocument/2006/relationships/image" Target="../media/image22.wmf"/><Relationship Id="rId7" Type="http://schemas.openxmlformats.org/officeDocument/2006/relationships/oleObject" Target="../embeddings/oleObject3.bin"/><Relationship Id="rId12" Type="http://schemas.openxmlformats.org/officeDocument/2006/relationships/image" Target="../media/image11.w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oleObject" Target="../embeddings/oleObject16.bin"/><Relationship Id="rId38" Type="http://schemas.openxmlformats.org/officeDocument/2006/relationships/image" Target="../media/image24.wmf"/><Relationship Id="rId2" Type="http://schemas.openxmlformats.org/officeDocument/2006/relationships/notesSlide" Target="../notesSlides/notesSlide6.xml"/><Relationship Id="rId16" Type="http://schemas.openxmlformats.org/officeDocument/2006/relationships/image" Target="../media/image13.wmf"/><Relationship Id="rId20" Type="http://schemas.openxmlformats.org/officeDocument/2006/relationships/image" Target="../media/image15.wmf"/><Relationship Id="rId29"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image" Target="../media/image8.wmf"/><Relationship Id="rId11" Type="http://schemas.openxmlformats.org/officeDocument/2006/relationships/oleObject" Target="../embeddings/oleObject5.bin"/><Relationship Id="rId24" Type="http://schemas.openxmlformats.org/officeDocument/2006/relationships/image" Target="../media/image17.wmf"/><Relationship Id="rId32" Type="http://schemas.openxmlformats.org/officeDocument/2006/relationships/image" Target="../media/image21.wmf"/><Relationship Id="rId37" Type="http://schemas.openxmlformats.org/officeDocument/2006/relationships/oleObject" Target="../embeddings/oleObject18.bin"/><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9.wmf"/><Relationship Id="rId36" Type="http://schemas.openxmlformats.org/officeDocument/2006/relationships/image" Target="../media/image23.wmf"/><Relationship Id="rId10" Type="http://schemas.openxmlformats.org/officeDocument/2006/relationships/image" Target="../media/image10.wmf"/><Relationship Id="rId19" Type="http://schemas.openxmlformats.org/officeDocument/2006/relationships/oleObject" Target="../embeddings/oleObject9.bin"/><Relationship Id="rId31" Type="http://schemas.openxmlformats.org/officeDocument/2006/relationships/oleObject" Target="../embeddings/oleObject15.bin"/><Relationship Id="rId4" Type="http://schemas.openxmlformats.org/officeDocument/2006/relationships/image" Target="../media/image7.wmf"/><Relationship Id="rId9" Type="http://schemas.openxmlformats.org/officeDocument/2006/relationships/oleObject" Target="../embeddings/oleObject4.bin"/><Relationship Id="rId14" Type="http://schemas.openxmlformats.org/officeDocument/2006/relationships/image" Target="../media/image12.wmf"/><Relationship Id="rId22" Type="http://schemas.openxmlformats.org/officeDocument/2006/relationships/image" Target="../media/image16.wmf"/><Relationship Id="rId27" Type="http://schemas.openxmlformats.org/officeDocument/2006/relationships/oleObject" Target="../embeddings/oleObject13.bin"/><Relationship Id="rId30" Type="http://schemas.openxmlformats.org/officeDocument/2006/relationships/image" Target="../media/image20.wmf"/><Relationship Id="rId35" Type="http://schemas.openxmlformats.org/officeDocument/2006/relationships/oleObject" Target="../embeddings/oleObject17.bin"/><Relationship Id="rId8" Type="http://schemas.openxmlformats.org/officeDocument/2006/relationships/image" Target="../media/image9.wmf"/><Relationship Id="rId3"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20.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0.bin"/><Relationship Id="rId7" Type="http://schemas.openxmlformats.org/officeDocument/2006/relationships/oleObject" Target="../embeddings/oleObject23.bin"/><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21.bin"/><Relationship Id="rId4" Type="http://schemas.openxmlformats.org/officeDocument/2006/relationships/image" Target="../media/image26.wmf"/></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0.bin"/><Relationship Id="rId7" Type="http://schemas.openxmlformats.org/officeDocument/2006/relationships/oleObject" Target="../embeddings/oleObject24.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21.bin"/><Relationship Id="rId4" Type="http://schemas.openxmlformats.org/officeDocument/2006/relationships/image" Target="../media/image26.wmf"/></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
        <p:nvSpPr>
          <p:cNvPr id="2" name="Title 1"/>
          <p:cNvSpPr>
            <a:spLocks noGrp="1"/>
          </p:cNvSpPr>
          <p:nvPr>
            <p:ph type="ctrTitle"/>
          </p:nvPr>
        </p:nvSpPr>
        <p:spPr/>
        <p:txBody>
          <a:bodyPr>
            <a:normAutofit/>
          </a:bodyPr>
          <a:lstStyle/>
          <a:p>
            <a:r>
              <a:rPr lang="en-CA" sz="4800" dirty="0">
                <a:latin typeface="+mn-lt"/>
              </a:rPr>
              <a:t>Regressions Analysis</a:t>
            </a:r>
          </a:p>
        </p:txBody>
      </p:sp>
      <p:sp>
        <p:nvSpPr>
          <p:cNvPr id="3" name="TextBox 2">
            <a:extLst>
              <a:ext uri="{FF2B5EF4-FFF2-40B4-BE49-F238E27FC236}">
                <a16:creationId xmlns:a16="http://schemas.microsoft.com/office/drawing/2014/main" id="{142482C0-ED03-4F2B-8995-C7C1B954C0CD}"/>
              </a:ext>
            </a:extLst>
          </p:cNvPr>
          <p:cNvSpPr txBox="1"/>
          <p:nvPr/>
        </p:nvSpPr>
        <p:spPr>
          <a:xfrm>
            <a:off x="3162528" y="3284984"/>
            <a:ext cx="2818943" cy="523220"/>
          </a:xfrm>
          <a:prstGeom prst="rect">
            <a:avLst/>
          </a:prstGeom>
          <a:noFill/>
        </p:spPr>
        <p:txBody>
          <a:bodyPr wrap="square" rtlCol="0">
            <a:spAutoFit/>
          </a:bodyPr>
          <a:lstStyle/>
          <a:p>
            <a:pPr algn="ctr"/>
            <a:r>
              <a:rPr lang="en-US" sz="2800" dirty="0"/>
              <a:t>Business Analytics</a:t>
            </a:r>
          </a:p>
        </p:txBody>
      </p:sp>
    </p:spTree>
    <p:extLst>
      <p:ext uri="{BB962C8B-B14F-4D97-AF65-F5344CB8AC3E}">
        <p14:creationId xmlns:p14="http://schemas.microsoft.com/office/powerpoint/2010/main" val="2293728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49F2-FA85-364C-6240-3CB892423961}"/>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3400EA55-38B5-999A-415B-096240100DDC}"/>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4" name="Content Placeholder 3">
            <a:extLst>
              <a:ext uri="{FF2B5EF4-FFF2-40B4-BE49-F238E27FC236}">
                <a16:creationId xmlns:a16="http://schemas.microsoft.com/office/drawing/2014/main" id="{7D66A232-BD38-341A-22C0-8790FEF59FBE}"/>
              </a:ext>
            </a:extLst>
          </p:cNvPr>
          <p:cNvSpPr>
            <a:spLocks noGrp="1"/>
          </p:cNvSpPr>
          <p:nvPr>
            <p:ph sz="quarter" idx="1"/>
          </p:nvPr>
        </p:nvSpPr>
        <p:spPr/>
        <p:txBody>
          <a:bodyPr>
            <a:normAutofit lnSpcReduction="10000"/>
          </a:bodyPr>
          <a:lstStyle/>
          <a:p>
            <a:r>
              <a:rPr lang="en-US" dirty="0"/>
              <a:t>Regression analysis is one of the most widely used technique in predictive analytics.</a:t>
            </a:r>
          </a:p>
          <a:p>
            <a:r>
              <a:rPr lang="en-US" dirty="0"/>
              <a:t>Captures the relationship between two or more variables</a:t>
            </a:r>
          </a:p>
          <a:p>
            <a:r>
              <a:rPr lang="en-US" dirty="0"/>
              <a:t>Predict an outcome of a target variable based on several input variables (e.g., demand based on price, quality, average household income, …)</a:t>
            </a:r>
          </a:p>
          <a:p>
            <a:r>
              <a:rPr lang="en-US" dirty="0"/>
              <a:t>It shows which of the relationships matter the most. </a:t>
            </a:r>
          </a:p>
          <a:p>
            <a:r>
              <a:rPr lang="en-US" dirty="0"/>
              <a:t>The variable that should be predicted is called </a:t>
            </a:r>
            <a:r>
              <a:rPr lang="en-US" b="1" dirty="0"/>
              <a:t>response variable</a:t>
            </a:r>
            <a:r>
              <a:rPr lang="en-US" dirty="0"/>
              <a:t> and the input variables are called </a:t>
            </a:r>
            <a:r>
              <a:rPr lang="en-US" b="1" dirty="0"/>
              <a:t>predictor variables</a:t>
            </a:r>
          </a:p>
        </p:txBody>
      </p:sp>
    </p:spTree>
    <p:extLst>
      <p:ext uri="{BB962C8B-B14F-4D97-AF65-F5344CB8AC3E}">
        <p14:creationId xmlns:p14="http://schemas.microsoft.com/office/powerpoint/2010/main" val="2922406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49F2-FA85-364C-6240-3CB892423961}"/>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3400EA55-38B5-999A-415B-096240100DDC}"/>
              </a:ext>
            </a:extLst>
          </p:cNvPr>
          <p:cNvSpPr>
            <a:spLocks noGrp="1"/>
          </p:cNvSpPr>
          <p:nvPr>
            <p:ph type="sldNum" sz="quarter" idx="12"/>
          </p:nvPr>
        </p:nvSpPr>
        <p:spPr/>
        <p:txBody>
          <a:bodyPr/>
          <a:lstStyle/>
          <a:p>
            <a:fld id="{B6F15528-21DE-4FAA-801E-634DDDAF4B2B}" type="slidenum">
              <a:rPr lang="en-US" smtClean="0"/>
              <a:pPr/>
              <a:t>3</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D66A232-BD38-341A-22C0-8790FEF59FBE}"/>
                  </a:ext>
                </a:extLst>
              </p:cNvPr>
              <p:cNvSpPr>
                <a:spLocks noGrp="1"/>
              </p:cNvSpPr>
              <p:nvPr>
                <p:ph sz="quarter" idx="1"/>
              </p:nvPr>
            </p:nvSpPr>
            <p:spPr>
              <a:xfrm>
                <a:off x="914400" y="1447800"/>
                <a:ext cx="7772400" cy="2579058"/>
              </a:xfrm>
            </p:spPr>
            <p:txBody>
              <a:bodyPr>
                <a:normAutofit fontScale="92500" lnSpcReduction="10000"/>
              </a:bodyPr>
              <a:lstStyle/>
              <a:p>
                <a:r>
                  <a:rPr lang="en-US" dirty="0"/>
                  <a:t>If a linear regression model only uses one predictor variable, it is called a </a:t>
                </a:r>
                <a:r>
                  <a:rPr lang="en-US" b="1" dirty="0"/>
                  <a:t>simple linear regression model:</a:t>
                </a:r>
                <a:endParaRPr lang="en-US" dirty="0"/>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𝜀</m:t>
                      </m:r>
                    </m:oMath>
                  </m:oMathPara>
                </a14:m>
                <a:endParaRPr lang="en-US" dirty="0"/>
              </a:p>
              <a:p>
                <a:pPr marL="617220" lvl="1" indent="-342900"/>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oMath>
                </a14:m>
                <a:r>
                  <a:rPr lang="en-US" dirty="0"/>
                  <a:t> is the intercept</a:t>
                </a:r>
              </a:p>
              <a:p>
                <a:pPr marL="617220" lvl="1" indent="-342900"/>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oMath>
                </a14:m>
                <a:r>
                  <a:rPr lang="en-US" dirty="0"/>
                  <a:t> is the slope</a:t>
                </a:r>
              </a:p>
              <a:p>
                <a:pPr marL="617220" lvl="1" indent="-342900"/>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oMath>
                </a14:m>
                <a:r>
                  <a:rPr lang="en-US" dirty="0"/>
                  <a:t> is the predictor variable</a:t>
                </a:r>
              </a:p>
              <a:p>
                <a:pPr marL="617220" lvl="1" indent="-342900"/>
                <a14:m>
                  <m:oMath xmlns:m="http://schemas.openxmlformats.org/officeDocument/2006/math">
                    <m:r>
                      <a:rPr lang="en-CA" b="0" i="1" smtClean="0">
                        <a:latin typeface="Cambria Math" panose="02040503050406030204" pitchFamily="18" charset="0"/>
                        <a:ea typeface="Cambria Math" panose="02040503050406030204" pitchFamily="18" charset="0"/>
                      </a:rPr>
                      <m:t>𝜀</m:t>
                    </m:r>
                  </m:oMath>
                </a14:m>
                <a:r>
                  <a:rPr lang="en-US" dirty="0"/>
                  <a:t> is the random error term</a:t>
                </a:r>
              </a:p>
            </p:txBody>
          </p:sp>
        </mc:Choice>
        <mc:Fallback xmlns="">
          <p:sp>
            <p:nvSpPr>
              <p:cNvPr id="4" name="Content Placeholder 3">
                <a:extLst>
                  <a:ext uri="{FF2B5EF4-FFF2-40B4-BE49-F238E27FC236}">
                    <a16:creationId xmlns:a16="http://schemas.microsoft.com/office/drawing/2014/main" id="{7D66A232-BD38-341A-22C0-8790FEF59FBE}"/>
                  </a:ext>
                </a:extLst>
              </p:cNvPr>
              <p:cNvSpPr>
                <a:spLocks noGrp="1" noRot="1" noChangeAspect="1" noMove="1" noResize="1" noEditPoints="1" noAdjustHandles="1" noChangeArrowheads="1" noChangeShapeType="1" noTextEdit="1"/>
              </p:cNvSpPr>
              <p:nvPr>
                <p:ph sz="quarter" idx="1"/>
              </p:nvPr>
            </p:nvSpPr>
            <p:spPr>
              <a:xfrm>
                <a:off x="914400" y="1447800"/>
                <a:ext cx="7772400" cy="2579058"/>
              </a:xfrm>
              <a:blipFill>
                <a:blip r:embed="rId3"/>
                <a:stretch>
                  <a:fillRect l="-654" t="-3431" b="-2941"/>
                </a:stretch>
              </a:blipFill>
            </p:spPr>
            <p:txBody>
              <a:bodyPr/>
              <a:lstStyle/>
              <a:p>
                <a:r>
                  <a:rPr lang="en-US">
                    <a:noFill/>
                  </a:rPr>
                  <a:t> </a:t>
                </a:r>
              </a:p>
            </p:txBody>
          </p:sp>
        </mc:Fallback>
      </mc:AlternateContent>
      <p:pic>
        <p:nvPicPr>
          <p:cNvPr id="5" name="Picture 4" descr="A line graph of a positive linear relationship.">
            <a:extLst>
              <a:ext uri="{FF2B5EF4-FFF2-40B4-BE49-F238E27FC236}">
                <a16:creationId xmlns:a16="http://schemas.microsoft.com/office/drawing/2014/main" id="{BF7871B5-5A20-199E-6E0E-31585BBB47D4}"/>
              </a:ext>
            </a:extLst>
          </p:cNvPr>
          <p:cNvPicPr>
            <a:picLocks noChangeAspect="1"/>
          </p:cNvPicPr>
          <p:nvPr/>
        </p:nvPicPr>
        <p:blipFill rotWithShape="1">
          <a:blip r:embed="rId4"/>
          <a:srcRect r="70211"/>
          <a:stretch/>
        </p:blipFill>
        <p:spPr>
          <a:xfrm>
            <a:off x="827584" y="4062084"/>
            <a:ext cx="2441498" cy="2579058"/>
          </a:xfrm>
          <a:prstGeom prst="rect">
            <a:avLst/>
          </a:prstGeom>
        </p:spPr>
      </p:pic>
      <p:pic>
        <p:nvPicPr>
          <p:cNvPr id="6" name="Picture 5" descr="A line graph of a negative linear relationship.">
            <a:extLst>
              <a:ext uri="{FF2B5EF4-FFF2-40B4-BE49-F238E27FC236}">
                <a16:creationId xmlns:a16="http://schemas.microsoft.com/office/drawing/2014/main" id="{6E90FFBA-DA32-1632-96C3-E30177D23273}"/>
              </a:ext>
            </a:extLst>
          </p:cNvPr>
          <p:cNvPicPr>
            <a:picLocks noChangeAspect="1"/>
          </p:cNvPicPr>
          <p:nvPr/>
        </p:nvPicPr>
        <p:blipFill rotWithShape="1">
          <a:blip r:embed="rId4"/>
          <a:srcRect l="30873" r="35315"/>
          <a:stretch/>
        </p:blipFill>
        <p:spPr>
          <a:xfrm>
            <a:off x="3419872" y="4088442"/>
            <a:ext cx="2771193" cy="2579058"/>
          </a:xfrm>
          <a:prstGeom prst="rect">
            <a:avLst/>
          </a:prstGeom>
        </p:spPr>
      </p:pic>
      <p:pic>
        <p:nvPicPr>
          <p:cNvPr id="7" name="Picture 6" descr="A line graph of no linear relationship.">
            <a:extLst>
              <a:ext uri="{FF2B5EF4-FFF2-40B4-BE49-F238E27FC236}">
                <a16:creationId xmlns:a16="http://schemas.microsoft.com/office/drawing/2014/main" id="{AADDB054-6CC3-22B0-782C-8EEC5C22E4C2}"/>
              </a:ext>
            </a:extLst>
          </p:cNvPr>
          <p:cNvPicPr>
            <a:picLocks noChangeAspect="1"/>
          </p:cNvPicPr>
          <p:nvPr/>
        </p:nvPicPr>
        <p:blipFill rotWithShape="1">
          <a:blip r:embed="rId4"/>
          <a:srcRect l="66188"/>
          <a:stretch/>
        </p:blipFill>
        <p:spPr>
          <a:xfrm>
            <a:off x="6286297" y="4090302"/>
            <a:ext cx="2771194" cy="2579058"/>
          </a:xfrm>
          <a:prstGeom prst="rect">
            <a:avLst/>
          </a:prstGeom>
        </p:spPr>
      </p:pic>
    </p:spTree>
    <p:extLst>
      <p:ext uri="{BB962C8B-B14F-4D97-AF65-F5344CB8AC3E}">
        <p14:creationId xmlns:p14="http://schemas.microsoft.com/office/powerpoint/2010/main" val="3513989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49F2-FA85-364C-6240-3CB892423961}"/>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3400EA55-38B5-999A-415B-096240100DDC}"/>
              </a:ext>
            </a:extLst>
          </p:cNvPr>
          <p:cNvSpPr>
            <a:spLocks noGrp="1"/>
          </p:cNvSpPr>
          <p:nvPr>
            <p:ph type="sldNum" sz="quarter" idx="12"/>
          </p:nvPr>
        </p:nvSpPr>
        <p:spPr/>
        <p:txBody>
          <a:bodyPr/>
          <a:lstStyle/>
          <a:p>
            <a:fld id="{B6F15528-21DE-4FAA-801E-634DDDAF4B2B}" type="slidenum">
              <a:rPr lang="en-US" smtClean="0"/>
              <a:pPr/>
              <a:t>4</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D66A232-BD38-341A-22C0-8790FEF59FBE}"/>
                  </a:ext>
                </a:extLst>
              </p:cNvPr>
              <p:cNvSpPr>
                <a:spLocks noGrp="1"/>
              </p:cNvSpPr>
              <p:nvPr>
                <p:ph sz="quarter" idx="1"/>
              </p:nvPr>
            </p:nvSpPr>
            <p:spPr>
              <a:xfrm>
                <a:off x="914400" y="1447800"/>
                <a:ext cx="7772400" cy="4762500"/>
              </a:xfrm>
            </p:spPr>
            <p:txBody>
              <a:bodyPr>
                <a:normAutofit/>
              </a:bodyPr>
              <a:lstStyle/>
              <a:p>
                <a:r>
                  <a:rPr lang="en-US" dirty="0"/>
                  <a:t>A model with more than one predictor is referred to as a multiple linear regression model</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𝑘</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𝜀</m:t>
                      </m:r>
                    </m:oMath>
                  </m:oMathPara>
                </a14:m>
                <a:endParaRPr lang="en-US" dirty="0"/>
              </a:p>
              <a:p>
                <a:pPr marL="617220" lvl="1" indent="-342900"/>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oMath>
                </a14:m>
                <a:r>
                  <a:rPr lang="en-US" dirty="0"/>
                  <a:t>, …,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oMath>
                </a14:m>
                <a:r>
                  <a:rPr lang="en-US" dirty="0"/>
                  <a:t> are the predictor variables</a:t>
                </a:r>
              </a:p>
              <a:p>
                <a:pPr marL="617220" lvl="1" indent="-342900"/>
                <a:endParaRPr lang="en-US" dirty="0"/>
              </a:p>
              <a:p>
                <a:pPr marL="342900" indent="-342900"/>
                <a:r>
                  <a:rPr lang="en-US" dirty="0"/>
                  <a:t>To predict the parameters of the model, we use a sample.</a:t>
                </a:r>
              </a:p>
              <a:p>
                <a:pPr marL="0" indent="0">
                  <a:buNone/>
                </a:pPr>
                <a14:m>
                  <m:oMathPara xmlns:m="http://schemas.openxmlformats.org/officeDocument/2006/math">
                    <m:oMathParaPr>
                      <m:jc m:val="centerGroup"/>
                    </m:oMathParaPr>
                    <m:oMath xmlns:m="http://schemas.openxmlformats.org/officeDocument/2006/math">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𝑦</m:t>
                          </m:r>
                        </m:e>
                      </m:acc>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𝑘</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oMath>
                  </m:oMathPara>
                </a14:m>
                <a:endParaRPr lang="en-CA" b="0" dirty="0"/>
              </a:p>
              <a:p>
                <a:r>
                  <a:rPr lang="en-US" dirty="0"/>
                  <a:t>There is a difference between observed and predicted values. It is called </a:t>
                </a:r>
                <a:r>
                  <a:rPr lang="en-US" b="1" dirty="0"/>
                  <a:t>residual: </a:t>
                </a:r>
                <a14:m>
                  <m:oMath xmlns:m="http://schemas.openxmlformats.org/officeDocument/2006/math">
                    <m:r>
                      <a:rPr lang="en-CA" b="0" i="1" smtClean="0">
                        <a:latin typeface="Cambria Math" panose="02040503050406030204" pitchFamily="18" charset="0"/>
                      </a:rPr>
                      <m:t>𝑒</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𝑦</m:t>
                        </m:r>
                      </m:e>
                    </m:acc>
                  </m:oMath>
                </a14:m>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7D66A232-BD38-341A-22C0-8790FEF59FBE}"/>
                  </a:ext>
                </a:extLst>
              </p:cNvPr>
              <p:cNvSpPr>
                <a:spLocks noGrp="1" noRot="1" noChangeAspect="1" noMove="1" noResize="1" noEditPoints="1" noAdjustHandles="1" noChangeArrowheads="1" noChangeShapeType="1" noTextEdit="1"/>
              </p:cNvSpPr>
              <p:nvPr>
                <p:ph sz="quarter" idx="1"/>
              </p:nvPr>
            </p:nvSpPr>
            <p:spPr>
              <a:xfrm>
                <a:off x="914400" y="1447800"/>
                <a:ext cx="7772400" cy="4762500"/>
              </a:xfrm>
              <a:blipFill>
                <a:blip r:embed="rId3"/>
                <a:stretch>
                  <a:fillRect l="-817" t="-1330" r="-654"/>
                </a:stretch>
              </a:blipFill>
            </p:spPr>
            <p:txBody>
              <a:bodyPr/>
              <a:lstStyle/>
              <a:p>
                <a:r>
                  <a:rPr lang="en-US">
                    <a:noFill/>
                  </a:rPr>
                  <a:t> </a:t>
                </a:r>
              </a:p>
            </p:txBody>
          </p:sp>
        </mc:Fallback>
      </mc:AlternateContent>
    </p:spTree>
    <p:extLst>
      <p:ext uri="{BB962C8B-B14F-4D97-AF65-F5344CB8AC3E}">
        <p14:creationId xmlns:p14="http://schemas.microsoft.com/office/powerpoint/2010/main" val="4270855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C7433-5C2C-404D-5C04-F7ECC1F3EC51}"/>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45B3BD3B-3617-BB69-4B68-CC455477A47A}"/>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5" name="Content Placeholder 4" descr="A scatter plot of y versus x shows data points and a regression line.">
            <a:extLst>
              <a:ext uri="{FF2B5EF4-FFF2-40B4-BE49-F238E27FC236}">
                <a16:creationId xmlns:a16="http://schemas.microsoft.com/office/drawing/2014/main" id="{5CC30A39-F9B0-B9A7-EB72-187C39ADF505}"/>
              </a:ext>
            </a:extLst>
          </p:cNvPr>
          <p:cNvPicPr>
            <a:picLocks noGrp="1" noChangeAspect="1"/>
          </p:cNvPicPr>
          <p:nvPr>
            <p:ph sz="quarter" idx="1"/>
          </p:nvPr>
        </p:nvPicPr>
        <p:blipFill rotWithShape="1">
          <a:blip r:embed="rId3"/>
          <a:srcRect t="4195"/>
          <a:stretch/>
        </p:blipFill>
        <p:spPr>
          <a:xfrm>
            <a:off x="899592" y="1028518"/>
            <a:ext cx="7756427" cy="4380194"/>
          </a:xfrm>
          <a:prstGeom prst="rect">
            <a:avLst/>
          </a:prstGeom>
        </p:spPr>
      </p:pic>
      <mc:AlternateContent xmlns:mc="http://schemas.openxmlformats.org/markup-compatibility/2006" xmlns:a14="http://schemas.microsoft.com/office/drawing/2010/main">
        <mc:Choice Requires="a14">
          <p:sp>
            <p:nvSpPr>
              <p:cNvPr id="6" name="Content Placeholder 3">
                <a:extLst>
                  <a:ext uri="{FF2B5EF4-FFF2-40B4-BE49-F238E27FC236}">
                    <a16:creationId xmlns:a16="http://schemas.microsoft.com/office/drawing/2014/main" id="{97D1FFAD-5718-E70C-92C7-3FBD874AF2EF}"/>
                  </a:ext>
                </a:extLst>
              </p:cNvPr>
              <p:cNvSpPr txBox="1">
                <a:spLocks/>
              </p:cNvSpPr>
              <p:nvPr/>
            </p:nvSpPr>
            <p:spPr>
              <a:xfrm>
                <a:off x="603504" y="5329498"/>
                <a:ext cx="8394192" cy="1125116"/>
              </a:xfrm>
              <a:prstGeom prst="rect">
                <a:avLst/>
              </a:prstGeom>
            </p:spPr>
            <p:txBody>
              <a:bodyPr vert="horz">
                <a:normAutofit fontScale="62500" lnSpcReduction="2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CA" sz="2900" dirty="0"/>
                  <a:t>We find the line that minimizes the sum of squared errors (Ordinary least square method).</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𝑆𝑆𝐸</m:t>
                      </m:r>
                      <m:r>
                        <a:rPr lang="en-CA" b="0" i="1" smtClean="0">
                          <a:latin typeface="Cambria Math" panose="02040503050406030204" pitchFamily="18" charset="0"/>
                        </a:rPr>
                        <m:t>= </m:t>
                      </m:r>
                      <m:nary>
                        <m:naryPr>
                          <m:chr m:val="∑"/>
                          <m:subHide m:val="on"/>
                          <m:supHide m:val="on"/>
                          <m:ctrlPr>
                            <a:rPr lang="en-CA" b="0" i="1" smtClean="0">
                              <a:latin typeface="Cambria Math" panose="02040503050406030204" pitchFamily="18" charset="0"/>
                            </a:rPr>
                          </m:ctrlPr>
                        </m:naryPr>
                        <m:sub/>
                        <m:sup/>
                        <m:e>
                          <m:sSup>
                            <m:sSupPr>
                              <m:ctrlPr>
                                <a:rPr lang="en-CA" b="0" i="1" smtClean="0">
                                  <a:latin typeface="Cambria Math" panose="02040503050406030204" pitchFamily="18" charset="0"/>
                                </a:rPr>
                              </m:ctrlPr>
                            </m:sSupPr>
                            <m:e>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i="1">
                                  <a:latin typeface="Cambria Math" panose="02040503050406030204" pitchFamily="18" charset="0"/>
                                </a:rPr>
                                <m:t>−</m:t>
                              </m:r>
                              <m:acc>
                                <m:accPr>
                                  <m:chr m:val="̂"/>
                                  <m:ctrlPr>
                                    <a:rPr lang="en-CA" i="1">
                                      <a:latin typeface="Cambria Math" panose="02040503050406030204" pitchFamily="18" charset="0"/>
                                    </a:rPr>
                                  </m:ctrlPr>
                                </m:accPr>
                                <m:e>
                                  <m:r>
                                    <a:rPr lang="en-CA" b="0" i="1" smtClean="0">
                                      <a:latin typeface="Cambria Math" panose="02040503050406030204" pitchFamily="18" charset="0"/>
                                    </a:rPr>
                                    <m:t>𝑦</m:t>
                                  </m:r>
                                </m:e>
                              </m:acc>
                              <m:r>
                                <a:rPr lang="en-CA" i="1">
                                  <a:latin typeface="Cambria Math" panose="02040503050406030204" pitchFamily="18" charset="0"/>
                                </a:rPr>
                                <m:t>)</m:t>
                              </m:r>
                            </m:e>
                            <m:sup>
                              <m:r>
                                <a:rPr lang="en-CA" b="0" i="1" smtClean="0">
                                  <a:latin typeface="Cambria Math" panose="02040503050406030204" pitchFamily="18" charset="0"/>
                                </a:rPr>
                                <m:t>2</m:t>
                              </m:r>
                            </m:sup>
                          </m:sSup>
                        </m:e>
                      </m:nary>
                      <m:r>
                        <a:rPr lang="en-CA" b="0" i="1" smtClean="0">
                          <a:latin typeface="Cambria Math" panose="02040503050406030204" pitchFamily="18" charset="0"/>
                        </a:rPr>
                        <m:t>=</m:t>
                      </m:r>
                      <m:nary>
                        <m:naryPr>
                          <m:chr m:val="∑"/>
                          <m:subHide m:val="on"/>
                          <m:supHide m:val="on"/>
                          <m:ctrlPr>
                            <a:rPr lang="en-CA" i="1">
                              <a:latin typeface="Cambria Math" panose="02040503050406030204" pitchFamily="18" charset="0"/>
                            </a:rPr>
                          </m:ctrlPr>
                        </m:naryPr>
                        <m:sub/>
                        <m:sup/>
                        <m:e>
                          <m:sSup>
                            <m:sSupPr>
                              <m:ctrlPr>
                                <a:rPr lang="en-CA" i="1">
                                  <a:latin typeface="Cambria Math" panose="02040503050406030204" pitchFamily="18" charset="0"/>
                                </a:rPr>
                              </m:ctrlPr>
                            </m:sSupPr>
                            <m:e>
                              <m:r>
                                <a:rPr lang="en-CA" b="0" i="1" smtClean="0">
                                  <a:latin typeface="Cambria Math" panose="02040503050406030204" pitchFamily="18" charset="0"/>
                                </a:rPr>
                                <m:t>𝑒</m:t>
                              </m:r>
                            </m:e>
                            <m:sup>
                              <m:r>
                                <a:rPr lang="en-CA" i="1">
                                  <a:latin typeface="Cambria Math" panose="02040503050406030204" pitchFamily="18" charset="0"/>
                                </a:rPr>
                                <m:t>2</m:t>
                              </m:r>
                            </m:sup>
                          </m:sSup>
                        </m:e>
                      </m:nary>
                    </m:oMath>
                  </m:oMathPara>
                </a14:m>
                <a:endParaRPr lang="en-US" dirty="0"/>
              </a:p>
              <a:p>
                <a:pPr marL="0" indent="0">
                  <a:buFont typeface="Wingdings 2"/>
                  <a:buNone/>
                </a:pPr>
                <a:endParaRPr lang="en-US" dirty="0"/>
              </a:p>
            </p:txBody>
          </p:sp>
        </mc:Choice>
        <mc:Fallback xmlns="">
          <p:sp>
            <p:nvSpPr>
              <p:cNvPr id="6" name="Content Placeholder 3">
                <a:extLst>
                  <a:ext uri="{FF2B5EF4-FFF2-40B4-BE49-F238E27FC236}">
                    <a16:creationId xmlns:a16="http://schemas.microsoft.com/office/drawing/2014/main" id="{97D1FFAD-5718-E70C-92C7-3FBD874AF2EF}"/>
                  </a:ext>
                </a:extLst>
              </p:cNvPr>
              <p:cNvSpPr txBox="1">
                <a:spLocks noRot="1" noChangeAspect="1" noMove="1" noResize="1" noEditPoints="1" noAdjustHandles="1" noChangeArrowheads="1" noChangeShapeType="1" noTextEdit="1"/>
              </p:cNvSpPr>
              <p:nvPr/>
            </p:nvSpPr>
            <p:spPr>
              <a:xfrm>
                <a:off x="603504" y="5329498"/>
                <a:ext cx="8394192" cy="1125116"/>
              </a:xfrm>
              <a:prstGeom prst="rect">
                <a:avLst/>
              </a:prstGeom>
              <a:blipFill>
                <a:blip r:embed="rId4"/>
                <a:stretch>
                  <a:fillRect l="-151" t="-36667" b="-106667"/>
                </a:stretch>
              </a:blipFill>
            </p:spPr>
            <p:txBody>
              <a:bodyPr/>
              <a:lstStyle/>
              <a:p>
                <a:r>
                  <a:rPr lang="en-US">
                    <a:noFill/>
                  </a:rPr>
                  <a:t> </a:t>
                </a:r>
              </a:p>
            </p:txBody>
          </p:sp>
        </mc:Fallback>
      </mc:AlternateContent>
    </p:spTree>
    <p:extLst>
      <p:ext uri="{BB962C8B-B14F-4D97-AF65-F5344CB8AC3E}">
        <p14:creationId xmlns:p14="http://schemas.microsoft.com/office/powerpoint/2010/main" val="1428182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571F9-EEFB-EB4E-E5CB-60EECCA53862}"/>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3CD231C-700A-C6FD-D80D-002750BB4792}"/>
              </a:ext>
            </a:extLst>
          </p:cNvPr>
          <p:cNvSpPr>
            <a:spLocks noGrp="1"/>
          </p:cNvSpPr>
          <p:nvPr>
            <p:ph type="sldNum" sz="quarter" idx="12"/>
          </p:nvPr>
        </p:nvSpPr>
        <p:spPr/>
        <p:txBody>
          <a:bodyPr/>
          <a:lstStyle/>
          <a:p>
            <a:fld id="{B6F15528-21DE-4FAA-801E-634DDDAF4B2B}" type="slidenum">
              <a:rPr lang="en-US" smtClean="0"/>
              <a:pPr/>
              <a:t>6</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7E5DD01-B417-F4B9-4165-DBF682BF1C27}"/>
                  </a:ext>
                </a:extLst>
              </p:cNvPr>
              <p:cNvSpPr>
                <a:spLocks noGrp="1"/>
              </p:cNvSpPr>
              <p:nvPr>
                <p:ph sz="quarter" idx="1"/>
              </p:nvPr>
            </p:nvSpPr>
            <p:spPr/>
            <p:txBody>
              <a:bodyPr/>
              <a:lstStyle/>
              <a:p>
                <a:r>
                  <a:rPr lang="en-US" dirty="0"/>
                  <a:t>A regression model treats all predictor variables as numerical.</a:t>
                </a:r>
              </a:p>
              <a:p>
                <a:r>
                  <a:rPr lang="en-US" dirty="0"/>
                  <a:t>If we have a categorical variable, a dummy variable is used to describe two categories of a categorical variable, denoted </a:t>
                </a:r>
                <a14:m>
                  <m:oMath xmlns:m="http://schemas.openxmlformats.org/officeDocument/2006/math">
                    <m:r>
                      <a:rPr lang="en-CA" b="0" i="1" smtClean="0">
                        <a:latin typeface="Cambria Math" panose="02040503050406030204" pitchFamily="18" charset="0"/>
                      </a:rPr>
                      <m:t>𝑑</m:t>
                    </m:r>
                  </m:oMath>
                </a14:m>
                <a:r>
                  <a:rPr lang="en-CA" b="0" dirty="0"/>
                  <a:t> (e.g., whether we are selling a product in high-season or off-season)</a:t>
                </a:r>
              </a:p>
              <a:p>
                <a:pPr lvl="1"/>
                <a14:m>
                  <m:oMath xmlns:m="http://schemas.openxmlformats.org/officeDocument/2006/math">
                    <m:r>
                      <a:rPr lang="en-CA" b="0" i="1" smtClean="0">
                        <a:latin typeface="Cambria Math" panose="02040503050406030204" pitchFamily="18" charset="0"/>
                      </a:rPr>
                      <m:t>𝑑</m:t>
                    </m:r>
                    <m:r>
                      <a:rPr lang="en-CA" b="0" i="0" smtClean="0">
                        <a:latin typeface="Cambria Math" panose="02040503050406030204" pitchFamily="18" charset="0"/>
                      </a:rPr>
                      <m:t>=1</m:t>
                    </m:r>
                  </m:oMath>
                </a14:m>
                <a:r>
                  <a:rPr lang="en-US" dirty="0"/>
                  <a:t> for one of the categories.</a:t>
                </a:r>
              </a:p>
              <a:p>
                <a:pPr lvl="1"/>
                <a14:m>
                  <m:oMath xmlns:m="http://schemas.openxmlformats.org/officeDocument/2006/math">
                    <m:r>
                      <a:rPr lang="en-CA" b="0" i="1" smtClean="0">
                        <a:latin typeface="Cambria Math" panose="02040503050406030204" pitchFamily="18" charset="0"/>
                      </a:rPr>
                      <m:t>𝑑</m:t>
                    </m:r>
                    <m:r>
                      <a:rPr lang="en-CA" b="0" i="0" smtClean="0">
                        <a:latin typeface="Cambria Math" panose="02040503050406030204" pitchFamily="18" charset="0"/>
                      </a:rPr>
                      <m:t>=0</m:t>
                    </m:r>
                  </m:oMath>
                </a14:m>
                <a:r>
                  <a:rPr lang="en-US" dirty="0"/>
                  <a:t> for the other(s)</a:t>
                </a:r>
              </a:p>
              <a:p>
                <a:r>
                  <a:rPr lang="en-US" dirty="0"/>
                  <a:t>The category with </a:t>
                </a:r>
                <a14:m>
                  <m:oMath xmlns:m="http://schemas.openxmlformats.org/officeDocument/2006/math">
                    <m:r>
                      <a:rPr lang="en-CA" b="0" i="1" smtClean="0">
                        <a:latin typeface="Cambria Math" panose="02040503050406030204" pitchFamily="18" charset="0"/>
                      </a:rPr>
                      <m:t>𝑑</m:t>
                    </m:r>
                    <m:r>
                      <a:rPr lang="en-CA" b="0" i="0" smtClean="0">
                        <a:latin typeface="Cambria Math" panose="02040503050406030204" pitchFamily="18" charset="0"/>
                      </a:rPr>
                      <m:t>=0</m:t>
                    </m:r>
                  </m:oMath>
                </a14:m>
                <a:r>
                  <a:rPr lang="en-US" dirty="0"/>
                  <a:t> is called the reference or benchmark category. </a:t>
                </a:r>
              </a:p>
            </p:txBody>
          </p:sp>
        </mc:Choice>
        <mc:Fallback xmlns="">
          <p:sp>
            <p:nvSpPr>
              <p:cNvPr id="4" name="Content Placeholder 3">
                <a:extLst>
                  <a:ext uri="{FF2B5EF4-FFF2-40B4-BE49-F238E27FC236}">
                    <a16:creationId xmlns:a16="http://schemas.microsoft.com/office/drawing/2014/main" id="{07E5DD01-B417-F4B9-4165-DBF682BF1C27}"/>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r="-327"/>
                </a:stretch>
              </a:blipFill>
            </p:spPr>
            <p:txBody>
              <a:bodyPr/>
              <a:lstStyle/>
              <a:p>
                <a:r>
                  <a:rPr lang="en-US">
                    <a:noFill/>
                  </a:rPr>
                  <a:t> </a:t>
                </a:r>
              </a:p>
            </p:txBody>
          </p:sp>
        </mc:Fallback>
      </mc:AlternateContent>
    </p:spTree>
    <p:extLst>
      <p:ext uri="{BB962C8B-B14F-4D97-AF65-F5344CB8AC3E}">
        <p14:creationId xmlns:p14="http://schemas.microsoft.com/office/powerpoint/2010/main" val="91264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8118-2861-5438-30B2-CE40049A5857}"/>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9C5B6D13-50CC-FEFE-A67B-3CE6D9A43ECA}"/>
              </a:ext>
            </a:extLst>
          </p:cNvPr>
          <p:cNvSpPr>
            <a:spLocks noGrp="1"/>
          </p:cNvSpPr>
          <p:nvPr>
            <p:ph type="sldNum" sz="quarter" idx="12"/>
          </p:nvPr>
        </p:nvSpPr>
        <p:spPr/>
        <p:txBody>
          <a:bodyPr/>
          <a:lstStyle/>
          <a:p>
            <a:fld id="{B6F15528-21DE-4FAA-801E-634DDDAF4B2B}" type="slidenum">
              <a:rPr lang="en-US" smtClean="0"/>
              <a:pPr/>
              <a:t>7</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705DD6F-DE26-F2A4-6896-10BE7A7FA5C4}"/>
                  </a:ext>
                </a:extLst>
              </p:cNvPr>
              <p:cNvSpPr>
                <a:spLocks noGrp="1"/>
              </p:cNvSpPr>
              <p:nvPr>
                <p:ph sz="quarter" idx="1"/>
              </p:nvPr>
            </p:nvSpPr>
            <p:spPr>
              <a:xfrm>
                <a:off x="914400" y="1447800"/>
                <a:ext cx="7772400" cy="4861520"/>
              </a:xfrm>
            </p:spPr>
            <p:txBody>
              <a:bodyPr>
                <a:normAutofit/>
              </a:bodyPr>
              <a:lstStyle/>
              <a:p>
                <a:pPr marL="0" indent="0">
                  <a:buNone/>
                </a:pPr>
                <a:r>
                  <a:rPr lang="en-US" b="1" dirty="0"/>
                  <a:t>Example 4.1:</a:t>
                </a:r>
                <a:r>
                  <a:rPr lang="en-US" dirty="0"/>
                  <a:t> A student wants </a:t>
                </a:r>
                <a:r>
                  <a:rPr lang="en-US"/>
                  <a:t>to know what </a:t>
                </a:r>
                <a:r>
                  <a:rPr lang="en-US" dirty="0"/>
                  <a:t>college factors influence post-college earnings. To answer this, the student gathered information from 116 colleges on annual post-college earnings, average annual cost, graduation rate, percentage of students paying down debt, and the location of the college. Using this data, estimate the linear regression model:</a:t>
                </a:r>
              </a:p>
              <a:p>
                <a:pPr marL="0" indent="0">
                  <a:buNone/>
                </a:pPr>
                <a14:m>
                  <m:oMathPara xmlns:m="http://schemas.openxmlformats.org/officeDocument/2006/math">
                    <m:oMathParaPr>
                      <m:jc m:val="centerGroup"/>
                    </m:oMathParaPr>
                    <m:oMath xmlns:m="http://schemas.openxmlformats.org/officeDocument/2006/math">
                      <m:r>
                        <a:rPr lang="en-CA" sz="2000" b="0" i="1" smtClean="0">
                          <a:latin typeface="Cambria Math" panose="02040503050406030204" pitchFamily="18" charset="0"/>
                        </a:rPr>
                        <m:t>𝐸𝑎𝑟𝑛𝑖𝑛𝑔𝑠</m:t>
                      </m:r>
                      <m:r>
                        <a:rPr lang="en-CA" sz="2000" b="0" i="1" smtClean="0">
                          <a:latin typeface="Cambria Math" panose="02040503050406030204" pitchFamily="18" charset="0"/>
                        </a:rPr>
                        <m:t>=</m:t>
                      </m:r>
                      <m:sSub>
                        <m:sSubPr>
                          <m:ctrlPr>
                            <a:rPr lang="en-CA" sz="2000" i="1">
                              <a:latin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𝛽</m:t>
                          </m:r>
                        </m:e>
                        <m:sub>
                          <m:r>
                            <a:rPr lang="en-CA" sz="2000" i="1">
                              <a:latin typeface="Cambria Math" panose="02040503050406030204" pitchFamily="18" charset="0"/>
                            </a:rPr>
                            <m:t>0</m:t>
                          </m:r>
                        </m:sub>
                      </m:sSub>
                      <m:r>
                        <a:rPr lang="en-CA" sz="2000" b="0" i="1" smtClean="0">
                          <a:latin typeface="Cambria Math" panose="02040503050406030204" pitchFamily="18" charset="0"/>
                        </a:rPr>
                        <m:t>+</m:t>
                      </m:r>
                      <m:sSub>
                        <m:sSubPr>
                          <m:ctrlPr>
                            <a:rPr lang="en-CA" sz="2000" i="1">
                              <a:latin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𝛽</m:t>
                          </m:r>
                        </m:e>
                        <m:sub>
                          <m:r>
                            <a:rPr lang="en-CA" sz="2000" b="0" i="1" smtClean="0">
                              <a:latin typeface="Cambria Math" panose="02040503050406030204" pitchFamily="18" charset="0"/>
                            </a:rPr>
                            <m:t>1</m:t>
                          </m:r>
                        </m:sub>
                      </m:sSub>
                      <m:r>
                        <a:rPr lang="en-CA" sz="2000" b="0" i="1" smtClean="0">
                          <a:latin typeface="Cambria Math" panose="02040503050406030204" pitchFamily="18" charset="0"/>
                        </a:rPr>
                        <m:t>𝐶𝑜𝑠𝑡</m:t>
                      </m:r>
                      <m:r>
                        <a:rPr lang="en-CA" sz="2000" b="0" i="1" smtClean="0">
                          <a:latin typeface="Cambria Math" panose="02040503050406030204" pitchFamily="18" charset="0"/>
                        </a:rPr>
                        <m:t>+</m:t>
                      </m:r>
                      <m:sSub>
                        <m:sSubPr>
                          <m:ctrlPr>
                            <a:rPr lang="en-CA" sz="2000" i="1">
                              <a:latin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𝛽</m:t>
                          </m:r>
                        </m:e>
                        <m:sub>
                          <m:r>
                            <a:rPr lang="en-CA" sz="2000" b="0" i="1" smtClean="0">
                              <a:latin typeface="Cambria Math" panose="02040503050406030204" pitchFamily="18" charset="0"/>
                              <a:ea typeface="Cambria Math" panose="02040503050406030204" pitchFamily="18" charset="0"/>
                            </a:rPr>
                            <m:t>2</m:t>
                          </m:r>
                        </m:sub>
                      </m:sSub>
                      <m:r>
                        <a:rPr lang="en-CA" sz="2000" b="0" i="1" smtClean="0">
                          <a:latin typeface="Cambria Math" panose="02040503050406030204" pitchFamily="18" charset="0"/>
                        </a:rPr>
                        <m:t> </m:t>
                      </m:r>
                      <m:r>
                        <a:rPr lang="en-CA" sz="2000" b="0" i="1" smtClean="0">
                          <a:latin typeface="Cambria Math" panose="02040503050406030204" pitchFamily="18" charset="0"/>
                        </a:rPr>
                        <m:t>𝐺𝑟𝑎𝑑</m:t>
                      </m:r>
                      <m:r>
                        <a:rPr lang="en-CA" sz="2000" b="0" i="1" smtClean="0">
                          <a:latin typeface="Cambria Math" panose="02040503050406030204" pitchFamily="18" charset="0"/>
                        </a:rPr>
                        <m:t>+</m:t>
                      </m:r>
                      <m:sSub>
                        <m:sSubPr>
                          <m:ctrlPr>
                            <a:rPr lang="en-CA" sz="2000" i="1">
                              <a:latin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𝛽</m:t>
                          </m:r>
                        </m:e>
                        <m:sub>
                          <m:r>
                            <a:rPr lang="en-CA" sz="2000" b="0" i="1" smtClean="0">
                              <a:latin typeface="Cambria Math" panose="02040503050406030204" pitchFamily="18" charset="0"/>
                              <a:ea typeface="Cambria Math" panose="02040503050406030204" pitchFamily="18" charset="0"/>
                            </a:rPr>
                            <m:t>3</m:t>
                          </m:r>
                        </m:sub>
                      </m:sSub>
                      <m:r>
                        <a:rPr lang="en-CA" sz="2000" b="0" i="1" smtClean="0">
                          <a:latin typeface="Cambria Math" panose="02040503050406030204" pitchFamily="18" charset="0"/>
                        </a:rPr>
                        <m:t> </m:t>
                      </m:r>
                      <m:r>
                        <a:rPr lang="en-CA" sz="2000" b="0" i="1" smtClean="0">
                          <a:latin typeface="Cambria Math" panose="02040503050406030204" pitchFamily="18" charset="0"/>
                        </a:rPr>
                        <m:t>𝐷𝑒𝑏𝑡</m:t>
                      </m:r>
                      <m:r>
                        <a:rPr lang="en-CA" sz="2000" b="0" i="1" smtClean="0">
                          <a:latin typeface="Cambria Math" panose="02040503050406030204" pitchFamily="18" charset="0"/>
                        </a:rPr>
                        <m:t>+</m:t>
                      </m:r>
                      <m:sSub>
                        <m:sSubPr>
                          <m:ctrlPr>
                            <a:rPr lang="en-CA" sz="2000" i="1">
                              <a:latin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𝛽</m:t>
                          </m:r>
                        </m:e>
                        <m:sub>
                          <m:r>
                            <a:rPr lang="en-CA" sz="2000" b="0" i="1" smtClean="0">
                              <a:latin typeface="Cambria Math" panose="02040503050406030204" pitchFamily="18" charset="0"/>
                            </a:rPr>
                            <m:t>4</m:t>
                          </m:r>
                        </m:sub>
                      </m:sSub>
                      <m:r>
                        <a:rPr lang="en-CA" sz="2000" b="0" i="1" smtClean="0">
                          <a:latin typeface="Cambria Math" panose="02040503050406030204" pitchFamily="18" charset="0"/>
                        </a:rPr>
                        <m:t>𝐿𝑜𝑐𝑎𝑡𝑖𝑜𝑛</m:t>
                      </m:r>
                      <m:r>
                        <a:rPr lang="en-CA" sz="2000" b="0" i="1" smtClean="0">
                          <a:latin typeface="Cambria Math" panose="02040503050406030204" pitchFamily="18" charset="0"/>
                        </a:rPr>
                        <m:t>+ </m:t>
                      </m:r>
                      <m:r>
                        <a:rPr lang="en-CA" sz="2000" b="0" i="1" smtClean="0">
                          <a:latin typeface="Cambria Math" panose="02040503050406030204" pitchFamily="18" charset="0"/>
                          <a:ea typeface="Cambria Math" panose="02040503050406030204" pitchFamily="18" charset="0"/>
                        </a:rPr>
                        <m:t>𝜀</m:t>
                      </m:r>
                    </m:oMath>
                  </m:oMathPara>
                </a14:m>
                <a:endParaRPr lang="en-US" sz="2000" dirty="0"/>
              </a:p>
              <a:p>
                <a:pPr marL="0" indent="0">
                  <a:buNone/>
                </a:pPr>
                <a:r>
                  <a:rPr lang="en-US" dirty="0"/>
                  <a:t>Predict the annual post-college earnings if a college’s average annual cost is $25,000, its graduation rate is 60%, its percentage of students paying down debt is 80%, and it is in a city. </a:t>
                </a:r>
              </a:p>
            </p:txBody>
          </p:sp>
        </mc:Choice>
        <mc:Fallback xmlns="">
          <p:sp>
            <p:nvSpPr>
              <p:cNvPr id="4" name="Content Placeholder 3">
                <a:extLst>
                  <a:ext uri="{FF2B5EF4-FFF2-40B4-BE49-F238E27FC236}">
                    <a16:creationId xmlns:a16="http://schemas.microsoft.com/office/drawing/2014/main" id="{5705DD6F-DE26-F2A4-6896-10BE7A7FA5C4}"/>
                  </a:ext>
                </a:extLst>
              </p:cNvPr>
              <p:cNvSpPr>
                <a:spLocks noGrp="1" noRot="1" noChangeAspect="1" noMove="1" noResize="1" noEditPoints="1" noAdjustHandles="1" noChangeArrowheads="1" noChangeShapeType="1" noTextEdit="1"/>
              </p:cNvSpPr>
              <p:nvPr>
                <p:ph sz="quarter" idx="1"/>
              </p:nvPr>
            </p:nvSpPr>
            <p:spPr>
              <a:xfrm>
                <a:off x="914400" y="1447800"/>
                <a:ext cx="7772400" cy="4861520"/>
              </a:xfrm>
              <a:blipFill>
                <a:blip r:embed="rId2"/>
                <a:stretch>
                  <a:fillRect l="-1471" t="-1305" b="-2611"/>
                </a:stretch>
              </a:blipFill>
            </p:spPr>
            <p:txBody>
              <a:bodyPr/>
              <a:lstStyle/>
              <a:p>
                <a:r>
                  <a:rPr lang="en-US">
                    <a:noFill/>
                  </a:rPr>
                  <a:t> </a:t>
                </a:r>
              </a:p>
            </p:txBody>
          </p:sp>
        </mc:Fallback>
      </mc:AlternateContent>
    </p:spTree>
    <p:extLst>
      <p:ext uri="{BB962C8B-B14F-4D97-AF65-F5344CB8AC3E}">
        <p14:creationId xmlns:p14="http://schemas.microsoft.com/office/powerpoint/2010/main" val="149693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8118-2861-5438-30B2-CE40049A5857}"/>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9C5B6D13-50CC-FEFE-A67B-3CE6D9A43ECA}"/>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Content Placeholder 3">
            <a:extLst>
              <a:ext uri="{FF2B5EF4-FFF2-40B4-BE49-F238E27FC236}">
                <a16:creationId xmlns:a16="http://schemas.microsoft.com/office/drawing/2014/main" id="{5705DD6F-DE26-F2A4-6896-10BE7A7FA5C4}"/>
              </a:ext>
            </a:extLst>
          </p:cNvPr>
          <p:cNvSpPr>
            <a:spLocks noGrp="1"/>
          </p:cNvSpPr>
          <p:nvPr>
            <p:ph sz="quarter" idx="1"/>
          </p:nvPr>
        </p:nvSpPr>
        <p:spPr>
          <a:xfrm>
            <a:off x="914400" y="1447800"/>
            <a:ext cx="7772400" cy="4861520"/>
          </a:xfrm>
        </p:spPr>
        <p:txBody>
          <a:bodyPr>
            <a:normAutofit/>
          </a:bodyPr>
          <a:lstStyle/>
          <a:p>
            <a:pPr marL="0" indent="0">
              <a:buNone/>
            </a:pPr>
            <a:r>
              <a:rPr lang="en-US" b="1" dirty="0"/>
              <a:t>Solution:</a:t>
            </a:r>
          </a:p>
          <a:p>
            <a:pPr marL="0" indent="0">
              <a:buNone/>
            </a:pPr>
            <a:r>
              <a:rPr lang="en-US" dirty="0"/>
              <a:t>Earnings = 10004.97 + 0.4349 Cost + 178.10 Grad + 141.48 Debt + 2526.79 City</a:t>
            </a:r>
          </a:p>
          <a:p>
            <a:pPr marL="0" indent="0">
              <a:buNone/>
            </a:pPr>
            <a:endParaRPr lang="en-US" dirty="0"/>
          </a:p>
          <a:p>
            <a:pPr marL="0" indent="0">
              <a:buNone/>
            </a:pPr>
            <a:r>
              <a:rPr lang="en-US" dirty="0"/>
              <a:t>Earnings = 10004.97 + 0.4349 * 25,000 + 178.10 * 60 + 141.48 * 80 + 2526.79 * 1 = 45,408.7991</a:t>
            </a:r>
          </a:p>
          <a:p>
            <a:pPr marL="0" indent="0">
              <a:buNone/>
            </a:pPr>
            <a:endParaRPr lang="en-US" dirty="0"/>
          </a:p>
        </p:txBody>
      </p:sp>
    </p:spTree>
    <p:extLst>
      <p:ext uri="{BB962C8B-B14F-4D97-AF65-F5344CB8AC3E}">
        <p14:creationId xmlns:p14="http://schemas.microsoft.com/office/powerpoint/2010/main" val="1310893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8118-2861-5438-30B2-CE40049A5857}"/>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9C5B6D13-50CC-FEFE-A67B-3CE6D9A43ECA}"/>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Content Placeholder 3">
            <a:extLst>
              <a:ext uri="{FF2B5EF4-FFF2-40B4-BE49-F238E27FC236}">
                <a16:creationId xmlns:a16="http://schemas.microsoft.com/office/drawing/2014/main" id="{5705DD6F-DE26-F2A4-6896-10BE7A7FA5C4}"/>
              </a:ext>
            </a:extLst>
          </p:cNvPr>
          <p:cNvSpPr>
            <a:spLocks noGrp="1"/>
          </p:cNvSpPr>
          <p:nvPr>
            <p:ph sz="quarter" idx="1"/>
          </p:nvPr>
        </p:nvSpPr>
        <p:spPr>
          <a:xfrm>
            <a:off x="914400" y="1447800"/>
            <a:ext cx="7772400" cy="4861520"/>
          </a:xfrm>
        </p:spPr>
        <p:txBody>
          <a:bodyPr>
            <a:normAutofit/>
          </a:bodyPr>
          <a:lstStyle/>
          <a:p>
            <a:pPr marL="0" indent="0">
              <a:buNone/>
            </a:pPr>
            <a:r>
              <a:rPr lang="en-US" b="1" dirty="0"/>
              <a:t>Example 4.2: </a:t>
            </a:r>
            <a:r>
              <a:rPr lang="en-US" dirty="0"/>
              <a:t>The data file “</a:t>
            </a:r>
            <a:r>
              <a:rPr lang="en-US" dirty="0" err="1"/>
              <a:t>Car_Prices</a:t>
            </a:r>
            <a:r>
              <a:rPr lang="en-US" dirty="0"/>
              <a:t>” shows the price, the age, and the milage for 20 used cars.</a:t>
            </a:r>
          </a:p>
          <a:p>
            <a:pPr marL="0" indent="0">
              <a:buNone/>
            </a:pPr>
            <a:endParaRPr lang="en-US" dirty="0"/>
          </a:p>
          <a:p>
            <a:pPr marL="0" indent="0">
              <a:buNone/>
            </a:pPr>
            <a:r>
              <a:rPr lang="en-US" dirty="0"/>
              <a:t>Estimate the sample regression equation that enables us to predict the price of a car on the basis of its age and mileage.</a:t>
            </a:r>
          </a:p>
          <a:p>
            <a:pPr marL="0" indent="0">
              <a:buNone/>
            </a:pPr>
            <a:r>
              <a:rPr lang="en-US" dirty="0"/>
              <a:t>Predict the price of a five-year-old car with 65,000 miles.</a:t>
            </a:r>
          </a:p>
        </p:txBody>
      </p:sp>
    </p:spTree>
    <p:extLst>
      <p:ext uri="{BB962C8B-B14F-4D97-AF65-F5344CB8AC3E}">
        <p14:creationId xmlns:p14="http://schemas.microsoft.com/office/powerpoint/2010/main" val="152262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lstStyle/>
          <a:p>
            <a:r>
              <a:rPr lang="en-US" dirty="0"/>
              <a:t>Regression models are known to perform well for making predications.</a:t>
            </a:r>
          </a:p>
          <a:p>
            <a:r>
              <a:rPr lang="en-US" dirty="0"/>
              <a:t>We should be careful when establishing cause-and-effect relationship using regression models. </a:t>
            </a:r>
          </a:p>
          <a:p>
            <a:r>
              <a:rPr lang="en-US" dirty="0"/>
              <a:t>Predication are subject to sample variability.</a:t>
            </a:r>
          </a:p>
          <a:p>
            <a:r>
              <a:rPr lang="en-US" dirty="0"/>
              <a:t>We can find a confidence interval for out prediction.</a:t>
            </a:r>
          </a:p>
          <a:p>
            <a:r>
              <a:rPr lang="en-US" dirty="0"/>
              <a:t>We find an upper bound and a lower bound within which the response variable is expected to fall with a certain probability, given specific values of the predictor variables. </a:t>
            </a:r>
          </a:p>
          <a:p>
            <a:endParaRPr lang="en-US" dirty="0"/>
          </a:p>
          <a:p>
            <a:endParaRPr lang="en-US" dirty="0"/>
          </a:p>
        </p:txBody>
      </p:sp>
    </p:spTree>
    <p:extLst>
      <p:ext uri="{BB962C8B-B14F-4D97-AF65-F5344CB8AC3E}">
        <p14:creationId xmlns:p14="http://schemas.microsoft.com/office/powerpoint/2010/main" val="1564321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11</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a:xfrm>
                <a:off x="914400" y="1447800"/>
                <a:ext cx="7772400" cy="5077544"/>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𝑘</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𝜀</m:t>
                      </m:r>
                    </m:oMath>
                  </m:oMathPara>
                </a14:m>
                <a:endParaRPr lang="en-US" dirty="0"/>
              </a:p>
              <a:p>
                <a:r>
                  <a:rPr lang="en-US" dirty="0"/>
                  <a:t>For specific values </a:t>
                </a:r>
                <a14:m>
                  <m:oMath xmlns:m="http://schemas.openxmlformats.org/officeDocument/2006/math">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𝑥</m:t>
                        </m:r>
                      </m:e>
                      <m:sub>
                        <m:r>
                          <a:rPr lang="en-CA" b="0" i="1" smtClean="0">
                            <a:latin typeface="Cambria Math" panose="02040503050406030204" pitchFamily="18" charset="0"/>
                          </a:rPr>
                          <m:t>1</m:t>
                        </m:r>
                      </m:sub>
                      <m:sup>
                        <m:r>
                          <a:rPr lang="en-CA" b="0" i="1" smtClean="0">
                            <a:latin typeface="Cambria Math" panose="02040503050406030204" pitchFamily="18" charset="0"/>
                          </a:rPr>
                          <m:t>0</m:t>
                        </m:r>
                      </m:sup>
                    </m:sSubSup>
                    <m:r>
                      <a:rPr lang="en-CA" b="0" i="1" smtClean="0">
                        <a:latin typeface="Cambria Math" panose="02040503050406030204" pitchFamily="18" charset="0"/>
                      </a:rPr>
                      <m:t>,</m:t>
                    </m:r>
                    <m:sSubSup>
                      <m:sSubSupPr>
                        <m:ctrlPr>
                          <a:rPr lang="en-CA" i="1">
                            <a:latin typeface="Cambria Math" panose="02040503050406030204" pitchFamily="18" charset="0"/>
                          </a:rPr>
                        </m:ctrlPr>
                      </m:sSubSupPr>
                      <m:e>
                        <m:r>
                          <a:rPr lang="en-CA" i="1">
                            <a:latin typeface="Cambria Math" panose="02040503050406030204" pitchFamily="18" charset="0"/>
                          </a:rPr>
                          <m:t>𝑥</m:t>
                        </m:r>
                      </m:e>
                      <m:sub>
                        <m:r>
                          <a:rPr lang="en-CA" b="0" i="1" smtClean="0">
                            <a:latin typeface="Cambria Math" panose="02040503050406030204" pitchFamily="18" charset="0"/>
                          </a:rPr>
                          <m:t>2</m:t>
                        </m:r>
                      </m:sub>
                      <m:sup>
                        <m:r>
                          <a:rPr lang="en-CA" i="1">
                            <a:latin typeface="Cambria Math" panose="02040503050406030204" pitchFamily="18" charset="0"/>
                          </a:rPr>
                          <m:t>0</m:t>
                        </m:r>
                      </m:sup>
                    </m:sSubSup>
                    <m:r>
                      <a:rPr lang="en-CA" b="0" i="1" smtClean="0">
                        <a:latin typeface="Cambria Math" panose="02040503050406030204" pitchFamily="18" charset="0"/>
                      </a:rPr>
                      <m:t>,…,</m:t>
                    </m:r>
                    <m:sSubSup>
                      <m:sSubSupPr>
                        <m:ctrlPr>
                          <a:rPr lang="en-CA" i="1">
                            <a:latin typeface="Cambria Math" panose="02040503050406030204" pitchFamily="18" charset="0"/>
                          </a:rPr>
                        </m:ctrlPr>
                      </m:sSubSupPr>
                      <m:e>
                        <m:r>
                          <a:rPr lang="en-CA" i="1">
                            <a:latin typeface="Cambria Math" panose="02040503050406030204" pitchFamily="18" charset="0"/>
                          </a:rPr>
                          <m:t>𝑥</m:t>
                        </m:r>
                      </m:e>
                      <m:sub>
                        <m:r>
                          <a:rPr lang="en-CA" b="0" i="1" smtClean="0">
                            <a:latin typeface="Cambria Math" panose="02040503050406030204" pitchFamily="18" charset="0"/>
                          </a:rPr>
                          <m:t>𝑘</m:t>
                        </m:r>
                      </m:sub>
                      <m:sup>
                        <m:r>
                          <a:rPr lang="en-CA" i="1">
                            <a:latin typeface="Cambria Math" panose="02040503050406030204" pitchFamily="18" charset="0"/>
                          </a:rPr>
                          <m:t>0</m:t>
                        </m:r>
                      </m:sup>
                    </m:sSubSup>
                    <m:r>
                      <a:rPr lang="en-CA" b="0" i="1" smtClean="0">
                        <a:latin typeface="Cambria Math" panose="02040503050406030204" pitchFamily="18" charset="0"/>
                      </a:rPr>
                      <m:t>,</m:t>
                    </m:r>
                  </m:oMath>
                </a14:m>
                <a:r>
                  <a:rPr lang="en-US" dirty="0"/>
                  <a:t> the predicted value is:</a:t>
                </a:r>
              </a:p>
              <a:p>
                <a:pPr marL="0" indent="0">
                  <a:buNone/>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𝑦</m:t>
                              </m:r>
                            </m:e>
                          </m:acc>
                        </m:e>
                        <m:sup>
                          <m:r>
                            <a:rPr lang="en-CA" b="0" i="1" smtClean="0">
                              <a:latin typeface="Cambria Math" panose="02040503050406030204" pitchFamily="18" charset="0"/>
                            </a:rPr>
                            <m:t>0</m:t>
                          </m:r>
                        </m:sup>
                      </m:sSup>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1</m:t>
                          </m:r>
                        </m:sub>
                      </m:sSub>
                      <m:sSubSup>
                        <m:sSubSupPr>
                          <m:ctrlPr>
                            <a:rPr lang="en-CA" i="1">
                              <a:latin typeface="Cambria Math" panose="02040503050406030204" pitchFamily="18" charset="0"/>
                            </a:rPr>
                          </m:ctrlPr>
                        </m:sSubSupPr>
                        <m:e>
                          <m:r>
                            <a:rPr lang="en-CA" i="1">
                              <a:latin typeface="Cambria Math" panose="02040503050406030204" pitchFamily="18" charset="0"/>
                            </a:rPr>
                            <m:t>𝑥</m:t>
                          </m:r>
                        </m:e>
                        <m:sub>
                          <m:r>
                            <a:rPr lang="en-CA" i="1">
                              <a:latin typeface="Cambria Math" panose="02040503050406030204" pitchFamily="18" charset="0"/>
                            </a:rPr>
                            <m:t>1</m:t>
                          </m:r>
                        </m:sub>
                        <m:sup>
                          <m:r>
                            <a:rPr lang="en-CA" i="1">
                              <a:latin typeface="Cambria Math" panose="02040503050406030204" pitchFamily="18" charset="0"/>
                            </a:rPr>
                            <m:t>0</m:t>
                          </m:r>
                        </m:sup>
                      </m:sSubSup>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2</m:t>
                          </m:r>
                        </m:sub>
                      </m:sSub>
                      <m:sSubSup>
                        <m:sSubSupPr>
                          <m:ctrlPr>
                            <a:rPr lang="en-CA" i="1">
                              <a:latin typeface="Cambria Math" panose="02040503050406030204" pitchFamily="18" charset="0"/>
                            </a:rPr>
                          </m:ctrlPr>
                        </m:sSubSupPr>
                        <m:e>
                          <m:r>
                            <a:rPr lang="en-CA" i="1">
                              <a:latin typeface="Cambria Math" panose="02040503050406030204" pitchFamily="18" charset="0"/>
                            </a:rPr>
                            <m:t>𝑥</m:t>
                          </m:r>
                        </m:e>
                        <m:sub>
                          <m:r>
                            <a:rPr lang="en-CA" b="0" i="1" smtClean="0">
                              <a:latin typeface="Cambria Math" panose="02040503050406030204" pitchFamily="18" charset="0"/>
                            </a:rPr>
                            <m:t>2</m:t>
                          </m:r>
                        </m:sub>
                        <m:sup>
                          <m:r>
                            <a:rPr lang="en-CA" i="1">
                              <a:latin typeface="Cambria Math" panose="02040503050406030204" pitchFamily="18" charset="0"/>
                            </a:rPr>
                            <m:t>0</m:t>
                          </m:r>
                        </m:sup>
                      </m:sSubSup>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𝑘</m:t>
                          </m:r>
                        </m:sub>
                      </m:sSub>
                      <m:sSubSup>
                        <m:sSubSupPr>
                          <m:ctrlPr>
                            <a:rPr lang="en-CA" i="1">
                              <a:latin typeface="Cambria Math" panose="02040503050406030204" pitchFamily="18" charset="0"/>
                            </a:rPr>
                          </m:ctrlPr>
                        </m:sSubSupPr>
                        <m:e>
                          <m:r>
                            <a:rPr lang="en-CA" i="1">
                              <a:latin typeface="Cambria Math" panose="02040503050406030204" pitchFamily="18" charset="0"/>
                            </a:rPr>
                            <m:t>𝑥</m:t>
                          </m:r>
                        </m:e>
                        <m:sub>
                          <m:r>
                            <a:rPr lang="en-CA" b="0" i="1" smtClean="0">
                              <a:latin typeface="Cambria Math" panose="02040503050406030204" pitchFamily="18" charset="0"/>
                            </a:rPr>
                            <m:t>𝑘</m:t>
                          </m:r>
                        </m:sub>
                        <m:sup>
                          <m:r>
                            <a:rPr lang="en-CA" i="1">
                              <a:latin typeface="Cambria Math" panose="02040503050406030204" pitchFamily="18" charset="0"/>
                            </a:rPr>
                            <m:t>0</m:t>
                          </m:r>
                        </m:sup>
                      </m:sSubSup>
                    </m:oMath>
                  </m:oMathPara>
                </a14:m>
                <a:endParaRPr lang="en-US" dirty="0"/>
              </a:p>
              <a:p>
                <a:r>
                  <a:rPr lang="en-US" dirty="0"/>
                  <a:t>100(1-</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prediction interval for an individual value of y is:</a:t>
                </a:r>
              </a:p>
              <a:p>
                <a:pPr marL="0" indent="0">
                  <a:buNone/>
                </a:pPr>
                <a14:m>
                  <m:oMathPara xmlns:m="http://schemas.openxmlformats.org/officeDocument/2006/math">
                    <m:oMathParaPr>
                      <m:jc m:val="centerGroup"/>
                    </m:oMathParaPr>
                    <m:oMath xmlns:m="http://schemas.openxmlformats.org/officeDocument/2006/math">
                      <m:sSup>
                        <m:sSupPr>
                          <m:ctrlPr>
                            <a:rPr lang="en-CA" b="0" i="1" smtClean="0">
                              <a:latin typeface="Cambria Math" panose="02040503050406030204" pitchFamily="18" charset="0"/>
                            </a:rPr>
                          </m:ctrlPr>
                        </m:sSup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𝑦</m:t>
                              </m:r>
                            </m:e>
                          </m:acc>
                        </m:e>
                        <m:sup>
                          <m:r>
                            <a:rPr lang="en-CA" b="0" i="1" smtClean="0">
                              <a:latin typeface="Cambria Math" panose="02040503050406030204" pitchFamily="18" charset="0"/>
                            </a:rPr>
                            <m:t>0</m:t>
                          </m:r>
                        </m:sup>
                      </m:sSup>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𝑡</m:t>
                          </m:r>
                        </m:e>
                        <m:sub>
                          <m:r>
                            <a:rPr lang="en-CA" b="0" i="1" smtClean="0">
                              <a:latin typeface="Cambria Math" panose="02040503050406030204" pitchFamily="18" charset="0"/>
                              <a:ea typeface="Cambria Math" panose="02040503050406030204" pitchFamily="18" charset="0"/>
                            </a:rPr>
                            <m:t>𝛼</m:t>
                          </m:r>
                          <m:r>
                            <a:rPr lang="en-CA" b="0" i="1" smtClean="0">
                              <a:latin typeface="Cambria Math" panose="02040503050406030204" pitchFamily="18" charset="0"/>
                              <a:ea typeface="Cambria Math" panose="02040503050406030204" pitchFamily="18" charset="0"/>
                            </a:rPr>
                            <m:t>/2,</m:t>
                          </m:r>
                          <m:r>
                            <a:rPr lang="en-CA" b="0" i="1" smtClean="0">
                              <a:latin typeface="Cambria Math" panose="02040503050406030204" pitchFamily="18" charset="0"/>
                              <a:ea typeface="Cambria Math" panose="02040503050406030204" pitchFamily="18" charset="0"/>
                            </a:rPr>
                            <m:t>𝑑𝑓</m:t>
                          </m:r>
                        </m:sub>
                      </m:sSub>
                      <m:r>
                        <a:rPr lang="en-CA" b="0" i="1" smtClean="0">
                          <a:latin typeface="Cambria Math" panose="02040503050406030204" pitchFamily="18" charset="0"/>
                          <a:ea typeface="Cambria Math" panose="02040503050406030204" pitchFamily="18" charset="0"/>
                        </a:rPr>
                        <m:t>.</m:t>
                      </m:r>
                      <m:rad>
                        <m:radPr>
                          <m:degHide m:val="on"/>
                          <m:ctrlPr>
                            <a:rPr lang="en-CA" b="0" i="1" smtClean="0">
                              <a:latin typeface="Cambria Math" panose="02040503050406030204" pitchFamily="18" charset="0"/>
                              <a:ea typeface="Cambria Math" panose="02040503050406030204" pitchFamily="18" charset="0"/>
                            </a:rPr>
                          </m:ctrlPr>
                        </m:radPr>
                        <m:deg/>
                        <m:e>
                          <m:sSup>
                            <m:sSupPr>
                              <m:ctrlPr>
                                <a:rPr lang="en-CA" b="0" i="1" smtClean="0">
                                  <a:latin typeface="Cambria Math" panose="02040503050406030204" pitchFamily="18" charset="0"/>
                                  <a:ea typeface="Cambria Math" panose="02040503050406030204" pitchFamily="18" charset="0"/>
                                </a:rPr>
                              </m:ctrlPr>
                            </m:sSupPr>
                            <m:e>
                              <m:r>
                                <a:rPr lang="en-CA" b="0" i="1" smtClean="0">
                                  <a:latin typeface="Cambria Math" panose="02040503050406030204" pitchFamily="18" charset="0"/>
                                  <a:ea typeface="Cambria Math" panose="02040503050406030204" pitchFamily="18" charset="0"/>
                                </a:rPr>
                                <m:t>𝑠</m:t>
                              </m:r>
                            </m:e>
                            <m:sup>
                              <m:r>
                                <a:rPr lang="en-CA" b="0" i="1" smtClean="0">
                                  <a:latin typeface="Cambria Math" panose="02040503050406030204" pitchFamily="18" charset="0"/>
                                  <a:ea typeface="Cambria Math" panose="02040503050406030204" pitchFamily="18" charset="0"/>
                                </a:rPr>
                                <m:t>2</m:t>
                              </m:r>
                            </m:sup>
                          </m:sSup>
                          <m:r>
                            <a:rPr lang="en-CA" b="0" i="1" smtClean="0">
                              <a:latin typeface="Cambria Math" panose="02040503050406030204" pitchFamily="18" charset="0"/>
                              <a:ea typeface="Cambria Math" panose="02040503050406030204" pitchFamily="18" charset="0"/>
                            </a:rPr>
                            <m:t>+</m:t>
                          </m:r>
                          <m:sSup>
                            <m:sSupPr>
                              <m:ctrlPr>
                                <a:rPr lang="en-CA" b="0" i="1" smtClean="0">
                                  <a:latin typeface="Cambria Math" panose="02040503050406030204" pitchFamily="18" charset="0"/>
                                  <a:ea typeface="Cambria Math" panose="02040503050406030204" pitchFamily="18" charset="0"/>
                                </a:rPr>
                              </m:ctrlPr>
                            </m:sSupPr>
                            <m:e>
                              <m:r>
                                <m:rPr>
                                  <m:nor/>
                                </m:rPr>
                                <a:rPr lang="en-CA">
                                  <a:latin typeface="Cambria Math" panose="02040503050406030204" pitchFamily="18" charset="0"/>
                                  <a:ea typeface="Cambria Math" panose="02040503050406030204" pitchFamily="18" charset="0"/>
                                </a:rPr>
                                <m:t>std</m:t>
                              </m:r>
                              <m:r>
                                <a:rPr lang="en-CA" i="1">
                                  <a:latin typeface="Cambria Math" panose="02040503050406030204" pitchFamily="18" charset="0"/>
                                  <a:ea typeface="Cambria Math" panose="02040503050406030204" pitchFamily="18" charset="0"/>
                                </a:rPr>
                                <m:t>(</m:t>
                              </m:r>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r>
                                    <a:rPr lang="en-CA" i="1">
                                      <a:latin typeface="Cambria Math" panose="02040503050406030204" pitchFamily="18" charset="0"/>
                                    </a:rPr>
                                    <m:t>0</m:t>
                                  </m:r>
                                </m:sup>
                              </m:sSup>
                              <m:r>
                                <a:rPr lang="en-CA" i="1">
                                  <a:latin typeface="Cambria Math" panose="02040503050406030204" pitchFamily="18" charset="0"/>
                                </a:rPr>
                                <m:t>)</m:t>
                              </m:r>
                            </m:e>
                            <m:sup>
                              <m:r>
                                <a:rPr lang="en-CA" b="0" i="1" smtClean="0">
                                  <a:latin typeface="Cambria Math" panose="02040503050406030204" pitchFamily="18" charset="0"/>
                                  <a:ea typeface="Cambria Math" panose="02040503050406030204" pitchFamily="18" charset="0"/>
                                </a:rPr>
                                <m:t>2</m:t>
                              </m:r>
                            </m:sup>
                          </m:sSup>
                        </m:e>
                      </m:rad>
                    </m:oMath>
                  </m:oMathPara>
                </a14:m>
                <a:endParaRPr lang="en-US" dirty="0"/>
              </a:p>
              <a:p>
                <a14:m>
                  <m:oMath xmlns:m="http://schemas.openxmlformats.org/officeDocument/2006/math">
                    <m:r>
                      <a:rPr lang="en-CA" b="0" i="1" smtClean="0">
                        <a:latin typeface="Cambria Math" panose="02040503050406030204" pitchFamily="18" charset="0"/>
                      </a:rPr>
                      <m:t>𝑑𝑓</m:t>
                    </m:r>
                    <m:r>
                      <a:rPr lang="en-CA" b="0" i="1" smtClean="0">
                        <a:latin typeface="Cambria Math" panose="02040503050406030204" pitchFamily="18" charset="0"/>
                      </a:rPr>
                      <m:t>=</m:t>
                    </m:r>
                    <m:r>
                      <a:rPr lang="en-CA" b="0" i="1" smtClean="0">
                        <a:latin typeface="Cambria Math" panose="02040503050406030204" pitchFamily="18" charset="0"/>
                      </a:rPr>
                      <m:t>𝑛</m:t>
                    </m:r>
                    <m:r>
                      <a:rPr lang="en-CA" b="0" i="1" smtClean="0">
                        <a:latin typeface="Cambria Math" panose="02040503050406030204" pitchFamily="18" charset="0"/>
                      </a:rPr>
                      <m:t>−</m:t>
                    </m:r>
                    <m:r>
                      <a:rPr lang="en-CA" b="0" i="1" smtClean="0">
                        <a:latin typeface="Cambria Math" panose="02040503050406030204" pitchFamily="18" charset="0"/>
                      </a:rPr>
                      <m:t>𝑘</m:t>
                    </m:r>
                    <m:r>
                      <a:rPr lang="en-CA" b="0" i="1" smtClean="0">
                        <a:latin typeface="Cambria Math" panose="02040503050406030204" pitchFamily="18" charset="0"/>
                      </a:rPr>
                      <m:t>−1</m:t>
                    </m:r>
                  </m:oMath>
                </a14:m>
                <a:endParaRPr lang="en-US" dirty="0"/>
              </a:p>
              <a:p>
                <a14:m>
                  <m:oMath xmlns:m="http://schemas.openxmlformats.org/officeDocument/2006/math">
                    <m:r>
                      <a:rPr lang="en-CA" b="0" i="1" smtClean="0">
                        <a:latin typeface="Cambria Math" panose="02040503050406030204" pitchFamily="18" charset="0"/>
                        <a:ea typeface="Cambria Math" panose="02040503050406030204" pitchFamily="18" charset="0"/>
                      </a:rPr>
                      <m:t>𝑠</m:t>
                    </m:r>
                  </m:oMath>
                </a14:m>
                <a:r>
                  <a:rPr lang="en-US" dirty="0"/>
                  <a:t>: standard error of residuals. </a:t>
                </a:r>
              </a:p>
              <a:p>
                <a14:m>
                  <m:oMath xmlns:m="http://schemas.openxmlformats.org/officeDocument/2006/math">
                    <m:r>
                      <m:rPr>
                        <m:nor/>
                      </m:rPr>
                      <a:rPr lang="en-CA" b="0" i="0" smtClean="0">
                        <a:latin typeface="Cambria Math" panose="02040503050406030204" pitchFamily="18" charset="0"/>
                        <a:ea typeface="Cambria Math" panose="02040503050406030204" pitchFamily="18" charset="0"/>
                      </a:rPr>
                      <m:t>std</m:t>
                    </m:r>
                    <m:r>
                      <a:rPr lang="en-CA" b="0" i="1" smtClean="0">
                        <a:latin typeface="Cambria Math" panose="02040503050406030204" pitchFamily="18" charset="0"/>
                        <a:ea typeface="Cambria Math" panose="02040503050406030204" pitchFamily="18" charset="0"/>
                      </a:rPr>
                      <m:t>(</m:t>
                    </m:r>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r>
                          <a:rPr lang="en-CA" i="1">
                            <a:latin typeface="Cambria Math" panose="02040503050406030204" pitchFamily="18" charset="0"/>
                          </a:rPr>
                          <m:t>0</m:t>
                        </m:r>
                      </m:sup>
                    </m:sSup>
                    <m:r>
                      <a:rPr lang="en-CA" b="0" i="1" smtClean="0">
                        <a:latin typeface="Cambria Math" panose="02040503050406030204" pitchFamily="18" charset="0"/>
                      </a:rPr>
                      <m:t>)</m:t>
                    </m:r>
                  </m:oMath>
                </a14:m>
                <a:r>
                  <a:rPr lang="en-US" dirty="0"/>
                  <a:t>: standard deviation of the predicted mean.</a:t>
                </a:r>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xfrm>
                <a:off x="914400" y="1447800"/>
                <a:ext cx="7772400" cy="5077544"/>
              </a:xfrm>
              <a:blipFill>
                <a:blip r:embed="rId2"/>
                <a:stretch>
                  <a:fillRect l="-817"/>
                </a:stretch>
              </a:blipFill>
            </p:spPr>
            <p:txBody>
              <a:bodyPr/>
              <a:lstStyle/>
              <a:p>
                <a:r>
                  <a:rPr lang="en-US">
                    <a:noFill/>
                  </a:rPr>
                  <a:t> </a:t>
                </a:r>
              </a:p>
            </p:txBody>
          </p:sp>
        </mc:Fallback>
      </mc:AlternateContent>
    </p:spTree>
    <p:extLst>
      <p:ext uri="{BB962C8B-B14F-4D97-AF65-F5344CB8AC3E}">
        <p14:creationId xmlns:p14="http://schemas.microsoft.com/office/powerpoint/2010/main" val="1504878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8118-2861-5438-30B2-CE40049A5857}"/>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9C5B6D13-50CC-FEFE-A67B-3CE6D9A43ECA}"/>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4" name="Content Placeholder 3">
            <a:extLst>
              <a:ext uri="{FF2B5EF4-FFF2-40B4-BE49-F238E27FC236}">
                <a16:creationId xmlns:a16="http://schemas.microsoft.com/office/drawing/2014/main" id="{5705DD6F-DE26-F2A4-6896-10BE7A7FA5C4}"/>
              </a:ext>
            </a:extLst>
          </p:cNvPr>
          <p:cNvSpPr>
            <a:spLocks noGrp="1"/>
          </p:cNvSpPr>
          <p:nvPr>
            <p:ph sz="quarter" idx="1"/>
          </p:nvPr>
        </p:nvSpPr>
        <p:spPr>
          <a:xfrm>
            <a:off x="914400" y="1447800"/>
            <a:ext cx="7772400" cy="4861520"/>
          </a:xfrm>
        </p:spPr>
        <p:txBody>
          <a:bodyPr>
            <a:normAutofit/>
          </a:bodyPr>
          <a:lstStyle/>
          <a:p>
            <a:pPr marL="0" indent="0">
              <a:buNone/>
            </a:pPr>
            <a:r>
              <a:rPr lang="en-US" b="1" dirty="0"/>
              <a:t>Example 4.3:</a:t>
            </a:r>
          </a:p>
          <a:p>
            <a:pPr marL="0" indent="0">
              <a:buNone/>
            </a:pPr>
            <a:endParaRPr lang="en-US" b="1" dirty="0"/>
          </a:p>
          <a:p>
            <a:pPr marL="0" indent="0">
              <a:buNone/>
            </a:pPr>
            <a:r>
              <a:rPr lang="en-US" dirty="0"/>
              <a:t>In Example 4.1, Construct the 95% confidence interval for the predicted Earnings if Cost equals $25,000, Grad equals 60, Debt equals 80, and City equals 1.</a:t>
            </a:r>
          </a:p>
          <a:p>
            <a:pPr marL="0" indent="0">
              <a:buNone/>
            </a:pPr>
            <a:endParaRPr lang="en-US" b="1"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9BECA5-6076-D02A-5CBD-3274D636F24E}"/>
                  </a:ext>
                </a:extLst>
              </p:cNvPr>
              <p:cNvSpPr txBox="1"/>
              <p:nvPr/>
            </p:nvSpPr>
            <p:spPr>
              <a:xfrm>
                <a:off x="853003" y="2060848"/>
                <a:ext cx="7330970"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CA" sz="1800" b="0" i="1" smtClean="0">
                          <a:latin typeface="Cambria Math" panose="02040503050406030204" pitchFamily="18" charset="0"/>
                        </a:rPr>
                        <m:t>𝐸𝑎𝑟𝑛𝑖𝑛𝑔𝑠</m:t>
                      </m:r>
                      <m:r>
                        <a:rPr lang="en-CA" sz="1800" b="0" i="1" smtClean="0">
                          <a:latin typeface="Cambria Math" panose="02040503050406030204" pitchFamily="18" charset="0"/>
                        </a:rPr>
                        <m:t>=</m:t>
                      </m:r>
                      <m:sSub>
                        <m:sSubPr>
                          <m:ctrlPr>
                            <a:rPr lang="en-CA"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𝛽</m:t>
                          </m:r>
                        </m:e>
                        <m:sub>
                          <m:r>
                            <a:rPr lang="en-CA" sz="1800" i="1">
                              <a:latin typeface="Cambria Math" panose="02040503050406030204" pitchFamily="18" charset="0"/>
                            </a:rPr>
                            <m:t>0</m:t>
                          </m:r>
                        </m:sub>
                      </m:sSub>
                      <m:r>
                        <a:rPr lang="en-CA" sz="1800" b="0" i="1" smtClean="0">
                          <a:latin typeface="Cambria Math" panose="02040503050406030204" pitchFamily="18" charset="0"/>
                        </a:rPr>
                        <m:t>+</m:t>
                      </m:r>
                      <m:sSub>
                        <m:sSubPr>
                          <m:ctrlPr>
                            <a:rPr lang="en-CA"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𝛽</m:t>
                          </m:r>
                        </m:e>
                        <m:sub>
                          <m:r>
                            <a:rPr lang="en-CA" sz="1800" b="0" i="1" smtClean="0">
                              <a:latin typeface="Cambria Math" panose="02040503050406030204" pitchFamily="18" charset="0"/>
                            </a:rPr>
                            <m:t>1</m:t>
                          </m:r>
                        </m:sub>
                      </m:sSub>
                      <m:r>
                        <a:rPr lang="en-CA" sz="1800" b="0" i="1" smtClean="0">
                          <a:latin typeface="Cambria Math" panose="02040503050406030204" pitchFamily="18" charset="0"/>
                        </a:rPr>
                        <m:t>𝐶𝑜𝑠𝑡</m:t>
                      </m:r>
                      <m:r>
                        <a:rPr lang="en-CA" sz="1800" b="0" i="1" smtClean="0">
                          <a:latin typeface="Cambria Math" panose="02040503050406030204" pitchFamily="18" charset="0"/>
                        </a:rPr>
                        <m:t>+</m:t>
                      </m:r>
                      <m:sSub>
                        <m:sSubPr>
                          <m:ctrlPr>
                            <a:rPr lang="en-CA"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𝛽</m:t>
                          </m:r>
                        </m:e>
                        <m:sub>
                          <m:r>
                            <a:rPr lang="en-CA" sz="1800" b="0" i="1" smtClean="0">
                              <a:latin typeface="Cambria Math" panose="02040503050406030204" pitchFamily="18" charset="0"/>
                              <a:ea typeface="Cambria Math" panose="02040503050406030204" pitchFamily="18" charset="0"/>
                            </a:rPr>
                            <m:t>2</m:t>
                          </m:r>
                        </m:sub>
                      </m:sSub>
                      <m:r>
                        <a:rPr lang="en-CA" sz="1800" b="0" i="1" smtClean="0">
                          <a:latin typeface="Cambria Math" panose="02040503050406030204" pitchFamily="18" charset="0"/>
                        </a:rPr>
                        <m:t> </m:t>
                      </m:r>
                      <m:r>
                        <a:rPr lang="en-CA" sz="1800" b="0" i="1" smtClean="0">
                          <a:latin typeface="Cambria Math" panose="02040503050406030204" pitchFamily="18" charset="0"/>
                        </a:rPr>
                        <m:t>𝐺𝑟𝑎𝑑</m:t>
                      </m:r>
                      <m:r>
                        <a:rPr lang="en-CA" sz="1800" b="0" i="1" smtClean="0">
                          <a:latin typeface="Cambria Math" panose="02040503050406030204" pitchFamily="18" charset="0"/>
                        </a:rPr>
                        <m:t>+</m:t>
                      </m:r>
                      <m:sSub>
                        <m:sSubPr>
                          <m:ctrlPr>
                            <a:rPr lang="en-CA"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𝛽</m:t>
                          </m:r>
                        </m:e>
                        <m:sub>
                          <m:r>
                            <a:rPr lang="en-CA" sz="1800" b="0" i="1" smtClean="0">
                              <a:latin typeface="Cambria Math" panose="02040503050406030204" pitchFamily="18" charset="0"/>
                              <a:ea typeface="Cambria Math" panose="02040503050406030204" pitchFamily="18" charset="0"/>
                            </a:rPr>
                            <m:t>3</m:t>
                          </m:r>
                        </m:sub>
                      </m:sSub>
                      <m:r>
                        <a:rPr lang="en-CA" sz="1800" b="0" i="1" smtClean="0">
                          <a:latin typeface="Cambria Math" panose="02040503050406030204" pitchFamily="18" charset="0"/>
                        </a:rPr>
                        <m:t> </m:t>
                      </m:r>
                      <m:r>
                        <a:rPr lang="en-CA" sz="1800" b="0" i="1" smtClean="0">
                          <a:latin typeface="Cambria Math" panose="02040503050406030204" pitchFamily="18" charset="0"/>
                        </a:rPr>
                        <m:t>𝐷𝑒𝑏𝑡</m:t>
                      </m:r>
                      <m:r>
                        <a:rPr lang="en-CA" sz="1800" b="0" i="1" smtClean="0">
                          <a:latin typeface="Cambria Math" panose="02040503050406030204" pitchFamily="18" charset="0"/>
                        </a:rPr>
                        <m:t>+</m:t>
                      </m:r>
                      <m:sSub>
                        <m:sSubPr>
                          <m:ctrlPr>
                            <a:rPr lang="en-CA"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𝛽</m:t>
                          </m:r>
                        </m:e>
                        <m:sub>
                          <m:r>
                            <a:rPr lang="en-CA" sz="1800" b="0" i="1" smtClean="0">
                              <a:latin typeface="Cambria Math" panose="02040503050406030204" pitchFamily="18" charset="0"/>
                            </a:rPr>
                            <m:t>4</m:t>
                          </m:r>
                        </m:sub>
                      </m:sSub>
                      <m:r>
                        <a:rPr lang="en-CA" sz="1800" b="0" i="1" smtClean="0">
                          <a:latin typeface="Cambria Math" panose="02040503050406030204" pitchFamily="18" charset="0"/>
                        </a:rPr>
                        <m:t>𝐿𝑜𝑐𝑎𝑡𝑖𝑜𝑛</m:t>
                      </m:r>
                      <m:r>
                        <a:rPr lang="en-CA" sz="1800" b="0" i="1" smtClean="0">
                          <a:latin typeface="Cambria Math" panose="02040503050406030204" pitchFamily="18" charset="0"/>
                        </a:rPr>
                        <m:t>+ </m:t>
                      </m:r>
                      <m:r>
                        <a:rPr lang="en-CA" sz="1800" b="0" i="1" smtClean="0">
                          <a:latin typeface="Cambria Math" panose="02040503050406030204" pitchFamily="18" charset="0"/>
                          <a:ea typeface="Cambria Math" panose="02040503050406030204" pitchFamily="18" charset="0"/>
                        </a:rPr>
                        <m:t>𝜀</m:t>
                      </m:r>
                    </m:oMath>
                  </m:oMathPara>
                </a14:m>
                <a:endParaRPr lang="en-US" sz="1800" dirty="0"/>
              </a:p>
            </p:txBody>
          </p:sp>
        </mc:Choice>
        <mc:Fallback xmlns="">
          <p:sp>
            <p:nvSpPr>
              <p:cNvPr id="7" name="TextBox 6">
                <a:extLst>
                  <a:ext uri="{FF2B5EF4-FFF2-40B4-BE49-F238E27FC236}">
                    <a16:creationId xmlns:a16="http://schemas.microsoft.com/office/drawing/2014/main" id="{7B9BECA5-6076-D02A-5CBD-3274D636F24E}"/>
                  </a:ext>
                </a:extLst>
              </p:cNvPr>
              <p:cNvSpPr txBox="1">
                <a:spLocks noRot="1" noChangeAspect="1" noMove="1" noResize="1" noEditPoints="1" noAdjustHandles="1" noChangeArrowheads="1" noChangeShapeType="1" noTextEdit="1"/>
              </p:cNvSpPr>
              <p:nvPr/>
            </p:nvSpPr>
            <p:spPr>
              <a:xfrm>
                <a:off x="853003" y="2060848"/>
                <a:ext cx="7330970" cy="369332"/>
              </a:xfrm>
              <a:prstGeom prst="rect">
                <a:avLst/>
              </a:prstGeom>
              <a:blipFill>
                <a:blip r:embed="rId2"/>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1171717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8118-2861-5438-30B2-CE40049A5857}"/>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9C5B6D13-50CC-FEFE-A67B-3CE6D9A43ECA}"/>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4" name="Content Placeholder 3">
            <a:extLst>
              <a:ext uri="{FF2B5EF4-FFF2-40B4-BE49-F238E27FC236}">
                <a16:creationId xmlns:a16="http://schemas.microsoft.com/office/drawing/2014/main" id="{5705DD6F-DE26-F2A4-6896-10BE7A7FA5C4}"/>
              </a:ext>
            </a:extLst>
          </p:cNvPr>
          <p:cNvSpPr>
            <a:spLocks noGrp="1"/>
          </p:cNvSpPr>
          <p:nvPr>
            <p:ph sz="quarter" idx="1"/>
          </p:nvPr>
        </p:nvSpPr>
        <p:spPr>
          <a:xfrm>
            <a:off x="914400" y="1447800"/>
            <a:ext cx="7772400" cy="4861520"/>
          </a:xfrm>
        </p:spPr>
        <p:txBody>
          <a:bodyPr>
            <a:normAutofit/>
          </a:bodyPr>
          <a:lstStyle/>
          <a:p>
            <a:pPr marL="0" indent="0">
              <a:buNone/>
            </a:pPr>
            <a:r>
              <a:rPr lang="en-US" b="1" dirty="0"/>
              <a:t>Example 4.4:</a:t>
            </a:r>
          </a:p>
          <a:p>
            <a:pPr marL="0" indent="0">
              <a:buNone/>
            </a:pPr>
            <a:endParaRPr lang="en-US" b="1" dirty="0"/>
          </a:p>
          <a:p>
            <a:pPr marL="0" indent="0">
              <a:buNone/>
            </a:pPr>
            <a:r>
              <a:rPr lang="en-US" dirty="0"/>
              <a:t>In Example 4.2, Construct the 95% confidence interval for the predicted price if the car is five years old and its mileage is 65,000.</a:t>
            </a:r>
            <a:endParaRPr lang="en-US" b="1" dirty="0"/>
          </a:p>
        </p:txBody>
      </p:sp>
    </p:spTree>
    <p:extLst>
      <p:ext uri="{BB962C8B-B14F-4D97-AF65-F5344CB8AC3E}">
        <p14:creationId xmlns:p14="http://schemas.microsoft.com/office/powerpoint/2010/main" val="503697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lnSpcReduction="10000"/>
          </a:bodyPr>
          <a:lstStyle/>
          <a:p>
            <a:r>
              <a:rPr lang="en-US" dirty="0"/>
              <a:t>A categorical variable may be defined by more than two categories.</a:t>
            </a:r>
          </a:p>
          <a:p>
            <a:r>
              <a:rPr lang="en-US" dirty="0"/>
              <a:t>E.g.: The mode of transportation used to commute to work can be described as: Public transportation, driving alone, and carpooling. </a:t>
            </a:r>
          </a:p>
          <a:p>
            <a:r>
              <a:rPr lang="en-US" dirty="0"/>
              <a:t>We use dummy variables to capture all categories.</a:t>
            </a:r>
          </a:p>
          <a:p>
            <a:r>
              <a:rPr lang="en-US" dirty="0"/>
              <a:t>We exclude one of the dummy variables from the regression (number of dummy variables = number of categories – 1).</a:t>
            </a:r>
          </a:p>
          <a:p>
            <a:r>
              <a:rPr lang="en-US" dirty="0"/>
              <a:t>The excluded variable represents the reference category.</a:t>
            </a:r>
          </a:p>
          <a:p>
            <a:endParaRPr lang="en-US" dirty="0"/>
          </a:p>
          <a:p>
            <a:endParaRPr lang="en-US" dirty="0"/>
          </a:p>
        </p:txBody>
      </p:sp>
    </p:spTree>
    <p:extLst>
      <p:ext uri="{BB962C8B-B14F-4D97-AF65-F5344CB8AC3E}">
        <p14:creationId xmlns:p14="http://schemas.microsoft.com/office/powerpoint/2010/main" val="3686596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lnSpcReduction="10000"/>
          </a:bodyPr>
          <a:lstStyle/>
          <a:p>
            <a:r>
              <a:rPr lang="en-US" dirty="0"/>
              <a:t>A categorical variable may be defined by more than two categories.</a:t>
            </a:r>
          </a:p>
          <a:p>
            <a:r>
              <a:rPr lang="en-US" dirty="0"/>
              <a:t>E.g.: Mode of transportation used to commute to work can be described by: Public transportation, driving alone, and carpooling. </a:t>
            </a:r>
          </a:p>
          <a:p>
            <a:r>
              <a:rPr lang="en-US" dirty="0"/>
              <a:t>We use dummy variables to capture all categories.</a:t>
            </a:r>
          </a:p>
          <a:p>
            <a:r>
              <a:rPr lang="en-US" dirty="0"/>
              <a:t>We exclude one of the dummy variables from the regression (number of dummy variables = number of categories – 1).</a:t>
            </a:r>
          </a:p>
          <a:p>
            <a:r>
              <a:rPr lang="en-US" dirty="0"/>
              <a:t>The excluded variable represents the reference category.</a:t>
            </a:r>
          </a:p>
          <a:p>
            <a:endParaRPr lang="en-US" dirty="0"/>
          </a:p>
          <a:p>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97F198-2D1B-D973-DD08-7BEF90CBBA63}"/>
                  </a:ext>
                </a:extLst>
              </p:cNvPr>
              <p:cNvSpPr txBox="1"/>
              <p:nvPr/>
            </p:nvSpPr>
            <p:spPr>
              <a:xfrm>
                <a:off x="457200" y="1988840"/>
                <a:ext cx="7947488" cy="4524315"/>
              </a:xfrm>
              <a:prstGeom prst="rect">
                <a:avLst/>
              </a:prstGeom>
              <a:solidFill>
                <a:srgbClr val="FFFF00"/>
              </a:solidFill>
            </p:spPr>
            <p:txBody>
              <a:bodyPr wrap="square" rtlCol="0">
                <a:spAutoFit/>
              </a:bodyPr>
              <a:lstStyle/>
              <a:p>
                <a:r>
                  <a:rPr lang="en-US" sz="3200" dirty="0">
                    <a:solidFill>
                      <a:schemeClr val="tx1"/>
                    </a:solidFill>
                  </a:rPr>
                  <a:t>Example: mode of transportation with three categories:</a:t>
                </a:r>
              </a:p>
              <a:p>
                <a:pPr marL="285750" indent="-285750">
                  <a:buFont typeface="Arial" panose="020B0604020202020204" pitchFamily="34" charset="0"/>
                  <a:buChar char="•"/>
                </a:pPr>
                <a:r>
                  <a:rPr lang="en-US" sz="3200" dirty="0">
                    <a:solidFill>
                      <a:schemeClr val="tx1"/>
                    </a:solidFill>
                  </a:rPr>
                  <a:t>Public transportation, driving alone, or carpooling.</a:t>
                </a:r>
              </a:p>
              <a:p>
                <a:pPr marL="285750" indent="-285750">
                  <a:buFont typeface="Arial" panose="020B0604020202020204" pitchFamily="34" charset="0"/>
                  <a:buChar char="•"/>
                </a:pPr>
                <a14:m>
                  <m:oMath xmlns:m="http://schemas.openxmlformats.org/officeDocument/2006/math">
                    <m:sSub>
                      <m:sSubPr>
                        <m:ctrlPr>
                          <a:rPr lang="en-US" sz="3200" i="1" smtClean="0">
                            <a:solidFill>
                              <a:schemeClr val="tx1"/>
                            </a:solidFill>
                            <a:latin typeface="Cambria Math" panose="02040503050406030204" pitchFamily="18" charset="0"/>
                          </a:rPr>
                        </m:ctrlPr>
                      </m:sSubPr>
                      <m:e>
                        <m:r>
                          <a:rPr lang="en-CA" sz="3200" b="0" i="1" smtClean="0">
                            <a:solidFill>
                              <a:schemeClr val="tx1"/>
                            </a:solidFill>
                            <a:latin typeface="Cambria Math" panose="02040503050406030204" pitchFamily="18" charset="0"/>
                          </a:rPr>
                          <m:t>𝑑</m:t>
                        </m:r>
                      </m:e>
                      <m:sub>
                        <m:r>
                          <a:rPr lang="en-CA" sz="3200" b="0" i="1" smtClean="0">
                            <a:solidFill>
                              <a:schemeClr val="tx1"/>
                            </a:solidFill>
                            <a:latin typeface="Cambria Math" panose="02040503050406030204" pitchFamily="18" charset="0"/>
                          </a:rPr>
                          <m:t>1</m:t>
                        </m:r>
                      </m:sub>
                    </m:sSub>
                    <m:r>
                      <a:rPr lang="en-CA" sz="3200" b="0" i="1" smtClean="0">
                        <a:solidFill>
                          <a:schemeClr val="tx1"/>
                        </a:solidFill>
                        <a:latin typeface="Cambria Math" panose="02040503050406030204" pitchFamily="18" charset="0"/>
                      </a:rPr>
                      <m:t>=1</m:t>
                    </m:r>
                  </m:oMath>
                </a14:m>
                <a:r>
                  <a:rPr lang="en-US" sz="3200" dirty="0">
                    <a:solidFill>
                      <a:schemeClr val="tx1"/>
                    </a:solidFill>
                  </a:rPr>
                  <a:t> for public transportation and 0 otherwise.</a:t>
                </a:r>
              </a:p>
              <a:p>
                <a:pPr marL="285750" indent="-285750">
                  <a:buFont typeface="Arial" panose="020B0604020202020204" pitchFamily="34" charset="0"/>
                  <a:buChar char="•"/>
                </a:pPr>
                <a14:m>
                  <m:oMath xmlns:m="http://schemas.openxmlformats.org/officeDocument/2006/math">
                    <m:sSub>
                      <m:sSubPr>
                        <m:ctrlPr>
                          <a:rPr lang="en-US" sz="3200" i="1" smtClean="0">
                            <a:solidFill>
                              <a:schemeClr val="tx1"/>
                            </a:solidFill>
                            <a:latin typeface="Cambria Math" panose="02040503050406030204" pitchFamily="18" charset="0"/>
                          </a:rPr>
                        </m:ctrlPr>
                      </m:sSubPr>
                      <m:e>
                        <m:r>
                          <a:rPr lang="en-CA" sz="3200" b="0" i="1" smtClean="0">
                            <a:solidFill>
                              <a:schemeClr val="tx1"/>
                            </a:solidFill>
                            <a:latin typeface="Cambria Math" panose="02040503050406030204" pitchFamily="18" charset="0"/>
                          </a:rPr>
                          <m:t>𝑑</m:t>
                        </m:r>
                      </m:e>
                      <m:sub>
                        <m:r>
                          <a:rPr lang="en-CA" sz="3200" b="0" i="1" smtClean="0">
                            <a:solidFill>
                              <a:schemeClr val="tx1"/>
                            </a:solidFill>
                            <a:latin typeface="Cambria Math" panose="02040503050406030204" pitchFamily="18" charset="0"/>
                          </a:rPr>
                          <m:t>2</m:t>
                        </m:r>
                      </m:sub>
                    </m:sSub>
                    <m:r>
                      <a:rPr lang="en-CA" sz="3200" b="0" i="1" smtClean="0">
                        <a:solidFill>
                          <a:schemeClr val="tx1"/>
                        </a:solidFill>
                        <a:latin typeface="Cambria Math" panose="02040503050406030204" pitchFamily="18" charset="0"/>
                      </a:rPr>
                      <m:t>=1</m:t>
                    </m:r>
                  </m:oMath>
                </a14:m>
                <a:r>
                  <a:rPr lang="en-US" sz="3200" dirty="0">
                    <a:solidFill>
                      <a:schemeClr val="tx1"/>
                    </a:solidFill>
                  </a:rPr>
                  <a:t> for driving alone and 0 otherwise.</a:t>
                </a:r>
              </a:p>
              <a:p>
                <a:pPr marL="285750" indent="-285750">
                  <a:buFont typeface="Arial" panose="020B0604020202020204" pitchFamily="34" charset="0"/>
                  <a:buChar char="•"/>
                </a:pPr>
                <a14:m>
                  <m:oMath xmlns:m="http://schemas.openxmlformats.org/officeDocument/2006/math">
                    <m:sSub>
                      <m:sSubPr>
                        <m:ctrlPr>
                          <a:rPr lang="en-US" sz="3200" i="1" smtClean="0">
                            <a:solidFill>
                              <a:schemeClr val="tx1"/>
                            </a:solidFill>
                            <a:latin typeface="Cambria Math" panose="02040503050406030204" pitchFamily="18" charset="0"/>
                          </a:rPr>
                        </m:ctrlPr>
                      </m:sSubPr>
                      <m:e>
                        <m:r>
                          <a:rPr lang="en-CA" sz="3200" b="0" i="1" smtClean="0">
                            <a:solidFill>
                              <a:schemeClr val="tx1"/>
                            </a:solidFill>
                            <a:latin typeface="Cambria Math" panose="02040503050406030204" pitchFamily="18" charset="0"/>
                          </a:rPr>
                          <m:t>𝑑</m:t>
                        </m:r>
                      </m:e>
                      <m:sub>
                        <m:r>
                          <a:rPr lang="en-CA" sz="3200" b="0" i="1" smtClean="0">
                            <a:solidFill>
                              <a:schemeClr val="tx1"/>
                            </a:solidFill>
                            <a:latin typeface="Cambria Math" panose="02040503050406030204" pitchFamily="18" charset="0"/>
                          </a:rPr>
                          <m:t>1</m:t>
                        </m:r>
                      </m:sub>
                    </m:sSub>
                    <m:r>
                      <a:rPr lang="en-CA" sz="3200" b="0" i="1" smtClean="0">
                        <a:solidFill>
                          <a:schemeClr val="tx1"/>
                        </a:solidFill>
                        <a:latin typeface="Cambria Math" panose="02040503050406030204" pitchFamily="18" charset="0"/>
                      </a:rPr>
                      <m:t>=</m:t>
                    </m:r>
                    <m:sSub>
                      <m:sSubPr>
                        <m:ctrlPr>
                          <a:rPr lang="en-US" sz="3200" i="1">
                            <a:latin typeface="Cambria Math" panose="02040503050406030204" pitchFamily="18" charset="0"/>
                          </a:rPr>
                        </m:ctrlPr>
                      </m:sSubPr>
                      <m:e>
                        <m:r>
                          <a:rPr lang="en-CA" sz="3200" i="1">
                            <a:latin typeface="Cambria Math" panose="02040503050406030204" pitchFamily="18" charset="0"/>
                          </a:rPr>
                          <m:t>𝑑</m:t>
                        </m:r>
                      </m:e>
                      <m:sub>
                        <m:r>
                          <a:rPr lang="en-CA" sz="3200" b="0" i="1" smtClean="0">
                            <a:latin typeface="Cambria Math" panose="02040503050406030204" pitchFamily="18" charset="0"/>
                          </a:rPr>
                          <m:t>2</m:t>
                        </m:r>
                      </m:sub>
                    </m:sSub>
                    <m:r>
                      <a:rPr lang="en-CA" sz="3200" b="0" i="1" smtClean="0">
                        <a:solidFill>
                          <a:schemeClr val="tx1"/>
                        </a:solidFill>
                        <a:latin typeface="Cambria Math" panose="02040503050406030204" pitchFamily="18" charset="0"/>
                      </a:rPr>
                      <m:t>=0</m:t>
                    </m:r>
                  </m:oMath>
                </a14:m>
                <a:r>
                  <a:rPr lang="en-US" sz="3200" dirty="0">
                    <a:solidFill>
                      <a:schemeClr val="tx1"/>
                    </a:solidFill>
                  </a:rPr>
                  <a:t> indicates carpooling.</a:t>
                </a:r>
              </a:p>
              <a:p>
                <a:pPr marL="285750" indent="-285750">
                  <a:buFont typeface="Arial" panose="020B0604020202020204" pitchFamily="34" charset="0"/>
                  <a:buChar char="•"/>
                </a:pPr>
                <a:endParaRPr lang="en-US" sz="3200" dirty="0">
                  <a:solidFill>
                    <a:schemeClr val="tx1"/>
                  </a:solidFill>
                </a:endParaRPr>
              </a:p>
              <a:p>
                <a:pPr marL="285750" indent="-285750">
                  <a:buFont typeface="Arial" panose="020B0604020202020204" pitchFamily="34" charset="0"/>
                  <a:buChar char="•"/>
                </a:pPr>
                <a:endParaRPr lang="en-US" sz="3200" dirty="0">
                  <a:solidFill>
                    <a:schemeClr val="tx1"/>
                  </a:solidFill>
                </a:endParaRPr>
              </a:p>
              <a:p>
                <a:endParaRPr lang="en-US" sz="3200" dirty="0"/>
              </a:p>
            </p:txBody>
          </p:sp>
        </mc:Choice>
        <mc:Fallback xmlns="">
          <p:sp>
            <p:nvSpPr>
              <p:cNvPr id="6" name="TextBox 5">
                <a:extLst>
                  <a:ext uri="{FF2B5EF4-FFF2-40B4-BE49-F238E27FC236}">
                    <a16:creationId xmlns:a16="http://schemas.microsoft.com/office/drawing/2014/main" id="{EC97F198-2D1B-D973-DD08-7BEF90CBBA63}"/>
                  </a:ext>
                </a:extLst>
              </p:cNvPr>
              <p:cNvSpPr txBox="1">
                <a:spLocks noRot="1" noChangeAspect="1" noMove="1" noResize="1" noEditPoints="1" noAdjustHandles="1" noChangeArrowheads="1" noChangeShapeType="1" noTextEdit="1"/>
              </p:cNvSpPr>
              <p:nvPr/>
            </p:nvSpPr>
            <p:spPr>
              <a:xfrm>
                <a:off x="457200" y="1988840"/>
                <a:ext cx="7947488" cy="4524315"/>
              </a:xfrm>
              <a:prstGeom prst="rect">
                <a:avLst/>
              </a:prstGeom>
              <a:blipFill>
                <a:blip r:embed="rId3"/>
                <a:stretch>
                  <a:fillRect l="-1917" t="-1681" r="-1757"/>
                </a:stretch>
              </a:blipFill>
            </p:spPr>
            <p:txBody>
              <a:bodyPr/>
              <a:lstStyle/>
              <a:p>
                <a:r>
                  <a:rPr lang="en-US">
                    <a:noFill/>
                  </a:rPr>
                  <a:t> </a:t>
                </a:r>
              </a:p>
            </p:txBody>
          </p:sp>
        </mc:Fallback>
      </mc:AlternateContent>
    </p:spTree>
    <p:extLst>
      <p:ext uri="{BB962C8B-B14F-4D97-AF65-F5344CB8AC3E}">
        <p14:creationId xmlns:p14="http://schemas.microsoft.com/office/powerpoint/2010/main" val="3751254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a:xfrm>
            <a:off x="827584" y="3007750"/>
            <a:ext cx="7772400" cy="3659749"/>
          </a:xfrm>
        </p:spPr>
        <p:txBody>
          <a:bodyPr>
            <a:normAutofit/>
          </a:bodyPr>
          <a:lstStyle/>
          <a:p>
            <a:pPr marL="0" indent="0">
              <a:buNone/>
            </a:pPr>
            <a:r>
              <a:rPr lang="en-US" sz="2400" b="1" dirty="0"/>
              <a:t>Example 4.5</a:t>
            </a:r>
            <a:r>
              <a:rPr lang="en-US" sz="2400" dirty="0"/>
              <a:t>: A government researcher is analyzing the relationship between retail sales (in $ million) and the gross national product (in $ billion). She wonders whether there are significant differences in retail sales related to the quarters of the year. She collects 10 years of quarterly data. </a:t>
            </a:r>
          </a:p>
          <a:p>
            <a:pPr marL="0" indent="0">
              <a:buNone/>
            </a:pPr>
            <a:r>
              <a:rPr lang="en-US" sz="2400" dirty="0"/>
              <a:t>What are the predicted sales in quarters 1, 2, 3, and 4 if GNP is $18,000?</a:t>
            </a:r>
          </a:p>
          <a:p>
            <a:pPr marL="0" indent="0">
              <a:buNone/>
            </a:pPr>
            <a:endParaRPr lang="en-US" dirty="0"/>
          </a:p>
          <a:p>
            <a:endParaRPr lang="en-US" dirty="0"/>
          </a:p>
        </p:txBody>
      </p:sp>
      <p:graphicFrame>
        <p:nvGraphicFramePr>
          <p:cNvPr id="7" name="Table 25">
            <a:extLst>
              <a:ext uri="{FF2B5EF4-FFF2-40B4-BE49-F238E27FC236}">
                <a16:creationId xmlns:a16="http://schemas.microsoft.com/office/drawing/2014/main" id="{987F2B2B-815C-FDE9-D62F-ED2968224C63}"/>
              </a:ext>
            </a:extLst>
          </p:cNvPr>
          <p:cNvGraphicFramePr>
            <a:graphicFrameLocks noGrp="1"/>
          </p:cNvGraphicFramePr>
          <p:nvPr>
            <p:extLst>
              <p:ext uri="{D42A27DB-BD31-4B8C-83A1-F6EECF244321}">
                <p14:modId xmlns:p14="http://schemas.microsoft.com/office/powerpoint/2010/main" val="80125426"/>
              </p:ext>
            </p:extLst>
          </p:nvPr>
        </p:nvGraphicFramePr>
        <p:xfrm>
          <a:off x="1585714" y="1015636"/>
          <a:ext cx="5766840" cy="1828800"/>
        </p:xfrm>
        <a:graphic>
          <a:graphicData uri="http://schemas.openxmlformats.org/drawingml/2006/table">
            <a:tbl>
              <a:tblPr firstRow="1" bandRow="1">
                <a:tableStyleId>{5C22544A-7EE6-4342-B048-85BDC9FD1C3A}</a:tableStyleId>
              </a:tblPr>
              <a:tblGrid>
                <a:gridCol w="1441710">
                  <a:extLst>
                    <a:ext uri="{9D8B030D-6E8A-4147-A177-3AD203B41FA5}">
                      <a16:colId xmlns:a16="http://schemas.microsoft.com/office/drawing/2014/main" val="1795806944"/>
                    </a:ext>
                  </a:extLst>
                </a:gridCol>
                <a:gridCol w="1441710">
                  <a:extLst>
                    <a:ext uri="{9D8B030D-6E8A-4147-A177-3AD203B41FA5}">
                      <a16:colId xmlns:a16="http://schemas.microsoft.com/office/drawing/2014/main" val="2073468432"/>
                    </a:ext>
                  </a:extLst>
                </a:gridCol>
                <a:gridCol w="1441710">
                  <a:extLst>
                    <a:ext uri="{9D8B030D-6E8A-4147-A177-3AD203B41FA5}">
                      <a16:colId xmlns:a16="http://schemas.microsoft.com/office/drawing/2014/main" val="2792750933"/>
                    </a:ext>
                  </a:extLst>
                </a:gridCol>
                <a:gridCol w="1441710">
                  <a:extLst>
                    <a:ext uri="{9D8B030D-6E8A-4147-A177-3AD203B41FA5}">
                      <a16:colId xmlns:a16="http://schemas.microsoft.com/office/drawing/2014/main" val="3278527583"/>
                    </a:ext>
                  </a:extLst>
                </a:gridCol>
              </a:tblGrid>
              <a:tr h="345085">
                <a:tc>
                  <a:txBody>
                    <a:bodyPr/>
                    <a:lstStyle/>
                    <a:p>
                      <a:endParaRPr lang="en-US" dirty="0"/>
                    </a:p>
                  </a:txBody>
                  <a:tcPr marL="86502" marR="86502"/>
                </a:tc>
                <a:tc>
                  <a:txBody>
                    <a:bodyPr/>
                    <a:lstStyle/>
                    <a:p>
                      <a:endParaRPr lang="en-US"/>
                    </a:p>
                  </a:txBody>
                  <a:tcPr marL="86502" marR="86502"/>
                </a:tc>
                <a:tc>
                  <a:txBody>
                    <a:bodyPr/>
                    <a:lstStyle/>
                    <a:p>
                      <a:endParaRPr lang="en-US" dirty="0"/>
                    </a:p>
                  </a:txBody>
                  <a:tcPr marL="86502" marR="86502"/>
                </a:tc>
                <a:tc>
                  <a:txBody>
                    <a:bodyPr/>
                    <a:lstStyle/>
                    <a:p>
                      <a:endParaRPr lang="en-US" dirty="0"/>
                    </a:p>
                  </a:txBody>
                  <a:tcPr marL="86502" marR="86502"/>
                </a:tc>
                <a:extLst>
                  <a:ext uri="{0D108BD9-81ED-4DB2-BD59-A6C34878D82A}">
                    <a16:rowId xmlns:a16="http://schemas.microsoft.com/office/drawing/2014/main" val="4082714799"/>
                  </a:ext>
                </a:extLst>
              </a:tr>
              <a:tr h="345085">
                <a:tc>
                  <a:txBody>
                    <a:bodyPr/>
                    <a:lstStyle/>
                    <a:p>
                      <a:endParaRPr lang="en-US" dirty="0"/>
                    </a:p>
                  </a:txBody>
                  <a:tcPr marL="86502" marR="86502"/>
                </a:tc>
                <a:tc>
                  <a:txBody>
                    <a:bodyPr/>
                    <a:lstStyle/>
                    <a:p>
                      <a:endParaRPr lang="en-US" dirty="0"/>
                    </a:p>
                  </a:txBody>
                  <a:tcPr marL="86502" marR="86502"/>
                </a:tc>
                <a:tc>
                  <a:txBody>
                    <a:bodyPr/>
                    <a:lstStyle/>
                    <a:p>
                      <a:endParaRPr lang="en-US"/>
                    </a:p>
                  </a:txBody>
                  <a:tcPr marL="86502" marR="86502"/>
                </a:tc>
                <a:tc>
                  <a:txBody>
                    <a:bodyPr/>
                    <a:lstStyle/>
                    <a:p>
                      <a:endParaRPr lang="en-US" dirty="0"/>
                    </a:p>
                  </a:txBody>
                  <a:tcPr marL="86502" marR="86502"/>
                </a:tc>
                <a:extLst>
                  <a:ext uri="{0D108BD9-81ED-4DB2-BD59-A6C34878D82A}">
                    <a16:rowId xmlns:a16="http://schemas.microsoft.com/office/drawing/2014/main" val="3932859533"/>
                  </a:ext>
                </a:extLst>
              </a:tr>
              <a:tr h="345085">
                <a:tc>
                  <a:txBody>
                    <a:bodyPr/>
                    <a:lstStyle/>
                    <a:p>
                      <a:endParaRPr lang="en-US" dirty="0"/>
                    </a:p>
                  </a:txBody>
                  <a:tcPr marL="86502" marR="86502"/>
                </a:tc>
                <a:tc>
                  <a:txBody>
                    <a:bodyPr/>
                    <a:lstStyle/>
                    <a:p>
                      <a:endParaRPr lang="en-US" dirty="0"/>
                    </a:p>
                  </a:txBody>
                  <a:tcPr marL="86502" marR="86502"/>
                </a:tc>
                <a:tc>
                  <a:txBody>
                    <a:bodyPr/>
                    <a:lstStyle/>
                    <a:p>
                      <a:endParaRPr lang="en-US" dirty="0"/>
                    </a:p>
                  </a:txBody>
                  <a:tcPr marL="86502" marR="86502"/>
                </a:tc>
                <a:tc>
                  <a:txBody>
                    <a:bodyPr/>
                    <a:lstStyle/>
                    <a:p>
                      <a:endParaRPr lang="en-US"/>
                    </a:p>
                  </a:txBody>
                  <a:tcPr marL="86502" marR="86502"/>
                </a:tc>
                <a:extLst>
                  <a:ext uri="{0D108BD9-81ED-4DB2-BD59-A6C34878D82A}">
                    <a16:rowId xmlns:a16="http://schemas.microsoft.com/office/drawing/2014/main" val="3213754621"/>
                  </a:ext>
                </a:extLst>
              </a:tr>
              <a:tr h="345085">
                <a:tc>
                  <a:txBody>
                    <a:bodyPr/>
                    <a:lstStyle/>
                    <a:p>
                      <a:endParaRPr lang="en-US" dirty="0"/>
                    </a:p>
                  </a:txBody>
                  <a:tcPr marL="86502" marR="86502"/>
                </a:tc>
                <a:tc>
                  <a:txBody>
                    <a:bodyPr/>
                    <a:lstStyle/>
                    <a:p>
                      <a:endParaRPr lang="en-US"/>
                    </a:p>
                  </a:txBody>
                  <a:tcPr marL="86502" marR="86502"/>
                </a:tc>
                <a:tc>
                  <a:txBody>
                    <a:bodyPr/>
                    <a:lstStyle/>
                    <a:p>
                      <a:endParaRPr lang="en-US"/>
                    </a:p>
                  </a:txBody>
                  <a:tcPr marL="86502" marR="86502"/>
                </a:tc>
                <a:tc>
                  <a:txBody>
                    <a:bodyPr/>
                    <a:lstStyle/>
                    <a:p>
                      <a:endParaRPr lang="en-US" dirty="0"/>
                    </a:p>
                  </a:txBody>
                  <a:tcPr marL="86502" marR="86502"/>
                </a:tc>
                <a:extLst>
                  <a:ext uri="{0D108BD9-81ED-4DB2-BD59-A6C34878D82A}">
                    <a16:rowId xmlns:a16="http://schemas.microsoft.com/office/drawing/2014/main" val="2196494928"/>
                  </a:ext>
                </a:extLst>
              </a:tr>
              <a:tr h="345085">
                <a:tc>
                  <a:txBody>
                    <a:bodyPr/>
                    <a:lstStyle/>
                    <a:p>
                      <a:endParaRPr lang="en-US" dirty="0"/>
                    </a:p>
                  </a:txBody>
                  <a:tcPr marL="86502" marR="86502"/>
                </a:tc>
                <a:tc>
                  <a:txBody>
                    <a:bodyPr/>
                    <a:lstStyle/>
                    <a:p>
                      <a:endParaRPr lang="en-US"/>
                    </a:p>
                  </a:txBody>
                  <a:tcPr marL="86502" marR="86502"/>
                </a:tc>
                <a:tc>
                  <a:txBody>
                    <a:bodyPr/>
                    <a:lstStyle/>
                    <a:p>
                      <a:endParaRPr lang="en-US"/>
                    </a:p>
                  </a:txBody>
                  <a:tcPr marL="86502" marR="86502"/>
                </a:tc>
                <a:tc>
                  <a:txBody>
                    <a:bodyPr/>
                    <a:lstStyle/>
                    <a:p>
                      <a:endParaRPr lang="en-US" dirty="0"/>
                    </a:p>
                  </a:txBody>
                  <a:tcPr marL="86502" marR="86502"/>
                </a:tc>
                <a:extLst>
                  <a:ext uri="{0D108BD9-81ED-4DB2-BD59-A6C34878D82A}">
                    <a16:rowId xmlns:a16="http://schemas.microsoft.com/office/drawing/2014/main" val="2177205269"/>
                  </a:ext>
                </a:extLst>
              </a:tr>
            </a:tbl>
          </a:graphicData>
        </a:graphic>
      </p:graphicFrame>
      <p:graphicFrame>
        <p:nvGraphicFramePr>
          <p:cNvPr id="8" name="Object 7">
            <a:extLst>
              <a:ext uri="{FF2B5EF4-FFF2-40B4-BE49-F238E27FC236}">
                <a16:creationId xmlns:a16="http://schemas.microsoft.com/office/drawing/2014/main" id="{5B56C242-A149-07A3-0E38-751B08E7BA9A}"/>
              </a:ext>
            </a:extLst>
          </p:cNvPr>
          <p:cNvGraphicFramePr>
            <a:graphicFrameLocks noChangeAspect="1"/>
          </p:cNvGraphicFramePr>
          <p:nvPr>
            <p:extLst>
              <p:ext uri="{D42A27DB-BD31-4B8C-83A1-F6EECF244321}">
                <p14:modId xmlns:p14="http://schemas.microsoft.com/office/powerpoint/2010/main" val="2309124361"/>
              </p:ext>
            </p:extLst>
          </p:nvPr>
        </p:nvGraphicFramePr>
        <p:xfrm>
          <a:off x="1960570" y="1112057"/>
          <a:ext cx="482810" cy="199422"/>
        </p:xfrm>
        <a:graphic>
          <a:graphicData uri="http://schemas.openxmlformats.org/presentationml/2006/ole">
            <mc:AlternateContent xmlns:mc="http://schemas.openxmlformats.org/markup-compatibility/2006">
              <mc:Choice xmlns:v="urn:schemas-microsoft-com:vml" Requires="v">
                <p:oleObj name="Equation" r:id="rId3" imgW="583920" imgH="241200" progId="Equation.DSMT4">
                  <p:embed/>
                </p:oleObj>
              </mc:Choice>
              <mc:Fallback>
                <p:oleObj name="Equation" r:id="rId3" imgW="583920" imgH="241200" progId="Equation.DSMT4">
                  <p:embed/>
                  <p:pic>
                    <p:nvPicPr>
                      <p:cNvPr id="8" name="Object 7">
                        <a:extLst>
                          <a:ext uri="{FF2B5EF4-FFF2-40B4-BE49-F238E27FC236}">
                            <a16:creationId xmlns:a16="http://schemas.microsoft.com/office/drawing/2014/main" id="{5B56C242-A149-07A3-0E38-751B08E7BA9A}"/>
                          </a:ext>
                        </a:extLst>
                      </p:cNvPr>
                      <p:cNvPicPr/>
                      <p:nvPr/>
                    </p:nvPicPr>
                    <p:blipFill>
                      <a:blip r:embed="rId4"/>
                      <a:stretch>
                        <a:fillRect/>
                      </a:stretch>
                    </p:blipFill>
                    <p:spPr>
                      <a:xfrm>
                        <a:off x="1960570" y="1112057"/>
                        <a:ext cx="482810" cy="19942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54F1DDBE-2BFD-930E-8BB2-042AC0745042}"/>
              </a:ext>
            </a:extLst>
          </p:cNvPr>
          <p:cNvGraphicFramePr>
            <a:graphicFrameLocks noChangeAspect="1"/>
          </p:cNvGraphicFramePr>
          <p:nvPr>
            <p:extLst>
              <p:ext uri="{D42A27DB-BD31-4B8C-83A1-F6EECF244321}">
                <p14:modId xmlns:p14="http://schemas.microsoft.com/office/powerpoint/2010/main" val="985122504"/>
              </p:ext>
            </p:extLst>
          </p:nvPr>
        </p:nvGraphicFramePr>
        <p:xfrm>
          <a:off x="3332748" y="1106553"/>
          <a:ext cx="766198" cy="230909"/>
        </p:xfrm>
        <a:graphic>
          <a:graphicData uri="http://schemas.openxmlformats.org/presentationml/2006/ole">
            <mc:AlternateContent xmlns:mc="http://schemas.openxmlformats.org/markup-compatibility/2006">
              <mc:Choice xmlns:v="urn:schemas-microsoft-com:vml" Requires="v">
                <p:oleObj name="Equation" r:id="rId5" imgW="927000" imgH="279360" progId="Equation.DSMT4">
                  <p:embed/>
                </p:oleObj>
              </mc:Choice>
              <mc:Fallback>
                <p:oleObj name="Equation" r:id="rId5" imgW="927000" imgH="279360" progId="Equation.DSMT4">
                  <p:embed/>
                  <p:pic>
                    <p:nvPicPr>
                      <p:cNvPr id="9" name="Object 8">
                        <a:extLst>
                          <a:ext uri="{FF2B5EF4-FFF2-40B4-BE49-F238E27FC236}">
                            <a16:creationId xmlns:a16="http://schemas.microsoft.com/office/drawing/2014/main" id="{54F1DDBE-2BFD-930E-8BB2-042AC0745042}"/>
                          </a:ext>
                        </a:extLst>
                      </p:cNvPr>
                      <p:cNvPicPr/>
                      <p:nvPr/>
                    </p:nvPicPr>
                    <p:blipFill>
                      <a:blip r:embed="rId6"/>
                      <a:stretch>
                        <a:fillRect/>
                      </a:stretch>
                    </p:blipFill>
                    <p:spPr>
                      <a:xfrm>
                        <a:off x="3332748" y="1106553"/>
                        <a:ext cx="766198" cy="230909"/>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877617DA-DB5A-2E2D-53AD-2B0FCE12457E}"/>
              </a:ext>
            </a:extLst>
          </p:cNvPr>
          <p:cNvGraphicFramePr>
            <a:graphicFrameLocks noChangeAspect="1"/>
          </p:cNvGraphicFramePr>
          <p:nvPr>
            <p:extLst>
              <p:ext uri="{D42A27DB-BD31-4B8C-83A1-F6EECF244321}">
                <p14:modId xmlns:p14="http://schemas.microsoft.com/office/powerpoint/2010/main" val="2034804674"/>
              </p:ext>
            </p:extLst>
          </p:nvPr>
        </p:nvGraphicFramePr>
        <p:xfrm>
          <a:off x="5003227" y="1082561"/>
          <a:ext cx="482810" cy="199422"/>
        </p:xfrm>
        <a:graphic>
          <a:graphicData uri="http://schemas.openxmlformats.org/presentationml/2006/ole">
            <mc:AlternateContent xmlns:mc="http://schemas.openxmlformats.org/markup-compatibility/2006">
              <mc:Choice xmlns:v="urn:schemas-microsoft-com:vml" Requires="v">
                <p:oleObj name="Equation" r:id="rId7" imgW="583920" imgH="241200" progId="Equation.DSMT4">
                  <p:embed/>
                </p:oleObj>
              </mc:Choice>
              <mc:Fallback>
                <p:oleObj name="Equation" r:id="rId7" imgW="583920" imgH="241200" progId="Equation.DSMT4">
                  <p:embed/>
                  <p:pic>
                    <p:nvPicPr>
                      <p:cNvPr id="10" name="Object 9">
                        <a:extLst>
                          <a:ext uri="{FF2B5EF4-FFF2-40B4-BE49-F238E27FC236}">
                            <a16:creationId xmlns:a16="http://schemas.microsoft.com/office/drawing/2014/main" id="{877617DA-DB5A-2E2D-53AD-2B0FCE12457E}"/>
                          </a:ext>
                        </a:extLst>
                      </p:cNvPr>
                      <p:cNvPicPr/>
                      <p:nvPr/>
                    </p:nvPicPr>
                    <p:blipFill>
                      <a:blip r:embed="rId8"/>
                      <a:stretch>
                        <a:fillRect/>
                      </a:stretch>
                    </p:blipFill>
                    <p:spPr>
                      <a:xfrm>
                        <a:off x="5003227" y="1082561"/>
                        <a:ext cx="482810" cy="199422"/>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A74EDE1-52BA-2759-25F9-88EF2F555B73}"/>
              </a:ext>
            </a:extLst>
          </p:cNvPr>
          <p:cNvGraphicFramePr>
            <a:graphicFrameLocks noChangeAspect="1"/>
          </p:cNvGraphicFramePr>
          <p:nvPr>
            <p:extLst>
              <p:ext uri="{D42A27DB-BD31-4B8C-83A1-F6EECF244321}">
                <p14:modId xmlns:p14="http://schemas.microsoft.com/office/powerpoint/2010/main" val="3828181259"/>
              </p:ext>
            </p:extLst>
          </p:nvPr>
        </p:nvGraphicFramePr>
        <p:xfrm>
          <a:off x="6406584" y="1082561"/>
          <a:ext cx="472314" cy="199422"/>
        </p:xfrm>
        <a:graphic>
          <a:graphicData uri="http://schemas.openxmlformats.org/presentationml/2006/ole">
            <mc:AlternateContent xmlns:mc="http://schemas.openxmlformats.org/markup-compatibility/2006">
              <mc:Choice xmlns:v="urn:schemas-microsoft-com:vml" Requires="v">
                <p:oleObj name="Equation" r:id="rId9" imgW="571320" imgH="241200" progId="Equation.DSMT4">
                  <p:embed/>
                </p:oleObj>
              </mc:Choice>
              <mc:Fallback>
                <p:oleObj name="Equation" r:id="rId9" imgW="571320" imgH="241200" progId="Equation.DSMT4">
                  <p:embed/>
                  <p:pic>
                    <p:nvPicPr>
                      <p:cNvPr id="11" name="Object 10">
                        <a:extLst>
                          <a:ext uri="{FF2B5EF4-FFF2-40B4-BE49-F238E27FC236}">
                            <a16:creationId xmlns:a16="http://schemas.microsoft.com/office/drawing/2014/main" id="{7A74EDE1-52BA-2759-25F9-88EF2F555B73}"/>
                          </a:ext>
                        </a:extLst>
                      </p:cNvPr>
                      <p:cNvPicPr/>
                      <p:nvPr/>
                    </p:nvPicPr>
                    <p:blipFill>
                      <a:blip r:embed="rId10"/>
                      <a:stretch>
                        <a:fillRect/>
                      </a:stretch>
                    </p:blipFill>
                    <p:spPr>
                      <a:xfrm>
                        <a:off x="6406584" y="1082561"/>
                        <a:ext cx="472314" cy="19942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2725D878-4681-51B2-736D-B7B8450CFACF}"/>
              </a:ext>
            </a:extLst>
          </p:cNvPr>
          <p:cNvGraphicFramePr>
            <a:graphicFrameLocks noChangeAspect="1"/>
          </p:cNvGraphicFramePr>
          <p:nvPr>
            <p:extLst>
              <p:ext uri="{D42A27DB-BD31-4B8C-83A1-F6EECF244321}">
                <p14:modId xmlns:p14="http://schemas.microsoft.com/office/powerpoint/2010/main" val="2687673464"/>
              </p:ext>
            </p:extLst>
          </p:nvPr>
        </p:nvGraphicFramePr>
        <p:xfrm>
          <a:off x="1980086" y="1451174"/>
          <a:ext cx="444500" cy="198437"/>
        </p:xfrm>
        <a:graphic>
          <a:graphicData uri="http://schemas.openxmlformats.org/presentationml/2006/ole">
            <mc:AlternateContent xmlns:mc="http://schemas.openxmlformats.org/markup-compatibility/2006">
              <mc:Choice xmlns:v="urn:schemas-microsoft-com:vml" Requires="v">
                <p:oleObj name="Equation" r:id="rId11" imgW="533160" imgH="241200" progId="Equation.DSMT4">
                  <p:embed/>
                </p:oleObj>
              </mc:Choice>
              <mc:Fallback>
                <p:oleObj name="Equation" r:id="rId11" imgW="533160" imgH="241200" progId="Equation.DSMT4">
                  <p:embed/>
                  <p:pic>
                    <p:nvPicPr>
                      <p:cNvPr id="12" name="Object 11">
                        <a:extLst>
                          <a:ext uri="{FF2B5EF4-FFF2-40B4-BE49-F238E27FC236}">
                            <a16:creationId xmlns:a16="http://schemas.microsoft.com/office/drawing/2014/main" id="{2725D878-4681-51B2-736D-B7B8450CFACF}"/>
                          </a:ext>
                        </a:extLst>
                      </p:cNvPr>
                      <p:cNvPicPr/>
                      <p:nvPr/>
                    </p:nvPicPr>
                    <p:blipFill>
                      <a:blip r:embed="rId12"/>
                      <a:stretch>
                        <a:fillRect/>
                      </a:stretch>
                    </p:blipFill>
                    <p:spPr>
                      <a:xfrm>
                        <a:off x="1980086" y="1451174"/>
                        <a:ext cx="444500" cy="198437"/>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E2A558A7-A338-66AC-DECC-68B82471A6C9}"/>
              </a:ext>
            </a:extLst>
          </p:cNvPr>
          <p:cNvGraphicFramePr>
            <a:graphicFrameLocks noChangeAspect="1"/>
          </p:cNvGraphicFramePr>
          <p:nvPr>
            <p:extLst>
              <p:ext uri="{D42A27DB-BD31-4B8C-83A1-F6EECF244321}">
                <p14:modId xmlns:p14="http://schemas.microsoft.com/office/powerpoint/2010/main" val="1431713890"/>
              </p:ext>
            </p:extLst>
          </p:nvPr>
        </p:nvGraphicFramePr>
        <p:xfrm>
          <a:off x="3644333" y="1441771"/>
          <a:ext cx="94463" cy="188925"/>
        </p:xfrm>
        <a:graphic>
          <a:graphicData uri="http://schemas.openxmlformats.org/presentationml/2006/ole">
            <mc:AlternateContent xmlns:mc="http://schemas.openxmlformats.org/markup-compatibility/2006">
              <mc:Choice xmlns:v="urn:schemas-microsoft-com:vml" Requires="v">
                <p:oleObj name="Equation" r:id="rId13" imgW="114120" imgH="228600" progId="Equation.DSMT4">
                  <p:embed/>
                </p:oleObj>
              </mc:Choice>
              <mc:Fallback>
                <p:oleObj name="Equation" r:id="rId13" imgW="114120" imgH="228600" progId="Equation.DSMT4">
                  <p:embed/>
                  <p:pic>
                    <p:nvPicPr>
                      <p:cNvPr id="13" name="Object 12">
                        <a:extLst>
                          <a:ext uri="{FF2B5EF4-FFF2-40B4-BE49-F238E27FC236}">
                            <a16:creationId xmlns:a16="http://schemas.microsoft.com/office/drawing/2014/main" id="{E2A558A7-A338-66AC-DECC-68B82471A6C9}"/>
                          </a:ext>
                        </a:extLst>
                      </p:cNvPr>
                      <p:cNvPicPr/>
                      <p:nvPr/>
                    </p:nvPicPr>
                    <p:blipFill>
                      <a:blip r:embed="rId14"/>
                      <a:stretch>
                        <a:fillRect/>
                      </a:stretch>
                    </p:blipFill>
                    <p:spPr>
                      <a:xfrm>
                        <a:off x="3644333" y="1441771"/>
                        <a:ext cx="94463" cy="188925"/>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54854D77-D07F-E5D1-699B-D72D70717493}"/>
              </a:ext>
            </a:extLst>
          </p:cNvPr>
          <p:cNvGraphicFramePr>
            <a:graphicFrameLocks noChangeAspect="1"/>
          </p:cNvGraphicFramePr>
          <p:nvPr>
            <p:extLst>
              <p:ext uri="{D42A27DB-BD31-4B8C-83A1-F6EECF244321}">
                <p14:modId xmlns:p14="http://schemas.microsoft.com/office/powerpoint/2010/main" val="2246327888"/>
              </p:ext>
            </p:extLst>
          </p:nvPr>
        </p:nvGraphicFramePr>
        <p:xfrm>
          <a:off x="4872029" y="1451270"/>
          <a:ext cx="745206" cy="199422"/>
        </p:xfrm>
        <a:graphic>
          <a:graphicData uri="http://schemas.openxmlformats.org/presentationml/2006/ole">
            <mc:AlternateContent xmlns:mc="http://schemas.openxmlformats.org/markup-compatibility/2006">
              <mc:Choice xmlns:v="urn:schemas-microsoft-com:vml" Requires="v">
                <p:oleObj name="Equation" r:id="rId15" imgW="901440" imgH="241200" progId="Equation.DSMT4">
                  <p:embed/>
                </p:oleObj>
              </mc:Choice>
              <mc:Fallback>
                <p:oleObj name="Equation" r:id="rId15" imgW="901440" imgH="241200" progId="Equation.DSMT4">
                  <p:embed/>
                  <p:pic>
                    <p:nvPicPr>
                      <p:cNvPr id="14" name="Object 13">
                        <a:extLst>
                          <a:ext uri="{FF2B5EF4-FFF2-40B4-BE49-F238E27FC236}">
                            <a16:creationId xmlns:a16="http://schemas.microsoft.com/office/drawing/2014/main" id="{54854D77-D07F-E5D1-699B-D72D70717493}"/>
                          </a:ext>
                        </a:extLst>
                      </p:cNvPr>
                      <p:cNvPicPr/>
                      <p:nvPr/>
                    </p:nvPicPr>
                    <p:blipFill>
                      <a:blip r:embed="rId16"/>
                      <a:stretch>
                        <a:fillRect/>
                      </a:stretch>
                    </p:blipFill>
                    <p:spPr>
                      <a:xfrm>
                        <a:off x="4872029" y="1451270"/>
                        <a:ext cx="745206" cy="19942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4D965024-25C7-7477-E85B-81C3F360B707}"/>
              </a:ext>
            </a:extLst>
          </p:cNvPr>
          <p:cNvGraphicFramePr>
            <a:graphicFrameLocks noChangeAspect="1"/>
          </p:cNvGraphicFramePr>
          <p:nvPr>
            <p:extLst>
              <p:ext uri="{D42A27DB-BD31-4B8C-83A1-F6EECF244321}">
                <p14:modId xmlns:p14="http://schemas.microsoft.com/office/powerpoint/2010/main" val="2060621540"/>
              </p:ext>
            </p:extLst>
          </p:nvPr>
        </p:nvGraphicFramePr>
        <p:xfrm>
          <a:off x="6191419" y="1451270"/>
          <a:ext cx="902645" cy="199422"/>
        </p:xfrm>
        <a:graphic>
          <a:graphicData uri="http://schemas.openxmlformats.org/presentationml/2006/ole">
            <mc:AlternateContent xmlns:mc="http://schemas.openxmlformats.org/markup-compatibility/2006">
              <mc:Choice xmlns:v="urn:schemas-microsoft-com:vml" Requires="v">
                <p:oleObj name="Equation" r:id="rId17" imgW="1091880" imgH="241200" progId="Equation.DSMT4">
                  <p:embed/>
                </p:oleObj>
              </mc:Choice>
              <mc:Fallback>
                <p:oleObj name="Equation" r:id="rId17" imgW="1091880" imgH="241200" progId="Equation.DSMT4">
                  <p:embed/>
                  <p:pic>
                    <p:nvPicPr>
                      <p:cNvPr id="15" name="Object 14">
                        <a:extLst>
                          <a:ext uri="{FF2B5EF4-FFF2-40B4-BE49-F238E27FC236}">
                            <a16:creationId xmlns:a16="http://schemas.microsoft.com/office/drawing/2014/main" id="{4D965024-25C7-7477-E85B-81C3F360B707}"/>
                          </a:ext>
                        </a:extLst>
                      </p:cNvPr>
                      <p:cNvPicPr/>
                      <p:nvPr/>
                    </p:nvPicPr>
                    <p:blipFill>
                      <a:blip r:embed="rId18"/>
                      <a:stretch>
                        <a:fillRect/>
                      </a:stretch>
                    </p:blipFill>
                    <p:spPr>
                      <a:xfrm>
                        <a:off x="6191419" y="1451270"/>
                        <a:ext cx="902645" cy="199422"/>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F78BC4D-F887-4B9E-5EC4-4B170CEB6541}"/>
              </a:ext>
            </a:extLst>
          </p:cNvPr>
          <p:cNvGraphicFramePr>
            <a:graphicFrameLocks noChangeAspect="1"/>
          </p:cNvGraphicFramePr>
          <p:nvPr>
            <p:extLst>
              <p:ext uri="{D42A27DB-BD31-4B8C-83A1-F6EECF244321}">
                <p14:modId xmlns:p14="http://schemas.microsoft.com/office/powerpoint/2010/main" val="2535893197"/>
              </p:ext>
            </p:extLst>
          </p:nvPr>
        </p:nvGraphicFramePr>
        <p:xfrm>
          <a:off x="1980086" y="1809949"/>
          <a:ext cx="444500" cy="200025"/>
        </p:xfrm>
        <a:graphic>
          <a:graphicData uri="http://schemas.openxmlformats.org/presentationml/2006/ole">
            <mc:AlternateContent xmlns:mc="http://schemas.openxmlformats.org/markup-compatibility/2006">
              <mc:Choice xmlns:v="urn:schemas-microsoft-com:vml" Requires="v">
                <p:oleObj name="Equation" r:id="rId19" imgW="533160" imgH="241200" progId="Equation.DSMT4">
                  <p:embed/>
                </p:oleObj>
              </mc:Choice>
              <mc:Fallback>
                <p:oleObj name="Equation" r:id="rId19" imgW="533160" imgH="241200" progId="Equation.DSMT4">
                  <p:embed/>
                  <p:pic>
                    <p:nvPicPr>
                      <p:cNvPr id="16" name="Object 15">
                        <a:extLst>
                          <a:ext uri="{FF2B5EF4-FFF2-40B4-BE49-F238E27FC236}">
                            <a16:creationId xmlns:a16="http://schemas.microsoft.com/office/drawing/2014/main" id="{DF78BC4D-F887-4B9E-5EC4-4B170CEB6541}"/>
                          </a:ext>
                        </a:extLst>
                      </p:cNvPr>
                      <p:cNvPicPr/>
                      <p:nvPr/>
                    </p:nvPicPr>
                    <p:blipFill>
                      <a:blip r:embed="rId20"/>
                      <a:stretch>
                        <a:fillRect/>
                      </a:stretch>
                    </p:blipFill>
                    <p:spPr>
                      <a:xfrm>
                        <a:off x="1980086" y="1809949"/>
                        <a:ext cx="444500" cy="200025"/>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E73ACCBA-5BDF-7F48-F307-4E29B2113B47}"/>
              </a:ext>
            </a:extLst>
          </p:cNvPr>
          <p:cNvGraphicFramePr>
            <a:graphicFrameLocks noChangeAspect="1"/>
          </p:cNvGraphicFramePr>
          <p:nvPr>
            <p:extLst>
              <p:ext uri="{D42A27DB-BD31-4B8C-83A1-F6EECF244321}">
                <p14:modId xmlns:p14="http://schemas.microsoft.com/office/powerpoint/2010/main" val="3126677214"/>
              </p:ext>
            </p:extLst>
          </p:nvPr>
        </p:nvGraphicFramePr>
        <p:xfrm>
          <a:off x="3623341" y="1854725"/>
          <a:ext cx="136446" cy="188925"/>
        </p:xfrm>
        <a:graphic>
          <a:graphicData uri="http://schemas.openxmlformats.org/presentationml/2006/ole">
            <mc:AlternateContent xmlns:mc="http://schemas.openxmlformats.org/markup-compatibility/2006">
              <mc:Choice xmlns:v="urn:schemas-microsoft-com:vml" Requires="v">
                <p:oleObj name="Equation" r:id="rId21" imgW="164880" imgH="228600" progId="Equation.DSMT4">
                  <p:embed/>
                </p:oleObj>
              </mc:Choice>
              <mc:Fallback>
                <p:oleObj name="Equation" r:id="rId21" imgW="164880" imgH="228600" progId="Equation.DSMT4">
                  <p:embed/>
                  <p:pic>
                    <p:nvPicPr>
                      <p:cNvPr id="17" name="Object 16">
                        <a:extLst>
                          <a:ext uri="{FF2B5EF4-FFF2-40B4-BE49-F238E27FC236}">
                            <a16:creationId xmlns:a16="http://schemas.microsoft.com/office/drawing/2014/main" id="{E73ACCBA-5BDF-7F48-F307-4E29B2113B47}"/>
                          </a:ext>
                        </a:extLst>
                      </p:cNvPr>
                      <p:cNvPicPr/>
                      <p:nvPr/>
                    </p:nvPicPr>
                    <p:blipFill>
                      <a:blip r:embed="rId22"/>
                      <a:stretch>
                        <a:fillRect/>
                      </a:stretch>
                    </p:blipFill>
                    <p:spPr>
                      <a:xfrm>
                        <a:off x="3623341" y="1854725"/>
                        <a:ext cx="136446" cy="188925"/>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356C9CEC-BDE6-7BFA-0E17-79E7D6F2EE4C}"/>
              </a:ext>
            </a:extLst>
          </p:cNvPr>
          <p:cNvGraphicFramePr>
            <a:graphicFrameLocks noChangeAspect="1"/>
          </p:cNvGraphicFramePr>
          <p:nvPr>
            <p:extLst>
              <p:ext uri="{D42A27DB-BD31-4B8C-83A1-F6EECF244321}">
                <p14:modId xmlns:p14="http://schemas.microsoft.com/office/powerpoint/2010/main" val="3600306613"/>
              </p:ext>
            </p:extLst>
          </p:nvPr>
        </p:nvGraphicFramePr>
        <p:xfrm>
          <a:off x="4872029" y="1819980"/>
          <a:ext cx="745206" cy="199422"/>
        </p:xfrm>
        <a:graphic>
          <a:graphicData uri="http://schemas.openxmlformats.org/presentationml/2006/ole">
            <mc:AlternateContent xmlns:mc="http://schemas.openxmlformats.org/markup-compatibility/2006">
              <mc:Choice xmlns:v="urn:schemas-microsoft-com:vml" Requires="v">
                <p:oleObj name="Equation" r:id="rId23" imgW="901440" imgH="241200" progId="Equation.DSMT4">
                  <p:embed/>
                </p:oleObj>
              </mc:Choice>
              <mc:Fallback>
                <p:oleObj name="Equation" r:id="rId23" imgW="901440" imgH="241200" progId="Equation.DSMT4">
                  <p:embed/>
                  <p:pic>
                    <p:nvPicPr>
                      <p:cNvPr id="18" name="Object 17">
                        <a:extLst>
                          <a:ext uri="{FF2B5EF4-FFF2-40B4-BE49-F238E27FC236}">
                            <a16:creationId xmlns:a16="http://schemas.microsoft.com/office/drawing/2014/main" id="{356C9CEC-BDE6-7BFA-0E17-79E7D6F2EE4C}"/>
                          </a:ext>
                        </a:extLst>
                      </p:cNvPr>
                      <p:cNvPicPr/>
                      <p:nvPr/>
                    </p:nvPicPr>
                    <p:blipFill>
                      <a:blip r:embed="rId24"/>
                      <a:stretch>
                        <a:fillRect/>
                      </a:stretch>
                    </p:blipFill>
                    <p:spPr>
                      <a:xfrm>
                        <a:off x="4872029" y="1819980"/>
                        <a:ext cx="745206" cy="19942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5AEF8638-1C03-2060-A3AA-C60E6878B218}"/>
              </a:ext>
            </a:extLst>
          </p:cNvPr>
          <p:cNvGraphicFramePr>
            <a:graphicFrameLocks noChangeAspect="1"/>
          </p:cNvGraphicFramePr>
          <p:nvPr>
            <p:extLst>
              <p:ext uri="{D42A27DB-BD31-4B8C-83A1-F6EECF244321}">
                <p14:modId xmlns:p14="http://schemas.microsoft.com/office/powerpoint/2010/main" val="3882163207"/>
              </p:ext>
            </p:extLst>
          </p:nvPr>
        </p:nvGraphicFramePr>
        <p:xfrm>
          <a:off x="6191419" y="1775735"/>
          <a:ext cx="902645" cy="199422"/>
        </p:xfrm>
        <a:graphic>
          <a:graphicData uri="http://schemas.openxmlformats.org/presentationml/2006/ole">
            <mc:AlternateContent xmlns:mc="http://schemas.openxmlformats.org/markup-compatibility/2006">
              <mc:Choice xmlns:v="urn:schemas-microsoft-com:vml" Requires="v">
                <p:oleObj name="Equation" r:id="rId25" imgW="1091880" imgH="241200" progId="Equation.DSMT4">
                  <p:embed/>
                </p:oleObj>
              </mc:Choice>
              <mc:Fallback>
                <p:oleObj name="Equation" r:id="rId25" imgW="1091880" imgH="241200" progId="Equation.DSMT4">
                  <p:embed/>
                  <p:pic>
                    <p:nvPicPr>
                      <p:cNvPr id="19" name="Object 18">
                        <a:extLst>
                          <a:ext uri="{FF2B5EF4-FFF2-40B4-BE49-F238E27FC236}">
                            <a16:creationId xmlns:a16="http://schemas.microsoft.com/office/drawing/2014/main" id="{5AEF8638-1C03-2060-A3AA-C60E6878B218}"/>
                          </a:ext>
                        </a:extLst>
                      </p:cNvPr>
                      <p:cNvPicPr/>
                      <p:nvPr/>
                    </p:nvPicPr>
                    <p:blipFill>
                      <a:blip r:embed="rId26"/>
                      <a:stretch>
                        <a:fillRect/>
                      </a:stretch>
                    </p:blipFill>
                    <p:spPr>
                      <a:xfrm>
                        <a:off x="6191419" y="1775735"/>
                        <a:ext cx="902645" cy="199422"/>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B3A00C10-00BD-5C0B-7D81-DA736678BC91}"/>
              </a:ext>
            </a:extLst>
          </p:cNvPr>
          <p:cNvGraphicFramePr>
            <a:graphicFrameLocks noChangeAspect="1"/>
          </p:cNvGraphicFramePr>
          <p:nvPr>
            <p:extLst>
              <p:ext uri="{D42A27DB-BD31-4B8C-83A1-F6EECF244321}">
                <p14:modId xmlns:p14="http://schemas.microsoft.com/office/powerpoint/2010/main" val="4121693941"/>
              </p:ext>
            </p:extLst>
          </p:nvPr>
        </p:nvGraphicFramePr>
        <p:xfrm>
          <a:off x="2165240" y="2212940"/>
          <a:ext cx="73471" cy="209917"/>
        </p:xfrm>
        <a:graphic>
          <a:graphicData uri="http://schemas.openxmlformats.org/presentationml/2006/ole">
            <mc:AlternateContent xmlns:mc="http://schemas.openxmlformats.org/markup-compatibility/2006">
              <mc:Choice xmlns:v="urn:schemas-microsoft-com:vml" Requires="v">
                <p:oleObj name="Equation" r:id="rId27" imgW="88560" imgH="253800" progId="Equation.DSMT4">
                  <p:embed/>
                </p:oleObj>
              </mc:Choice>
              <mc:Fallback>
                <p:oleObj name="Equation" r:id="rId27" imgW="88560" imgH="253800" progId="Equation.DSMT4">
                  <p:embed/>
                  <p:pic>
                    <p:nvPicPr>
                      <p:cNvPr id="20" name="Object 19">
                        <a:extLst>
                          <a:ext uri="{FF2B5EF4-FFF2-40B4-BE49-F238E27FC236}">
                            <a16:creationId xmlns:a16="http://schemas.microsoft.com/office/drawing/2014/main" id="{B3A00C10-00BD-5C0B-7D81-DA736678BC91}"/>
                          </a:ext>
                        </a:extLst>
                      </p:cNvPr>
                      <p:cNvPicPr/>
                      <p:nvPr/>
                    </p:nvPicPr>
                    <p:blipFill>
                      <a:blip r:embed="rId28"/>
                      <a:stretch>
                        <a:fillRect/>
                      </a:stretch>
                    </p:blipFill>
                    <p:spPr>
                      <a:xfrm>
                        <a:off x="2165240" y="2212940"/>
                        <a:ext cx="73471" cy="209917"/>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5BB7C264-20BB-4A2B-642B-8BA5C7F8C217}"/>
              </a:ext>
            </a:extLst>
          </p:cNvPr>
          <p:cNvGraphicFramePr>
            <a:graphicFrameLocks noChangeAspect="1"/>
          </p:cNvGraphicFramePr>
          <p:nvPr>
            <p:extLst>
              <p:ext uri="{D42A27DB-BD31-4B8C-83A1-F6EECF244321}">
                <p14:modId xmlns:p14="http://schemas.microsoft.com/office/powerpoint/2010/main" val="4073855608"/>
              </p:ext>
            </p:extLst>
          </p:nvPr>
        </p:nvGraphicFramePr>
        <p:xfrm>
          <a:off x="3654829" y="2158862"/>
          <a:ext cx="73471" cy="209917"/>
        </p:xfrm>
        <a:graphic>
          <a:graphicData uri="http://schemas.openxmlformats.org/presentationml/2006/ole">
            <mc:AlternateContent xmlns:mc="http://schemas.openxmlformats.org/markup-compatibility/2006">
              <mc:Choice xmlns:v="urn:schemas-microsoft-com:vml" Requires="v">
                <p:oleObj name="Equation" r:id="rId27" imgW="88560" imgH="253800" progId="Equation.DSMT4">
                  <p:embed/>
                </p:oleObj>
              </mc:Choice>
              <mc:Fallback>
                <p:oleObj name="Equation" r:id="rId27" imgW="88560" imgH="253800" progId="Equation.DSMT4">
                  <p:embed/>
                  <p:pic>
                    <p:nvPicPr>
                      <p:cNvPr id="21" name="Object 20">
                        <a:extLst>
                          <a:ext uri="{FF2B5EF4-FFF2-40B4-BE49-F238E27FC236}">
                            <a16:creationId xmlns:a16="http://schemas.microsoft.com/office/drawing/2014/main" id="{5BB7C264-20BB-4A2B-642B-8BA5C7F8C217}"/>
                          </a:ext>
                        </a:extLst>
                      </p:cNvPr>
                      <p:cNvPicPr/>
                      <p:nvPr/>
                    </p:nvPicPr>
                    <p:blipFill>
                      <a:blip r:embed="rId28"/>
                      <a:stretch>
                        <a:fillRect/>
                      </a:stretch>
                    </p:blipFill>
                    <p:spPr>
                      <a:xfrm>
                        <a:off x="3654829" y="2158862"/>
                        <a:ext cx="73471" cy="209917"/>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249E8075-D9C6-D894-C42D-27A92CECD79B}"/>
              </a:ext>
            </a:extLst>
          </p:cNvPr>
          <p:cNvGraphicFramePr>
            <a:graphicFrameLocks noChangeAspect="1"/>
          </p:cNvGraphicFramePr>
          <p:nvPr>
            <p:extLst>
              <p:ext uri="{D42A27DB-BD31-4B8C-83A1-F6EECF244321}">
                <p14:modId xmlns:p14="http://schemas.microsoft.com/office/powerpoint/2010/main" val="1346293626"/>
              </p:ext>
            </p:extLst>
          </p:nvPr>
        </p:nvGraphicFramePr>
        <p:xfrm>
          <a:off x="5207897" y="2178527"/>
          <a:ext cx="73471" cy="209917"/>
        </p:xfrm>
        <a:graphic>
          <a:graphicData uri="http://schemas.openxmlformats.org/presentationml/2006/ole">
            <mc:AlternateContent xmlns:mc="http://schemas.openxmlformats.org/markup-compatibility/2006">
              <mc:Choice xmlns:v="urn:schemas-microsoft-com:vml" Requires="v">
                <p:oleObj name="Equation" r:id="rId27" imgW="88560" imgH="253800" progId="Equation.DSMT4">
                  <p:embed/>
                </p:oleObj>
              </mc:Choice>
              <mc:Fallback>
                <p:oleObj name="Equation" r:id="rId27" imgW="88560" imgH="253800" progId="Equation.DSMT4">
                  <p:embed/>
                  <p:pic>
                    <p:nvPicPr>
                      <p:cNvPr id="22" name="Object 21">
                        <a:extLst>
                          <a:ext uri="{FF2B5EF4-FFF2-40B4-BE49-F238E27FC236}">
                            <a16:creationId xmlns:a16="http://schemas.microsoft.com/office/drawing/2014/main" id="{249E8075-D9C6-D894-C42D-27A92CECD79B}"/>
                          </a:ext>
                        </a:extLst>
                      </p:cNvPr>
                      <p:cNvPicPr/>
                      <p:nvPr/>
                    </p:nvPicPr>
                    <p:blipFill>
                      <a:blip r:embed="rId28"/>
                      <a:stretch>
                        <a:fillRect/>
                      </a:stretch>
                    </p:blipFill>
                    <p:spPr>
                      <a:xfrm>
                        <a:off x="5207897" y="2178527"/>
                        <a:ext cx="73471" cy="209917"/>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015B7029-6C08-5145-485A-1DA0935ECA2B}"/>
              </a:ext>
            </a:extLst>
          </p:cNvPr>
          <p:cNvGraphicFramePr>
            <a:graphicFrameLocks noChangeAspect="1"/>
          </p:cNvGraphicFramePr>
          <p:nvPr>
            <p:extLst>
              <p:ext uri="{D42A27DB-BD31-4B8C-83A1-F6EECF244321}">
                <p14:modId xmlns:p14="http://schemas.microsoft.com/office/powerpoint/2010/main" val="2985684853"/>
              </p:ext>
            </p:extLst>
          </p:nvPr>
        </p:nvGraphicFramePr>
        <p:xfrm>
          <a:off x="6606006" y="2168695"/>
          <a:ext cx="73471" cy="209917"/>
        </p:xfrm>
        <a:graphic>
          <a:graphicData uri="http://schemas.openxmlformats.org/presentationml/2006/ole">
            <mc:AlternateContent xmlns:mc="http://schemas.openxmlformats.org/markup-compatibility/2006">
              <mc:Choice xmlns:v="urn:schemas-microsoft-com:vml" Requires="v">
                <p:oleObj name="Equation" r:id="rId27" imgW="88560" imgH="253800" progId="Equation.DSMT4">
                  <p:embed/>
                </p:oleObj>
              </mc:Choice>
              <mc:Fallback>
                <p:oleObj name="Equation" r:id="rId27" imgW="88560" imgH="253800" progId="Equation.DSMT4">
                  <p:embed/>
                  <p:pic>
                    <p:nvPicPr>
                      <p:cNvPr id="23" name="Object 22">
                        <a:extLst>
                          <a:ext uri="{FF2B5EF4-FFF2-40B4-BE49-F238E27FC236}">
                            <a16:creationId xmlns:a16="http://schemas.microsoft.com/office/drawing/2014/main" id="{015B7029-6C08-5145-485A-1DA0935ECA2B}"/>
                          </a:ext>
                        </a:extLst>
                      </p:cNvPr>
                      <p:cNvPicPr/>
                      <p:nvPr/>
                    </p:nvPicPr>
                    <p:blipFill>
                      <a:blip r:embed="rId28"/>
                      <a:stretch>
                        <a:fillRect/>
                      </a:stretch>
                    </p:blipFill>
                    <p:spPr>
                      <a:xfrm>
                        <a:off x="6606006" y="2168695"/>
                        <a:ext cx="73471" cy="209917"/>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DF3E652B-66CC-243F-575C-766092A73CDE}"/>
              </a:ext>
            </a:extLst>
          </p:cNvPr>
          <p:cNvGraphicFramePr>
            <a:graphicFrameLocks noChangeAspect="1"/>
          </p:cNvGraphicFramePr>
          <p:nvPr>
            <p:extLst>
              <p:ext uri="{D42A27DB-BD31-4B8C-83A1-F6EECF244321}">
                <p14:modId xmlns:p14="http://schemas.microsoft.com/office/powerpoint/2010/main" val="3888966824"/>
              </p:ext>
            </p:extLst>
          </p:nvPr>
        </p:nvGraphicFramePr>
        <p:xfrm>
          <a:off x="1976911" y="2616399"/>
          <a:ext cx="450850" cy="200025"/>
        </p:xfrm>
        <a:graphic>
          <a:graphicData uri="http://schemas.openxmlformats.org/presentationml/2006/ole">
            <mc:AlternateContent xmlns:mc="http://schemas.openxmlformats.org/markup-compatibility/2006">
              <mc:Choice xmlns:v="urn:schemas-microsoft-com:vml" Requires="v">
                <p:oleObj name="Equation" r:id="rId29" imgW="545760" imgH="241200" progId="Equation.DSMT4">
                  <p:embed/>
                </p:oleObj>
              </mc:Choice>
              <mc:Fallback>
                <p:oleObj name="Equation" r:id="rId29" imgW="545760" imgH="241200" progId="Equation.DSMT4">
                  <p:embed/>
                  <p:pic>
                    <p:nvPicPr>
                      <p:cNvPr id="24" name="Object 23">
                        <a:extLst>
                          <a:ext uri="{FF2B5EF4-FFF2-40B4-BE49-F238E27FC236}">
                            <a16:creationId xmlns:a16="http://schemas.microsoft.com/office/drawing/2014/main" id="{DF3E652B-66CC-243F-575C-766092A73CDE}"/>
                          </a:ext>
                        </a:extLst>
                      </p:cNvPr>
                      <p:cNvPicPr/>
                      <p:nvPr/>
                    </p:nvPicPr>
                    <p:blipFill>
                      <a:blip r:embed="rId30"/>
                      <a:stretch>
                        <a:fillRect/>
                      </a:stretch>
                    </p:blipFill>
                    <p:spPr>
                      <a:xfrm>
                        <a:off x="1976911" y="2616399"/>
                        <a:ext cx="450850" cy="200025"/>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DC25D0A5-0B2C-A2F9-BBD1-442D34768EF5}"/>
              </a:ext>
            </a:extLst>
          </p:cNvPr>
          <p:cNvGraphicFramePr>
            <a:graphicFrameLocks noChangeAspect="1"/>
          </p:cNvGraphicFramePr>
          <p:nvPr>
            <p:extLst>
              <p:ext uri="{D42A27DB-BD31-4B8C-83A1-F6EECF244321}">
                <p14:modId xmlns:p14="http://schemas.microsoft.com/office/powerpoint/2010/main" val="588257504"/>
              </p:ext>
            </p:extLst>
          </p:nvPr>
        </p:nvGraphicFramePr>
        <p:xfrm>
          <a:off x="3623341" y="2577396"/>
          <a:ext cx="136446" cy="188925"/>
        </p:xfrm>
        <a:graphic>
          <a:graphicData uri="http://schemas.openxmlformats.org/presentationml/2006/ole">
            <mc:AlternateContent xmlns:mc="http://schemas.openxmlformats.org/markup-compatibility/2006">
              <mc:Choice xmlns:v="urn:schemas-microsoft-com:vml" Requires="v">
                <p:oleObj name="Equation" r:id="rId31" imgW="164880" imgH="228600" progId="Equation.DSMT4">
                  <p:embed/>
                </p:oleObj>
              </mc:Choice>
              <mc:Fallback>
                <p:oleObj name="Equation" r:id="rId31" imgW="164880" imgH="228600" progId="Equation.DSMT4">
                  <p:embed/>
                  <p:pic>
                    <p:nvPicPr>
                      <p:cNvPr id="25" name="Object 24">
                        <a:extLst>
                          <a:ext uri="{FF2B5EF4-FFF2-40B4-BE49-F238E27FC236}">
                            <a16:creationId xmlns:a16="http://schemas.microsoft.com/office/drawing/2014/main" id="{DC25D0A5-0B2C-A2F9-BBD1-442D34768EF5}"/>
                          </a:ext>
                        </a:extLst>
                      </p:cNvPr>
                      <p:cNvPicPr/>
                      <p:nvPr/>
                    </p:nvPicPr>
                    <p:blipFill>
                      <a:blip r:embed="rId32"/>
                      <a:stretch>
                        <a:fillRect/>
                      </a:stretch>
                    </p:blipFill>
                    <p:spPr>
                      <a:xfrm>
                        <a:off x="3623341" y="2577396"/>
                        <a:ext cx="136446" cy="188925"/>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5466B4B3-6F42-9F46-1A4E-DC14830F6984}"/>
              </a:ext>
            </a:extLst>
          </p:cNvPr>
          <p:cNvGraphicFramePr>
            <a:graphicFrameLocks noChangeAspect="1"/>
          </p:cNvGraphicFramePr>
          <p:nvPr>
            <p:extLst>
              <p:ext uri="{D42A27DB-BD31-4B8C-83A1-F6EECF244321}">
                <p14:modId xmlns:p14="http://schemas.microsoft.com/office/powerpoint/2010/main" val="1793136021"/>
              </p:ext>
            </p:extLst>
          </p:nvPr>
        </p:nvGraphicFramePr>
        <p:xfrm>
          <a:off x="4877277" y="2557399"/>
          <a:ext cx="734711" cy="199422"/>
        </p:xfrm>
        <a:graphic>
          <a:graphicData uri="http://schemas.openxmlformats.org/presentationml/2006/ole">
            <mc:AlternateContent xmlns:mc="http://schemas.openxmlformats.org/markup-compatibility/2006">
              <mc:Choice xmlns:v="urn:schemas-microsoft-com:vml" Requires="v">
                <p:oleObj name="Equation" r:id="rId33" imgW="888840" imgH="241200" progId="Equation.DSMT4">
                  <p:embed/>
                </p:oleObj>
              </mc:Choice>
              <mc:Fallback>
                <p:oleObj name="Equation" r:id="rId33" imgW="888840" imgH="241200" progId="Equation.DSMT4">
                  <p:embed/>
                  <p:pic>
                    <p:nvPicPr>
                      <p:cNvPr id="26" name="Object 25">
                        <a:extLst>
                          <a:ext uri="{FF2B5EF4-FFF2-40B4-BE49-F238E27FC236}">
                            <a16:creationId xmlns:a16="http://schemas.microsoft.com/office/drawing/2014/main" id="{5466B4B3-6F42-9F46-1A4E-DC14830F6984}"/>
                          </a:ext>
                        </a:extLst>
                      </p:cNvPr>
                      <p:cNvPicPr/>
                      <p:nvPr/>
                    </p:nvPicPr>
                    <p:blipFill>
                      <a:blip r:embed="rId34"/>
                      <a:stretch>
                        <a:fillRect/>
                      </a:stretch>
                    </p:blipFill>
                    <p:spPr>
                      <a:xfrm>
                        <a:off x="4877277" y="2557399"/>
                        <a:ext cx="734711" cy="199422"/>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276E947F-0599-2FFA-8E83-DE4D4A8E78F2}"/>
              </a:ext>
            </a:extLst>
          </p:cNvPr>
          <p:cNvGraphicFramePr>
            <a:graphicFrameLocks noChangeAspect="1"/>
          </p:cNvGraphicFramePr>
          <p:nvPr>
            <p:extLst>
              <p:ext uri="{D42A27DB-BD31-4B8C-83A1-F6EECF244321}">
                <p14:modId xmlns:p14="http://schemas.microsoft.com/office/powerpoint/2010/main" val="1232670430"/>
              </p:ext>
            </p:extLst>
          </p:nvPr>
        </p:nvGraphicFramePr>
        <p:xfrm>
          <a:off x="6180923" y="2572614"/>
          <a:ext cx="923636" cy="199422"/>
        </p:xfrm>
        <a:graphic>
          <a:graphicData uri="http://schemas.openxmlformats.org/presentationml/2006/ole">
            <mc:AlternateContent xmlns:mc="http://schemas.openxmlformats.org/markup-compatibility/2006">
              <mc:Choice xmlns:v="urn:schemas-microsoft-com:vml" Requires="v">
                <p:oleObj name="Equation" r:id="rId35" imgW="1117440" imgH="241200" progId="Equation.DSMT4">
                  <p:embed/>
                </p:oleObj>
              </mc:Choice>
              <mc:Fallback>
                <p:oleObj name="Equation" r:id="rId35" imgW="1117440" imgH="241200" progId="Equation.DSMT4">
                  <p:embed/>
                  <p:pic>
                    <p:nvPicPr>
                      <p:cNvPr id="27" name="Object 26">
                        <a:extLst>
                          <a:ext uri="{FF2B5EF4-FFF2-40B4-BE49-F238E27FC236}">
                            <a16:creationId xmlns:a16="http://schemas.microsoft.com/office/drawing/2014/main" id="{276E947F-0599-2FFA-8E83-DE4D4A8E78F2}"/>
                          </a:ext>
                        </a:extLst>
                      </p:cNvPr>
                      <p:cNvPicPr/>
                      <p:nvPr/>
                    </p:nvPicPr>
                    <p:blipFill>
                      <a:blip r:embed="rId36"/>
                      <a:stretch>
                        <a:fillRect/>
                      </a:stretch>
                    </p:blipFill>
                    <p:spPr>
                      <a:xfrm>
                        <a:off x="6180923" y="2572614"/>
                        <a:ext cx="923636" cy="199422"/>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E2C351A3-C09C-B63D-5228-A2F7C6B920A6}"/>
              </a:ext>
            </a:extLst>
          </p:cNvPr>
          <p:cNvGraphicFramePr>
            <a:graphicFrameLocks noChangeAspect="1"/>
          </p:cNvGraphicFramePr>
          <p:nvPr>
            <p:extLst>
              <p:ext uri="{D42A27DB-BD31-4B8C-83A1-F6EECF244321}">
                <p14:modId xmlns:p14="http://schemas.microsoft.com/office/powerpoint/2010/main" val="2754919725"/>
              </p:ext>
            </p:extLst>
          </p:nvPr>
        </p:nvGraphicFramePr>
        <p:xfrm>
          <a:off x="1710604" y="5581547"/>
          <a:ext cx="5641950" cy="495869"/>
        </p:xfrm>
        <a:graphic>
          <a:graphicData uri="http://schemas.openxmlformats.org/presentationml/2006/ole">
            <mc:AlternateContent xmlns:mc="http://schemas.openxmlformats.org/markup-compatibility/2006">
              <mc:Choice xmlns:v="urn:schemas-microsoft-com:vml" Requires="v">
                <p:oleObj name="Equation" r:id="rId37" imgW="3759120" imgH="330120" progId="Equation.DSMT4">
                  <p:embed/>
                </p:oleObj>
              </mc:Choice>
              <mc:Fallback>
                <p:oleObj name="Equation" r:id="rId37" imgW="3759120" imgH="330120" progId="Equation.DSMT4">
                  <p:embed/>
                  <p:pic>
                    <p:nvPicPr>
                      <p:cNvPr id="29" name="Object 28">
                        <a:extLst>
                          <a:ext uri="{FF2B5EF4-FFF2-40B4-BE49-F238E27FC236}">
                            <a16:creationId xmlns:a16="http://schemas.microsoft.com/office/drawing/2014/main" id="{E2C351A3-C09C-B63D-5228-A2F7C6B920A6}"/>
                          </a:ext>
                        </a:extLst>
                      </p:cNvPr>
                      <p:cNvPicPr/>
                      <p:nvPr/>
                    </p:nvPicPr>
                    <p:blipFill>
                      <a:blip r:embed="rId38"/>
                      <a:stretch>
                        <a:fillRect/>
                      </a:stretch>
                    </p:blipFill>
                    <p:spPr>
                      <a:xfrm>
                        <a:off x="1710604" y="5581547"/>
                        <a:ext cx="5641950" cy="495869"/>
                      </a:xfrm>
                      <a:prstGeom prst="rect">
                        <a:avLst/>
                      </a:prstGeom>
                    </p:spPr>
                  </p:pic>
                </p:oleObj>
              </mc:Fallback>
            </mc:AlternateContent>
          </a:graphicData>
        </a:graphic>
      </p:graphicFrame>
    </p:spTree>
    <p:extLst>
      <p:ext uri="{BB962C8B-B14F-4D97-AF65-F5344CB8AC3E}">
        <p14:creationId xmlns:p14="http://schemas.microsoft.com/office/powerpoint/2010/main" val="306017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a:bodyPr>
          <a:lstStyle/>
          <a:p>
            <a:r>
              <a:rPr lang="en-US" dirty="0"/>
              <a:t>By simply observing the sample regression equation, we cannot assess how well the predictor variables explain the variation in response variable.</a:t>
            </a:r>
          </a:p>
          <a:p>
            <a:r>
              <a:rPr lang="en-US" dirty="0"/>
              <a:t>Recall our first example:</a:t>
            </a:r>
          </a:p>
          <a:p>
            <a:endParaRPr lang="en-US" dirty="0"/>
          </a:p>
          <a:p>
            <a:r>
              <a:rPr lang="en-US" dirty="0"/>
              <a:t>We can develop different models:</a:t>
            </a:r>
          </a:p>
          <a:p>
            <a:pPr marL="0" indent="0">
              <a:buNone/>
            </a:pPr>
            <a:endParaRPr lang="en-US" dirty="0"/>
          </a:p>
          <a:p>
            <a:endParaRPr lang="en-US" dirty="0"/>
          </a:p>
          <a:p>
            <a:endParaRPr lang="en-US" dirty="0"/>
          </a:p>
        </p:txBody>
      </p:sp>
      <p:graphicFrame>
        <p:nvGraphicFramePr>
          <p:cNvPr id="6" name="Object 5">
            <a:extLst>
              <a:ext uri="{FF2B5EF4-FFF2-40B4-BE49-F238E27FC236}">
                <a16:creationId xmlns:a16="http://schemas.microsoft.com/office/drawing/2014/main" id="{945BC997-081C-ACFA-2E6E-364F2E7F90D8}"/>
              </a:ext>
            </a:extLst>
          </p:cNvPr>
          <p:cNvGraphicFramePr>
            <a:graphicFrameLocks noChangeAspect="1"/>
          </p:cNvGraphicFramePr>
          <p:nvPr>
            <p:extLst>
              <p:ext uri="{D42A27DB-BD31-4B8C-83A1-F6EECF244321}">
                <p14:modId xmlns:p14="http://schemas.microsoft.com/office/powerpoint/2010/main" val="2604815457"/>
              </p:ext>
            </p:extLst>
          </p:nvPr>
        </p:nvGraphicFramePr>
        <p:xfrm>
          <a:off x="1206169" y="3248818"/>
          <a:ext cx="6624637" cy="360363"/>
        </p:xfrm>
        <a:graphic>
          <a:graphicData uri="http://schemas.openxmlformats.org/presentationml/2006/ole">
            <mc:AlternateContent xmlns:mc="http://schemas.openxmlformats.org/markup-compatibility/2006">
              <mc:Choice xmlns:v="urn:schemas-microsoft-com:vml" Requires="v">
                <p:oleObj name="Equation" r:id="rId3" imgW="6083280" imgH="330120" progId="Equation.DSMT4">
                  <p:embed/>
                </p:oleObj>
              </mc:Choice>
              <mc:Fallback>
                <p:oleObj name="Equation" r:id="rId3" imgW="6083280" imgH="330120" progId="Equation.DSMT4">
                  <p:embed/>
                  <p:pic>
                    <p:nvPicPr>
                      <p:cNvPr id="6" name="Object 5">
                        <a:extLst>
                          <a:ext uri="{FF2B5EF4-FFF2-40B4-BE49-F238E27FC236}">
                            <a16:creationId xmlns:a16="http://schemas.microsoft.com/office/drawing/2014/main" id="{945BC997-081C-ACFA-2E6E-364F2E7F90D8}"/>
                          </a:ext>
                        </a:extLst>
                      </p:cNvPr>
                      <p:cNvPicPr/>
                      <p:nvPr/>
                    </p:nvPicPr>
                    <p:blipFill>
                      <a:blip r:embed="rId4"/>
                      <a:stretch>
                        <a:fillRect/>
                      </a:stretch>
                    </p:blipFill>
                    <p:spPr>
                      <a:xfrm>
                        <a:off x="1206169" y="3248818"/>
                        <a:ext cx="6624637" cy="3603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5F5817AE-B5A1-2AEB-B051-C685A79CBE3D}"/>
              </a:ext>
            </a:extLst>
          </p:cNvPr>
          <p:cNvGraphicFramePr>
            <a:graphicFrameLocks noChangeAspect="1"/>
          </p:cNvGraphicFramePr>
          <p:nvPr>
            <p:extLst>
              <p:ext uri="{D42A27DB-BD31-4B8C-83A1-F6EECF244321}">
                <p14:modId xmlns:p14="http://schemas.microsoft.com/office/powerpoint/2010/main" val="832638189"/>
              </p:ext>
            </p:extLst>
          </p:nvPr>
        </p:nvGraphicFramePr>
        <p:xfrm>
          <a:off x="1331640" y="4273863"/>
          <a:ext cx="4418745" cy="374226"/>
        </p:xfrm>
        <a:graphic>
          <a:graphicData uri="http://schemas.openxmlformats.org/presentationml/2006/ole">
            <mc:AlternateContent xmlns:mc="http://schemas.openxmlformats.org/markup-compatibility/2006">
              <mc:Choice xmlns:v="urn:schemas-microsoft-com:vml" Requires="v">
                <p:oleObj name="Equation" r:id="rId5" imgW="3898800" imgH="330120" progId="Equation.DSMT4">
                  <p:embed/>
                </p:oleObj>
              </mc:Choice>
              <mc:Fallback>
                <p:oleObj name="Equation" r:id="rId5" imgW="3898800" imgH="330120" progId="Equation.DSMT4">
                  <p:embed/>
                  <p:pic>
                    <p:nvPicPr>
                      <p:cNvPr id="7" name="Object 6">
                        <a:extLst>
                          <a:ext uri="{FF2B5EF4-FFF2-40B4-BE49-F238E27FC236}">
                            <a16:creationId xmlns:a16="http://schemas.microsoft.com/office/drawing/2014/main" id="{5F5817AE-B5A1-2AEB-B051-C685A79CBE3D}"/>
                          </a:ext>
                        </a:extLst>
                      </p:cNvPr>
                      <p:cNvPicPr/>
                      <p:nvPr/>
                    </p:nvPicPr>
                    <p:blipFill>
                      <a:blip r:embed="rId6"/>
                      <a:stretch>
                        <a:fillRect/>
                      </a:stretch>
                    </p:blipFill>
                    <p:spPr>
                      <a:xfrm>
                        <a:off x="1331640" y="4273863"/>
                        <a:ext cx="4418745" cy="374226"/>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857B4484-5633-C09E-48B3-1FBAA495AB99}"/>
              </a:ext>
            </a:extLst>
          </p:cNvPr>
          <p:cNvGraphicFramePr>
            <a:graphicFrameLocks noChangeAspect="1"/>
          </p:cNvGraphicFramePr>
          <p:nvPr>
            <p:extLst>
              <p:ext uri="{D42A27DB-BD31-4B8C-83A1-F6EECF244321}">
                <p14:modId xmlns:p14="http://schemas.microsoft.com/office/powerpoint/2010/main" val="4155999189"/>
              </p:ext>
            </p:extLst>
          </p:nvPr>
        </p:nvGraphicFramePr>
        <p:xfrm>
          <a:off x="1331640" y="4880840"/>
          <a:ext cx="6721475" cy="373062"/>
        </p:xfrm>
        <a:graphic>
          <a:graphicData uri="http://schemas.openxmlformats.org/presentationml/2006/ole">
            <mc:AlternateContent xmlns:mc="http://schemas.openxmlformats.org/markup-compatibility/2006">
              <mc:Choice xmlns:v="urn:schemas-microsoft-com:vml" Requires="v">
                <p:oleObj name="Equation" r:id="rId7" imgW="5930640" imgH="330120" progId="Equation.DSMT4">
                  <p:embed/>
                </p:oleObj>
              </mc:Choice>
              <mc:Fallback>
                <p:oleObj name="Equation" r:id="rId7" imgW="5930640" imgH="330120" progId="Equation.DSMT4">
                  <p:embed/>
                  <p:pic>
                    <p:nvPicPr>
                      <p:cNvPr id="8" name="Object 7">
                        <a:extLst>
                          <a:ext uri="{FF2B5EF4-FFF2-40B4-BE49-F238E27FC236}">
                            <a16:creationId xmlns:a16="http://schemas.microsoft.com/office/drawing/2014/main" id="{857B4484-5633-C09E-48B3-1FBAA495AB99}"/>
                          </a:ext>
                        </a:extLst>
                      </p:cNvPr>
                      <p:cNvPicPr/>
                      <p:nvPr/>
                    </p:nvPicPr>
                    <p:blipFill>
                      <a:blip r:embed="rId8"/>
                      <a:stretch>
                        <a:fillRect/>
                      </a:stretch>
                    </p:blipFill>
                    <p:spPr>
                      <a:xfrm>
                        <a:off x="1331640" y="4880840"/>
                        <a:ext cx="6721475" cy="37306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58FC26FE-2A03-53CA-62C6-CF2577B4E3D3}"/>
              </a:ext>
            </a:extLst>
          </p:cNvPr>
          <p:cNvGraphicFramePr>
            <a:graphicFrameLocks noChangeAspect="1"/>
          </p:cNvGraphicFramePr>
          <p:nvPr>
            <p:extLst>
              <p:ext uri="{D42A27DB-BD31-4B8C-83A1-F6EECF244321}">
                <p14:modId xmlns:p14="http://schemas.microsoft.com/office/powerpoint/2010/main" val="2971607198"/>
              </p:ext>
            </p:extLst>
          </p:nvPr>
        </p:nvGraphicFramePr>
        <p:xfrm>
          <a:off x="1313194" y="5474132"/>
          <a:ext cx="7762875" cy="376237"/>
        </p:xfrm>
        <a:graphic>
          <a:graphicData uri="http://schemas.openxmlformats.org/presentationml/2006/ole">
            <mc:AlternateContent xmlns:mc="http://schemas.openxmlformats.org/markup-compatibility/2006">
              <mc:Choice xmlns:v="urn:schemas-microsoft-com:vml" Requires="v">
                <p:oleObj name="Equation" r:id="rId9" imgW="6781680" imgH="330120" progId="Equation.DSMT4">
                  <p:embed/>
                </p:oleObj>
              </mc:Choice>
              <mc:Fallback>
                <p:oleObj name="Equation" r:id="rId9" imgW="6781680" imgH="330120" progId="Equation.DSMT4">
                  <p:embed/>
                  <p:pic>
                    <p:nvPicPr>
                      <p:cNvPr id="9" name="Object 8">
                        <a:extLst>
                          <a:ext uri="{FF2B5EF4-FFF2-40B4-BE49-F238E27FC236}">
                            <a16:creationId xmlns:a16="http://schemas.microsoft.com/office/drawing/2014/main" id="{58FC26FE-2A03-53CA-62C6-CF2577B4E3D3}"/>
                          </a:ext>
                        </a:extLst>
                      </p:cNvPr>
                      <p:cNvPicPr/>
                      <p:nvPr/>
                    </p:nvPicPr>
                    <p:blipFill>
                      <a:blip r:embed="rId10"/>
                      <a:stretch>
                        <a:fillRect/>
                      </a:stretch>
                    </p:blipFill>
                    <p:spPr>
                      <a:xfrm>
                        <a:off x="1313194" y="5474132"/>
                        <a:ext cx="7762875" cy="376237"/>
                      </a:xfrm>
                      <a:prstGeom prst="rect">
                        <a:avLst/>
                      </a:prstGeom>
                    </p:spPr>
                  </p:pic>
                </p:oleObj>
              </mc:Fallback>
            </mc:AlternateContent>
          </a:graphicData>
        </a:graphic>
      </p:graphicFrame>
    </p:spTree>
    <p:extLst>
      <p:ext uri="{BB962C8B-B14F-4D97-AF65-F5344CB8AC3E}">
        <p14:creationId xmlns:p14="http://schemas.microsoft.com/office/powerpoint/2010/main" val="1507773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18</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a:bodyPr>
              <a:lstStyle/>
              <a:p>
                <a:r>
                  <a:rPr lang="en-US" b="1" dirty="0"/>
                  <a:t>Goodness-of-fit measures: </a:t>
                </a:r>
                <a:r>
                  <a:rPr lang="en-US" dirty="0"/>
                  <a:t>summarize how well the sample regression equation fits the data.</a:t>
                </a:r>
              </a:p>
              <a:p>
                <a:pPr marL="514350" indent="-514350">
                  <a:buFont typeface="+mj-lt"/>
                  <a:buAutoNum type="arabicPeriod"/>
                </a:pPr>
                <a:r>
                  <a:rPr lang="en-US" b="1" dirty="0"/>
                  <a:t>The standard error of estimate:</a:t>
                </a:r>
              </a:p>
              <a:p>
                <a:pPr lvl="1"/>
                <a:r>
                  <a:rPr lang="en-US" dirty="0"/>
                  <a:t>Residual is the difference between the observed and predicted value of the response, </a:t>
                </a:r>
                <a14:m>
                  <m:oMath xmlns:m="http://schemas.openxmlformats.org/officeDocument/2006/math">
                    <m:sSub>
                      <m:sSubPr>
                        <m:ctrlPr>
                          <a:rPr lang="en-CA" i="1" smtClean="0">
                            <a:latin typeface="Cambria Math" panose="02040503050406030204" pitchFamily="18" charset="0"/>
                          </a:rPr>
                        </m:ctrlPr>
                      </m:sSubPr>
                      <m:e>
                        <m:r>
                          <a:rPr lang="en-CA" b="0" i="1" smtClean="0">
                            <a:latin typeface="Cambria Math" panose="02040503050406030204" pitchFamily="18" charset="0"/>
                          </a:rPr>
                          <m:t>𝑒</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r>
                      <a:rPr lang="en-CA" i="1" smtClean="0">
                        <a:latin typeface="Cambria Math" panose="02040503050406030204" pitchFamily="18" charset="0"/>
                      </a:rPr>
                      <m:t>−</m:t>
                    </m:r>
                    <m:acc>
                      <m:accPr>
                        <m:chr m:val="̂"/>
                        <m:ctrlPr>
                          <a:rPr lang="en-CA" i="1">
                            <a:latin typeface="Cambria Math" panose="02040503050406030204" pitchFamily="18" charset="0"/>
                          </a:rPr>
                        </m:ctrlPr>
                      </m:accPr>
                      <m:e>
                        <m:r>
                          <a:rPr lang="en-CA" b="0" i="1" smtClean="0">
                            <a:latin typeface="Cambria Math" panose="02040503050406030204" pitchFamily="18" charset="0"/>
                          </a:rPr>
                          <m:t>𝑦</m:t>
                        </m:r>
                      </m:e>
                    </m:acc>
                  </m:oMath>
                </a14:m>
                <a:endParaRPr lang="en-US" dirty="0"/>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a:stretch>
              </a:blipFill>
            </p:spPr>
            <p:txBody>
              <a:bodyPr/>
              <a:lstStyle/>
              <a:p>
                <a:r>
                  <a:rPr lang="en-US">
                    <a:noFill/>
                  </a:rPr>
                  <a:t> </a:t>
                </a:r>
              </a:p>
            </p:txBody>
          </p:sp>
        </mc:Fallback>
      </mc:AlternateContent>
    </p:spTree>
    <p:extLst>
      <p:ext uri="{BB962C8B-B14F-4D97-AF65-F5344CB8AC3E}">
        <p14:creationId xmlns:p14="http://schemas.microsoft.com/office/powerpoint/2010/main" val="3539386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19</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a:bodyPr>
              <a:lstStyle/>
              <a:p>
                <a:r>
                  <a:rPr lang="en-US" b="1" dirty="0"/>
                  <a:t>Goodness-of-fit measures: </a:t>
                </a:r>
                <a:r>
                  <a:rPr lang="en-US" dirty="0"/>
                  <a:t>summarize how well the sample regression equation fits the data.</a:t>
                </a:r>
              </a:p>
              <a:p>
                <a:pPr marL="514350" indent="-514350">
                  <a:buFont typeface="+mj-lt"/>
                  <a:buAutoNum type="arabicPeriod"/>
                </a:pPr>
                <a:r>
                  <a:rPr lang="en-US" b="1" dirty="0"/>
                  <a:t>The standard error of estimate:</a:t>
                </a:r>
              </a:p>
              <a:p>
                <a:pPr lvl="1"/>
                <a:r>
                  <a:rPr lang="en-US" dirty="0"/>
                  <a:t>Residual is the difference between the observed and predicted value of the response, </a:t>
                </a:r>
                <a14:m>
                  <m:oMath xmlns:m="http://schemas.openxmlformats.org/officeDocument/2006/math">
                    <m:sSub>
                      <m:sSubPr>
                        <m:ctrlPr>
                          <a:rPr lang="en-CA" i="1" smtClean="0">
                            <a:latin typeface="Cambria Math" panose="02040503050406030204" pitchFamily="18" charset="0"/>
                          </a:rPr>
                        </m:ctrlPr>
                      </m:sSubPr>
                      <m:e>
                        <m:r>
                          <a:rPr lang="en-CA" b="0" i="1" smtClean="0">
                            <a:latin typeface="Cambria Math" panose="02040503050406030204" pitchFamily="18" charset="0"/>
                          </a:rPr>
                          <m:t>𝑒</m:t>
                        </m:r>
                      </m:e>
                      <m:sub>
                        <m:r>
                          <a:rPr lang="en-CA" b="0" i="1" smtClean="0">
                            <a:latin typeface="Cambria Math" panose="02040503050406030204" pitchFamily="18" charset="0"/>
                          </a:rPr>
                          <m:t>𝑖</m:t>
                        </m:r>
                      </m:sub>
                    </m:sSub>
                    <m:r>
                      <a:rPr lang="en-CA" b="0" i="1" smtClean="0">
                        <a:latin typeface="Cambria Math" panose="02040503050406030204" pitchFamily="18" charset="0"/>
                      </a:rPr>
                      <m:t>=</m:t>
                    </m:r>
                    <m:r>
                      <a:rPr lang="en-CA" i="1" smtClean="0">
                        <a:latin typeface="Cambria Math" panose="02040503050406030204" pitchFamily="18" charset="0"/>
                      </a:rPr>
                      <m:t>𝑦</m:t>
                    </m:r>
                    <m:r>
                      <a:rPr lang="en-CA" i="1" smtClean="0">
                        <a:latin typeface="Cambria Math" panose="02040503050406030204" pitchFamily="18" charset="0"/>
                      </a:rPr>
                      <m:t>−</m:t>
                    </m:r>
                    <m:acc>
                      <m:accPr>
                        <m:chr m:val="̂"/>
                        <m:ctrlPr>
                          <a:rPr lang="en-CA" i="1">
                            <a:latin typeface="Cambria Math" panose="02040503050406030204" pitchFamily="18" charset="0"/>
                          </a:rPr>
                        </m:ctrlPr>
                      </m:accPr>
                      <m:e>
                        <m:r>
                          <a:rPr lang="en-CA" b="0" i="1" smtClean="0">
                            <a:latin typeface="Cambria Math" panose="02040503050406030204" pitchFamily="18" charset="0"/>
                          </a:rPr>
                          <m:t>𝑦</m:t>
                        </m:r>
                      </m:e>
                    </m:acc>
                  </m:oMath>
                </a14:m>
                <a:endParaRPr lang="en-US" dirty="0"/>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a:stretch>
              </a:blipFill>
            </p:spPr>
            <p:txBody>
              <a:bodyPr/>
              <a:lstStyle/>
              <a:p>
                <a:r>
                  <a:rPr lang="en-US">
                    <a:noFill/>
                  </a:rPr>
                  <a:t> </a:t>
                </a:r>
              </a:p>
            </p:txBody>
          </p:sp>
        </mc:Fallback>
      </mc:AlternateContent>
      <p:pic>
        <p:nvPicPr>
          <p:cNvPr id="5" name="Content Placeholder 4" descr="A scatter plot of y versus x shows data points and a regression line.">
            <a:extLst>
              <a:ext uri="{FF2B5EF4-FFF2-40B4-BE49-F238E27FC236}">
                <a16:creationId xmlns:a16="http://schemas.microsoft.com/office/drawing/2014/main" id="{D497B7B1-6D62-1173-DA9F-C20A4E3930A4}"/>
              </a:ext>
            </a:extLst>
          </p:cNvPr>
          <p:cNvPicPr>
            <a:picLocks noChangeAspect="1"/>
          </p:cNvPicPr>
          <p:nvPr/>
        </p:nvPicPr>
        <p:blipFill rotWithShape="1">
          <a:blip r:embed="rId3"/>
          <a:srcRect t="4195"/>
          <a:stretch/>
        </p:blipFill>
        <p:spPr>
          <a:xfrm>
            <a:off x="899592" y="1028518"/>
            <a:ext cx="7756427" cy="4380194"/>
          </a:xfrm>
          <a:prstGeom prst="rect">
            <a:avLst/>
          </a:prstGeom>
        </p:spPr>
      </p:pic>
    </p:spTree>
    <p:extLst>
      <p:ext uri="{BB962C8B-B14F-4D97-AF65-F5344CB8AC3E}">
        <p14:creationId xmlns:p14="http://schemas.microsoft.com/office/powerpoint/2010/main" val="3230430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a:bodyPr>
              <a:lstStyle/>
              <a:p>
                <a:r>
                  <a:rPr lang="en-US" b="1" dirty="0"/>
                  <a:t>Goodness-of-fit measures: </a:t>
                </a:r>
                <a:r>
                  <a:rPr lang="en-US" dirty="0"/>
                  <a:t>summarize how well the sample regression equation fits the data.</a:t>
                </a:r>
              </a:p>
              <a:p>
                <a:pPr marL="514350" indent="-514350">
                  <a:buFont typeface="+mj-lt"/>
                  <a:buAutoNum type="arabicPeriod"/>
                </a:pPr>
                <a:r>
                  <a:rPr lang="en-US" b="1" dirty="0"/>
                  <a:t>The standard error of estimate:</a:t>
                </a:r>
              </a:p>
              <a:p>
                <a:pPr lvl="1"/>
                <a:r>
                  <a:rPr lang="en-US" dirty="0"/>
                  <a:t>Residual is the difference between the observed and predicted value of the response, </a:t>
                </a:r>
                <a14:m>
                  <m:oMath xmlns:m="http://schemas.openxmlformats.org/officeDocument/2006/math">
                    <m:sSub>
                      <m:sSubPr>
                        <m:ctrlPr>
                          <a:rPr lang="en-CA" i="1" smtClean="0">
                            <a:latin typeface="Cambria Math" panose="02040503050406030204" pitchFamily="18" charset="0"/>
                          </a:rPr>
                        </m:ctrlPr>
                      </m:sSubPr>
                      <m:e>
                        <m:r>
                          <a:rPr lang="en-CA" b="0" i="1" smtClean="0">
                            <a:latin typeface="Cambria Math" panose="02040503050406030204" pitchFamily="18" charset="0"/>
                          </a:rPr>
                          <m:t>𝑒</m:t>
                        </m:r>
                      </m:e>
                      <m:sub>
                        <m:r>
                          <a:rPr lang="en-CA" b="0" i="1" smtClean="0">
                            <a:latin typeface="Cambria Math" panose="02040503050406030204" pitchFamily="18" charset="0"/>
                          </a:rPr>
                          <m:t>𝑖</m:t>
                        </m:r>
                      </m:sub>
                    </m:sSub>
                    <m:r>
                      <a:rPr lang="en-CA" b="0" i="1" smtClean="0">
                        <a:latin typeface="Cambria Math" panose="02040503050406030204" pitchFamily="18" charset="0"/>
                      </a:rPr>
                      <m:t>=</m:t>
                    </m:r>
                    <m:r>
                      <a:rPr lang="en-CA" i="1" smtClean="0">
                        <a:latin typeface="Cambria Math" panose="02040503050406030204" pitchFamily="18" charset="0"/>
                      </a:rPr>
                      <m:t>𝑦</m:t>
                    </m:r>
                    <m:r>
                      <a:rPr lang="en-CA" i="1" smtClean="0">
                        <a:latin typeface="Cambria Math" panose="02040503050406030204" pitchFamily="18" charset="0"/>
                      </a:rPr>
                      <m:t>−</m:t>
                    </m:r>
                    <m:acc>
                      <m:accPr>
                        <m:chr m:val="̂"/>
                        <m:ctrlPr>
                          <a:rPr lang="en-CA" i="1">
                            <a:latin typeface="Cambria Math" panose="02040503050406030204" pitchFamily="18" charset="0"/>
                          </a:rPr>
                        </m:ctrlPr>
                      </m:accPr>
                      <m:e>
                        <m:r>
                          <a:rPr lang="en-CA" b="0" i="1" smtClean="0">
                            <a:latin typeface="Cambria Math" panose="02040503050406030204" pitchFamily="18" charset="0"/>
                          </a:rPr>
                          <m:t>𝑦</m:t>
                        </m:r>
                      </m:e>
                    </m:acc>
                  </m:oMath>
                </a14:m>
                <a:r>
                  <a:rPr lang="en-US" dirty="0"/>
                  <a:t>.</a:t>
                </a:r>
              </a:p>
              <a:p>
                <a:pPr lvl="1"/>
                <a:r>
                  <a:rPr lang="en-US" sz="2400" dirty="0"/>
                  <a:t>The sample regression equation provides a good fit when the dispersion of the residuals is relatively small.</a:t>
                </a:r>
                <a:endParaRPr lang="en-US" dirty="0"/>
              </a:p>
              <a:p>
                <a:pPr marL="320040" lvl="1"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𝑒</m:t>
                          </m:r>
                        </m:sub>
                      </m:sSub>
                      <m:r>
                        <a:rPr lang="en-CA" b="0" i="1" smtClean="0">
                          <a:latin typeface="Cambria Math" panose="02040503050406030204" pitchFamily="18" charset="0"/>
                        </a:rPr>
                        <m:t>=</m:t>
                      </m:r>
                      <m:rad>
                        <m:radPr>
                          <m:degHide m:val="on"/>
                          <m:ctrlPr>
                            <a:rPr lang="en-CA" b="0" i="1" smtClean="0">
                              <a:latin typeface="Cambria Math" panose="02040503050406030204" pitchFamily="18" charset="0"/>
                            </a:rPr>
                          </m:ctrlPr>
                        </m:radPr>
                        <m:deg/>
                        <m:e>
                          <m:f>
                            <m:fPr>
                              <m:ctrlPr>
                                <a:rPr lang="en-CA" b="0" i="1" smtClean="0">
                                  <a:latin typeface="Cambria Math" panose="02040503050406030204" pitchFamily="18" charset="0"/>
                                </a:rPr>
                              </m:ctrlPr>
                            </m:fPr>
                            <m:num>
                              <m:nary>
                                <m:naryPr>
                                  <m:chr m:val="∑"/>
                                  <m:subHide m:val="on"/>
                                  <m:supHide m:val="on"/>
                                  <m:ctrlPr>
                                    <a:rPr lang="en-CA" i="1">
                                      <a:latin typeface="Cambria Math" panose="02040503050406030204" pitchFamily="18" charset="0"/>
                                    </a:rPr>
                                  </m:ctrlPr>
                                </m:naryPr>
                                <m:sub/>
                                <m:sup/>
                                <m:e>
                                  <m:sSup>
                                    <m:sSupPr>
                                      <m:ctrlPr>
                                        <a:rPr lang="en-CA" i="1">
                                          <a:latin typeface="Cambria Math" panose="02040503050406030204" pitchFamily="18" charset="0"/>
                                        </a:rPr>
                                      </m:ctrlPr>
                                    </m:sSupPr>
                                    <m:e>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i="1">
                                          <a:latin typeface="Cambria Math" panose="02040503050406030204" pitchFamily="18" charset="0"/>
                                        </a:rPr>
                                        <m:t>−</m:t>
                                      </m:r>
                                      <m:acc>
                                        <m:accPr>
                                          <m:chr m:val="̂"/>
                                          <m:ctrlPr>
                                            <a:rPr lang="en-CA" i="1">
                                              <a:latin typeface="Cambria Math" panose="02040503050406030204" pitchFamily="18" charset="0"/>
                                            </a:rPr>
                                          </m:ctrlPr>
                                        </m:accPr>
                                        <m:e>
                                          <m:r>
                                            <a:rPr lang="en-CA" i="1">
                                              <a:latin typeface="Cambria Math" panose="02040503050406030204" pitchFamily="18" charset="0"/>
                                            </a:rPr>
                                            <m:t>𝑦</m:t>
                                          </m:r>
                                        </m:e>
                                      </m:acc>
                                      <m:r>
                                        <a:rPr lang="en-CA" i="1">
                                          <a:latin typeface="Cambria Math" panose="02040503050406030204" pitchFamily="18" charset="0"/>
                                        </a:rPr>
                                        <m:t>)</m:t>
                                      </m:r>
                                    </m:e>
                                    <m:sup>
                                      <m:r>
                                        <a:rPr lang="en-CA" i="1">
                                          <a:latin typeface="Cambria Math" panose="02040503050406030204" pitchFamily="18" charset="0"/>
                                        </a:rPr>
                                        <m:t>2</m:t>
                                      </m:r>
                                    </m:sup>
                                  </m:sSup>
                                </m:e>
                              </m:nary>
                            </m:num>
                            <m:den>
                              <m:r>
                                <a:rPr lang="en-CA" b="0" i="1" smtClean="0">
                                  <a:latin typeface="Cambria Math" panose="02040503050406030204" pitchFamily="18" charset="0"/>
                                </a:rPr>
                                <m:t>𝑛</m:t>
                              </m:r>
                              <m:r>
                                <a:rPr lang="en-CA" b="0" i="1" smtClean="0">
                                  <a:latin typeface="Cambria Math" panose="02040503050406030204" pitchFamily="18" charset="0"/>
                                </a:rPr>
                                <m:t>−</m:t>
                              </m:r>
                              <m:r>
                                <a:rPr lang="en-CA" b="0" i="1" smtClean="0">
                                  <a:latin typeface="Cambria Math" panose="02040503050406030204" pitchFamily="18" charset="0"/>
                                </a:rPr>
                                <m:t>𝑘</m:t>
                              </m:r>
                              <m:r>
                                <a:rPr lang="en-CA" b="0" i="1" smtClean="0">
                                  <a:latin typeface="Cambria Math" panose="02040503050406030204" pitchFamily="18" charset="0"/>
                                </a:rPr>
                                <m:t>−1</m:t>
                              </m:r>
                            </m:den>
                          </m:f>
                        </m:e>
                      </m:rad>
                      <m:r>
                        <a:rPr lang="en-CA" b="0" i="1" smtClean="0">
                          <a:latin typeface="Cambria Math" panose="02040503050406030204" pitchFamily="18" charset="0"/>
                        </a:rPr>
                        <m:t>=</m:t>
                      </m:r>
                      <m:rad>
                        <m:radPr>
                          <m:degHide m:val="on"/>
                          <m:ctrlPr>
                            <a:rPr lang="en-CA" i="1">
                              <a:latin typeface="Cambria Math" panose="02040503050406030204" pitchFamily="18" charset="0"/>
                            </a:rPr>
                          </m:ctrlPr>
                        </m:radPr>
                        <m:deg/>
                        <m:e>
                          <m:f>
                            <m:fPr>
                              <m:ctrlPr>
                                <a:rPr lang="en-CA" i="1">
                                  <a:latin typeface="Cambria Math" panose="02040503050406030204" pitchFamily="18" charset="0"/>
                                </a:rPr>
                              </m:ctrlPr>
                            </m:fPr>
                            <m:num>
                              <m:r>
                                <a:rPr lang="en-CA" b="0" i="1" smtClean="0">
                                  <a:latin typeface="Cambria Math" panose="02040503050406030204" pitchFamily="18" charset="0"/>
                                </a:rPr>
                                <m:t>𝑆𝑆𝐸</m:t>
                              </m:r>
                            </m:num>
                            <m:den>
                              <m:r>
                                <a:rPr lang="en-CA" i="1">
                                  <a:latin typeface="Cambria Math" panose="02040503050406030204" pitchFamily="18" charset="0"/>
                                </a:rPr>
                                <m:t>𝑛</m:t>
                              </m:r>
                              <m:r>
                                <a:rPr lang="en-CA" i="1">
                                  <a:latin typeface="Cambria Math" panose="02040503050406030204" pitchFamily="18" charset="0"/>
                                </a:rPr>
                                <m:t>−</m:t>
                              </m:r>
                              <m:r>
                                <a:rPr lang="en-CA" i="1">
                                  <a:latin typeface="Cambria Math" panose="02040503050406030204" pitchFamily="18" charset="0"/>
                                </a:rPr>
                                <m:t>𝑘</m:t>
                              </m:r>
                              <m:r>
                                <a:rPr lang="en-CA" i="1">
                                  <a:latin typeface="Cambria Math" panose="02040503050406030204" pitchFamily="18" charset="0"/>
                                </a:rPr>
                                <m:t>−1</m:t>
                              </m:r>
                            </m:den>
                          </m:f>
                        </m:e>
                      </m:rad>
                    </m:oMath>
                  </m:oMathPara>
                </a14:m>
                <a:endParaRPr lang="en-US" dirty="0"/>
              </a:p>
              <a:p>
                <a:pPr lvl="1"/>
                <a:r>
                  <a:rPr lang="en-US" dirty="0"/>
                  <a:t>SSE: sum of squared error</a:t>
                </a:r>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r="-1307"/>
                </a:stretch>
              </a:blipFill>
            </p:spPr>
            <p:txBody>
              <a:bodyPr/>
              <a:lstStyle/>
              <a:p>
                <a:r>
                  <a:rPr lang="en-US">
                    <a:noFill/>
                  </a:rPr>
                  <a:t> </a:t>
                </a:r>
              </a:p>
            </p:txBody>
          </p:sp>
        </mc:Fallback>
      </mc:AlternateContent>
    </p:spTree>
    <p:extLst>
      <p:ext uri="{BB962C8B-B14F-4D97-AF65-F5344CB8AC3E}">
        <p14:creationId xmlns:p14="http://schemas.microsoft.com/office/powerpoint/2010/main" val="3110708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a:xfrm>
                <a:off x="914400" y="1447800"/>
                <a:ext cx="7772400" cy="5219700"/>
              </a:xfrm>
            </p:spPr>
            <p:txBody>
              <a:bodyPr>
                <a:normAutofit/>
              </a:bodyPr>
              <a:lstStyle/>
              <a:p>
                <a:pPr marL="514350" indent="-514350">
                  <a:buFont typeface="+mj-lt"/>
                  <a:buAutoNum type="arabicPeriod" startAt="2"/>
                </a:pPr>
                <a:r>
                  <a:rPr lang="en-US" b="1" dirty="0"/>
                  <a:t>The coefficient of determination:</a:t>
                </a:r>
              </a:p>
              <a:p>
                <a:pPr lvl="1"/>
                <a:r>
                  <a:rPr lang="en-CA" dirty="0"/>
                  <a:t>Quantifies the sample variation in the response that is explained by the sample regression equation.</a:t>
                </a:r>
                <a:endParaRPr lang="en-US" dirty="0"/>
              </a:p>
              <a:p>
                <a:pPr lvl="1"/>
                <a:r>
                  <a:rPr lang="en-US" sz="2400" dirty="0"/>
                  <a:t>The sample regression equation provides a good fit when the dispersion of the residuals is relatively small.</a:t>
                </a:r>
                <a:endParaRPr lang="en-US" dirty="0"/>
              </a:p>
              <a:p>
                <a:pPr marL="320040" lvl="1"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r>
                        <a:rPr lang="en-CA" b="0" i="1" smtClean="0">
                          <a:latin typeface="Cambria Math" panose="02040503050406030204" pitchFamily="18" charset="0"/>
                        </a:rPr>
                        <m:t>=1−</m:t>
                      </m:r>
                      <m:f>
                        <m:fPr>
                          <m:ctrlPr>
                            <a:rPr lang="en-CA" b="0" i="1" smtClean="0">
                              <a:latin typeface="Cambria Math" panose="02040503050406030204" pitchFamily="18" charset="0"/>
                            </a:rPr>
                          </m:ctrlPr>
                        </m:fPr>
                        <m:num>
                          <m:r>
                            <a:rPr lang="en-CA" b="0" i="1" smtClean="0">
                              <a:latin typeface="Cambria Math" panose="02040503050406030204" pitchFamily="18" charset="0"/>
                            </a:rPr>
                            <m:t>𝑆𝑆𝑅</m:t>
                          </m:r>
                        </m:num>
                        <m:den>
                          <m:r>
                            <a:rPr lang="en-CA" b="0" i="1" smtClean="0">
                              <a:latin typeface="Cambria Math" panose="02040503050406030204" pitchFamily="18" charset="0"/>
                            </a:rPr>
                            <m:t>𝑆𝑆𝑇</m:t>
                          </m:r>
                        </m:den>
                      </m:f>
                    </m:oMath>
                  </m:oMathPara>
                </a14:m>
                <a:endParaRPr lang="en-US" dirty="0"/>
              </a:p>
              <a:p>
                <a:pPr lvl="1"/>
                <a:r>
                  <a:rPr lang="en-US" dirty="0"/>
                  <a:t>SST: Total sum of the squares: </a:t>
                </a:r>
                <a14:m>
                  <m:oMath xmlns:m="http://schemas.openxmlformats.org/officeDocument/2006/math">
                    <m:nary>
                      <m:naryPr>
                        <m:chr m:val="∑"/>
                        <m:subHide m:val="on"/>
                        <m:supHide m:val="on"/>
                        <m:ctrlPr>
                          <a:rPr lang="en-CA" i="1" smtClean="0">
                            <a:latin typeface="Cambria Math" panose="02040503050406030204" pitchFamily="18" charset="0"/>
                          </a:rPr>
                        </m:ctrlPr>
                      </m:naryPr>
                      <m:sub/>
                      <m:sup/>
                      <m:e>
                        <m:sSup>
                          <m:sSupPr>
                            <m:ctrlPr>
                              <a:rPr lang="en-CA" i="1">
                                <a:latin typeface="Cambria Math" panose="02040503050406030204" pitchFamily="18" charset="0"/>
                              </a:rPr>
                            </m:ctrlPr>
                          </m:sSupPr>
                          <m:e>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i="1">
                                <a:latin typeface="Cambria Math" panose="02040503050406030204" pitchFamily="18" charset="0"/>
                              </a:rPr>
                              <m:t>−</m:t>
                            </m:r>
                            <m:acc>
                              <m:accPr>
                                <m:chr m:val="̅"/>
                                <m:ctrlPr>
                                  <a:rPr lang="en-CA" i="1" smtClean="0">
                                    <a:latin typeface="Cambria Math" panose="02040503050406030204" pitchFamily="18" charset="0"/>
                                  </a:rPr>
                                </m:ctrlPr>
                              </m:accPr>
                              <m:e>
                                <m:r>
                                  <a:rPr lang="en-CA" i="1">
                                    <a:latin typeface="Cambria Math" panose="02040503050406030204" pitchFamily="18" charset="0"/>
                                  </a:rPr>
                                  <m:t>𝑦</m:t>
                                </m:r>
                              </m:e>
                            </m:acc>
                            <m:r>
                              <a:rPr lang="en-CA" i="1">
                                <a:latin typeface="Cambria Math" panose="02040503050406030204" pitchFamily="18" charset="0"/>
                              </a:rPr>
                              <m:t>)</m:t>
                            </m:r>
                          </m:e>
                          <m:sup>
                            <m:r>
                              <a:rPr lang="en-CA" i="1">
                                <a:latin typeface="Cambria Math" panose="02040503050406030204" pitchFamily="18" charset="0"/>
                              </a:rPr>
                              <m:t>2</m:t>
                            </m:r>
                          </m:sup>
                        </m:sSup>
                      </m:e>
                    </m:nary>
                  </m:oMath>
                </a14:m>
                <a:endParaRPr lang="en-US" dirty="0"/>
              </a:p>
              <a:p>
                <a:pPr lvl="1"/>
                <a:r>
                  <a:rPr lang="en-US" dirty="0"/>
                  <a:t>Falls between 0 and 1.</a:t>
                </a:r>
              </a:p>
              <a:p>
                <a:pPr lvl="1"/>
                <a14:m>
                  <m:oMath xmlns:m="http://schemas.openxmlformats.org/officeDocument/2006/math">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oMath>
                </a14:m>
                <a:r>
                  <a:rPr lang="en-US" dirty="0"/>
                  <a:t> never decreases as we add more variables.</a:t>
                </a:r>
              </a:p>
              <a:p>
                <a:pPr lvl="1"/>
                <a:r>
                  <a:rPr lang="en-US" dirty="0"/>
                  <a:t>We cannot use </a:t>
                </a:r>
                <a14:m>
                  <m:oMath xmlns:m="http://schemas.openxmlformats.org/officeDocument/2006/math">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oMath>
                </a14:m>
                <a:r>
                  <a:rPr lang="en-US" dirty="0"/>
                  <a:t> for model comparison when the competing models do not include the same number of predictor variables.</a:t>
                </a:r>
              </a:p>
              <a:p>
                <a:pPr lvl="1"/>
                <a:endParaRPr lang="en-US" dirty="0"/>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xfrm>
                <a:off x="914400" y="1447800"/>
                <a:ext cx="7772400" cy="5219700"/>
              </a:xfrm>
              <a:blipFill>
                <a:blip r:embed="rId2"/>
                <a:stretch>
                  <a:fillRect l="-817" t="-1214" r="-1307" b="-1214"/>
                </a:stretch>
              </a:blipFill>
            </p:spPr>
            <p:txBody>
              <a:bodyPr/>
              <a:lstStyle/>
              <a:p>
                <a:r>
                  <a:rPr lang="en-US">
                    <a:noFill/>
                  </a:rPr>
                  <a:t> </a:t>
                </a:r>
              </a:p>
            </p:txBody>
          </p:sp>
        </mc:Fallback>
      </mc:AlternateContent>
    </p:spTree>
    <p:extLst>
      <p:ext uri="{BB962C8B-B14F-4D97-AF65-F5344CB8AC3E}">
        <p14:creationId xmlns:p14="http://schemas.microsoft.com/office/powerpoint/2010/main" val="2493097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22</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a:xfrm>
                <a:off x="914400" y="1447800"/>
                <a:ext cx="7772400" cy="5219700"/>
              </a:xfrm>
            </p:spPr>
            <p:txBody>
              <a:bodyPr>
                <a:normAutofit/>
              </a:bodyPr>
              <a:lstStyle/>
              <a:p>
                <a:pPr marL="514350" indent="-514350">
                  <a:buFont typeface="+mj-lt"/>
                  <a:buAutoNum type="arabicPeriod" startAt="2"/>
                </a:pPr>
                <a:r>
                  <a:rPr lang="en-US" b="1" dirty="0"/>
                  <a:t>The coefficient of determination:</a:t>
                </a:r>
              </a:p>
              <a:p>
                <a:pPr lvl="1"/>
                <a:r>
                  <a:rPr lang="en-CA" dirty="0"/>
                  <a:t>Quantifies the sample variation in the response that is explained by the sample regression equation.</a:t>
                </a:r>
                <a:endParaRPr lang="en-US" dirty="0"/>
              </a:p>
              <a:p>
                <a:pPr lvl="1"/>
                <a:r>
                  <a:rPr lang="en-US" sz="2400" dirty="0"/>
                  <a:t>The sample regression equation provides a good fit when the dispersion of the residuals is relatively small.</a:t>
                </a:r>
                <a:endParaRPr lang="en-US" dirty="0"/>
              </a:p>
              <a:p>
                <a:pPr marL="320040" lvl="1"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r>
                        <a:rPr lang="en-CA" b="0" i="1" smtClean="0">
                          <a:latin typeface="Cambria Math" panose="02040503050406030204" pitchFamily="18" charset="0"/>
                        </a:rPr>
                        <m:t>=1−</m:t>
                      </m:r>
                      <m:f>
                        <m:fPr>
                          <m:ctrlPr>
                            <a:rPr lang="en-CA" b="0" i="1" smtClean="0">
                              <a:latin typeface="Cambria Math" panose="02040503050406030204" pitchFamily="18" charset="0"/>
                            </a:rPr>
                          </m:ctrlPr>
                        </m:fPr>
                        <m:num>
                          <m:r>
                            <a:rPr lang="en-CA" b="0" i="1" smtClean="0">
                              <a:latin typeface="Cambria Math" panose="02040503050406030204" pitchFamily="18" charset="0"/>
                            </a:rPr>
                            <m:t>𝑆𝑆𝑅</m:t>
                          </m:r>
                        </m:num>
                        <m:den>
                          <m:r>
                            <a:rPr lang="en-CA" b="0" i="1" smtClean="0">
                              <a:latin typeface="Cambria Math" panose="02040503050406030204" pitchFamily="18" charset="0"/>
                            </a:rPr>
                            <m:t>𝑆𝑆𝑇</m:t>
                          </m:r>
                        </m:den>
                      </m:f>
                    </m:oMath>
                  </m:oMathPara>
                </a14:m>
                <a:endParaRPr lang="en-US" dirty="0"/>
              </a:p>
              <a:p>
                <a:pPr lvl="1"/>
                <a:r>
                  <a:rPr lang="en-US" dirty="0"/>
                  <a:t>SST: Total sum of the squares: </a:t>
                </a:r>
                <a14:m>
                  <m:oMath xmlns:m="http://schemas.openxmlformats.org/officeDocument/2006/math">
                    <m:nary>
                      <m:naryPr>
                        <m:chr m:val="∑"/>
                        <m:subHide m:val="on"/>
                        <m:supHide m:val="on"/>
                        <m:ctrlPr>
                          <a:rPr lang="en-CA" i="1" smtClean="0">
                            <a:latin typeface="Cambria Math" panose="02040503050406030204" pitchFamily="18" charset="0"/>
                          </a:rPr>
                        </m:ctrlPr>
                      </m:naryPr>
                      <m:sub/>
                      <m:sup/>
                      <m:e>
                        <m:sSup>
                          <m:sSupPr>
                            <m:ctrlPr>
                              <a:rPr lang="en-CA" i="1">
                                <a:latin typeface="Cambria Math" panose="02040503050406030204" pitchFamily="18" charset="0"/>
                              </a:rPr>
                            </m:ctrlPr>
                          </m:sSupPr>
                          <m:e>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i="1">
                                <a:latin typeface="Cambria Math" panose="02040503050406030204" pitchFamily="18" charset="0"/>
                              </a:rPr>
                              <m:t>−</m:t>
                            </m:r>
                            <m:acc>
                              <m:accPr>
                                <m:chr m:val="̅"/>
                                <m:ctrlPr>
                                  <a:rPr lang="en-CA" i="1" smtClean="0">
                                    <a:latin typeface="Cambria Math" panose="02040503050406030204" pitchFamily="18" charset="0"/>
                                  </a:rPr>
                                </m:ctrlPr>
                              </m:accPr>
                              <m:e>
                                <m:r>
                                  <a:rPr lang="en-CA" i="1">
                                    <a:latin typeface="Cambria Math" panose="02040503050406030204" pitchFamily="18" charset="0"/>
                                  </a:rPr>
                                  <m:t>𝑦</m:t>
                                </m:r>
                              </m:e>
                            </m:acc>
                            <m:r>
                              <a:rPr lang="en-CA" i="1">
                                <a:latin typeface="Cambria Math" panose="02040503050406030204" pitchFamily="18" charset="0"/>
                              </a:rPr>
                              <m:t>)</m:t>
                            </m:r>
                          </m:e>
                          <m:sup>
                            <m:r>
                              <a:rPr lang="en-CA" i="1">
                                <a:latin typeface="Cambria Math" panose="02040503050406030204" pitchFamily="18" charset="0"/>
                              </a:rPr>
                              <m:t>2</m:t>
                            </m:r>
                          </m:sup>
                        </m:sSup>
                      </m:e>
                    </m:nary>
                  </m:oMath>
                </a14:m>
                <a:endParaRPr lang="en-US" dirty="0"/>
              </a:p>
              <a:p>
                <a:pPr lvl="1"/>
                <a:r>
                  <a:rPr lang="en-US" dirty="0"/>
                  <a:t>Falls between 0 and 1.</a:t>
                </a:r>
              </a:p>
              <a:p>
                <a:pPr lvl="1"/>
                <a14:m>
                  <m:oMath xmlns:m="http://schemas.openxmlformats.org/officeDocument/2006/math">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oMath>
                </a14:m>
                <a:r>
                  <a:rPr lang="en-US" dirty="0"/>
                  <a:t> never decreases as we add more variables.</a:t>
                </a:r>
              </a:p>
              <a:p>
                <a:pPr lvl="1"/>
                <a:r>
                  <a:rPr lang="en-US" dirty="0"/>
                  <a:t>We cannot use </a:t>
                </a:r>
                <a14:m>
                  <m:oMath xmlns:m="http://schemas.openxmlformats.org/officeDocument/2006/math">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oMath>
                </a14:m>
                <a:r>
                  <a:rPr lang="en-US" dirty="0"/>
                  <a:t> for model comparison when the competing models do not include the same number of predictor variables.</a:t>
                </a:r>
              </a:p>
              <a:p>
                <a:pPr lvl="1"/>
                <a:endParaRPr lang="en-US" dirty="0"/>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xfrm>
                <a:off x="914400" y="1447800"/>
                <a:ext cx="7772400" cy="5219700"/>
              </a:xfrm>
              <a:blipFill>
                <a:blip r:embed="rId2"/>
                <a:stretch>
                  <a:fillRect l="-817" t="-1214" r="-1307" b="-1214"/>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896A265C-DC7C-921F-4D61-EA01478374DA}"/>
              </a:ext>
            </a:extLst>
          </p:cNvPr>
          <p:cNvSpPr/>
          <p:nvPr/>
        </p:nvSpPr>
        <p:spPr>
          <a:xfrm>
            <a:off x="739312" y="3429000"/>
            <a:ext cx="8081160" cy="295232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Object 6">
            <a:extLst>
              <a:ext uri="{FF2B5EF4-FFF2-40B4-BE49-F238E27FC236}">
                <a16:creationId xmlns:a16="http://schemas.microsoft.com/office/drawing/2014/main" id="{5717F1ED-932E-919B-EF55-7E82AC508070}"/>
              </a:ext>
            </a:extLst>
          </p:cNvPr>
          <p:cNvGraphicFramePr>
            <a:graphicFrameLocks noChangeAspect="1"/>
          </p:cNvGraphicFramePr>
          <p:nvPr>
            <p:extLst>
              <p:ext uri="{D42A27DB-BD31-4B8C-83A1-F6EECF244321}">
                <p14:modId xmlns:p14="http://schemas.microsoft.com/office/powerpoint/2010/main" val="1359146631"/>
              </p:ext>
            </p:extLst>
          </p:nvPr>
        </p:nvGraphicFramePr>
        <p:xfrm>
          <a:off x="914400" y="3648656"/>
          <a:ext cx="4418745" cy="374226"/>
        </p:xfrm>
        <a:graphic>
          <a:graphicData uri="http://schemas.openxmlformats.org/presentationml/2006/ole">
            <mc:AlternateContent xmlns:mc="http://schemas.openxmlformats.org/markup-compatibility/2006">
              <mc:Choice xmlns:v="urn:schemas-microsoft-com:vml" Requires="v">
                <p:oleObj name="Equation" r:id="rId3" imgW="3898800" imgH="330120" progId="Equation.DSMT4">
                  <p:embed/>
                </p:oleObj>
              </mc:Choice>
              <mc:Fallback>
                <p:oleObj name="Equation" r:id="rId3" imgW="3898800" imgH="330120" progId="Equation.DSMT4">
                  <p:embed/>
                  <p:pic>
                    <p:nvPicPr>
                      <p:cNvPr id="7" name="Object 6">
                        <a:extLst>
                          <a:ext uri="{FF2B5EF4-FFF2-40B4-BE49-F238E27FC236}">
                            <a16:creationId xmlns:a16="http://schemas.microsoft.com/office/drawing/2014/main" id="{5717F1ED-932E-919B-EF55-7E82AC508070}"/>
                          </a:ext>
                        </a:extLst>
                      </p:cNvPr>
                      <p:cNvPicPr/>
                      <p:nvPr/>
                    </p:nvPicPr>
                    <p:blipFill>
                      <a:blip r:embed="rId4"/>
                      <a:stretch>
                        <a:fillRect/>
                      </a:stretch>
                    </p:blipFill>
                    <p:spPr>
                      <a:xfrm>
                        <a:off x="914400" y="3648656"/>
                        <a:ext cx="4418745" cy="374226"/>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D7DBB2C-9AB4-3D19-7CFC-B2E524FBCDD5}"/>
              </a:ext>
            </a:extLst>
          </p:cNvPr>
          <p:cNvGraphicFramePr>
            <a:graphicFrameLocks noChangeAspect="1"/>
          </p:cNvGraphicFramePr>
          <p:nvPr>
            <p:extLst>
              <p:ext uri="{D42A27DB-BD31-4B8C-83A1-F6EECF244321}">
                <p14:modId xmlns:p14="http://schemas.microsoft.com/office/powerpoint/2010/main" val="4039405947"/>
              </p:ext>
            </p:extLst>
          </p:nvPr>
        </p:nvGraphicFramePr>
        <p:xfrm>
          <a:off x="914400" y="4255633"/>
          <a:ext cx="6721475" cy="373062"/>
        </p:xfrm>
        <a:graphic>
          <a:graphicData uri="http://schemas.openxmlformats.org/presentationml/2006/ole">
            <mc:AlternateContent xmlns:mc="http://schemas.openxmlformats.org/markup-compatibility/2006">
              <mc:Choice xmlns:v="urn:schemas-microsoft-com:vml" Requires="v">
                <p:oleObj name="Equation" r:id="rId5" imgW="5930640" imgH="330120" progId="Equation.DSMT4">
                  <p:embed/>
                </p:oleObj>
              </mc:Choice>
              <mc:Fallback>
                <p:oleObj name="Equation" r:id="rId5" imgW="5930640" imgH="330120" progId="Equation.DSMT4">
                  <p:embed/>
                  <p:pic>
                    <p:nvPicPr>
                      <p:cNvPr id="8" name="Object 7">
                        <a:extLst>
                          <a:ext uri="{FF2B5EF4-FFF2-40B4-BE49-F238E27FC236}">
                            <a16:creationId xmlns:a16="http://schemas.microsoft.com/office/drawing/2014/main" id="{1D7DBB2C-9AB4-3D19-7CFC-B2E524FBCDD5}"/>
                          </a:ext>
                        </a:extLst>
                      </p:cNvPr>
                      <p:cNvPicPr/>
                      <p:nvPr/>
                    </p:nvPicPr>
                    <p:blipFill>
                      <a:blip r:embed="rId6"/>
                      <a:stretch>
                        <a:fillRect/>
                      </a:stretch>
                    </p:blipFill>
                    <p:spPr>
                      <a:xfrm>
                        <a:off x="914400" y="4255633"/>
                        <a:ext cx="6721475" cy="37306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37625B48-BC4B-80BE-445C-0B1B8380829A}"/>
              </a:ext>
            </a:extLst>
          </p:cNvPr>
          <p:cNvGraphicFramePr>
            <a:graphicFrameLocks noChangeAspect="1"/>
          </p:cNvGraphicFramePr>
          <p:nvPr>
            <p:extLst>
              <p:ext uri="{D42A27DB-BD31-4B8C-83A1-F6EECF244321}">
                <p14:modId xmlns:p14="http://schemas.microsoft.com/office/powerpoint/2010/main" val="2468880935"/>
              </p:ext>
            </p:extLst>
          </p:nvPr>
        </p:nvGraphicFramePr>
        <p:xfrm>
          <a:off x="895954" y="4848925"/>
          <a:ext cx="7762875" cy="376237"/>
        </p:xfrm>
        <a:graphic>
          <a:graphicData uri="http://schemas.openxmlformats.org/presentationml/2006/ole">
            <mc:AlternateContent xmlns:mc="http://schemas.openxmlformats.org/markup-compatibility/2006">
              <mc:Choice xmlns:v="urn:schemas-microsoft-com:vml" Requires="v">
                <p:oleObj name="Equation" r:id="rId7" imgW="6781680" imgH="330120" progId="Equation.DSMT4">
                  <p:embed/>
                </p:oleObj>
              </mc:Choice>
              <mc:Fallback>
                <p:oleObj name="Equation" r:id="rId7" imgW="6781680" imgH="330120" progId="Equation.DSMT4">
                  <p:embed/>
                  <p:pic>
                    <p:nvPicPr>
                      <p:cNvPr id="9" name="Object 8">
                        <a:extLst>
                          <a:ext uri="{FF2B5EF4-FFF2-40B4-BE49-F238E27FC236}">
                            <a16:creationId xmlns:a16="http://schemas.microsoft.com/office/drawing/2014/main" id="{37625B48-BC4B-80BE-445C-0B1B8380829A}"/>
                          </a:ext>
                        </a:extLst>
                      </p:cNvPr>
                      <p:cNvPicPr/>
                      <p:nvPr/>
                    </p:nvPicPr>
                    <p:blipFill>
                      <a:blip r:embed="rId8"/>
                      <a:stretch>
                        <a:fillRect/>
                      </a:stretch>
                    </p:blipFill>
                    <p:spPr>
                      <a:xfrm>
                        <a:off x="895954" y="4848925"/>
                        <a:ext cx="7762875" cy="376237"/>
                      </a:xfrm>
                      <a:prstGeom prst="rect">
                        <a:avLst/>
                      </a:prstGeom>
                    </p:spPr>
                  </p:pic>
                </p:oleObj>
              </mc:Fallback>
            </mc:AlternateContent>
          </a:graphicData>
        </a:graphic>
      </p:graphicFrame>
    </p:spTree>
    <p:extLst>
      <p:ext uri="{BB962C8B-B14F-4D97-AF65-F5344CB8AC3E}">
        <p14:creationId xmlns:p14="http://schemas.microsoft.com/office/powerpoint/2010/main" val="1173859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23</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a:xfrm>
                <a:off x="914400" y="1447800"/>
                <a:ext cx="7772400" cy="5219700"/>
              </a:xfrm>
            </p:spPr>
            <p:txBody>
              <a:bodyPr>
                <a:normAutofit/>
              </a:bodyPr>
              <a:lstStyle/>
              <a:p>
                <a:pPr marL="514350" indent="-514350">
                  <a:buFont typeface="+mj-lt"/>
                  <a:buAutoNum type="arabicPeriod" startAt="3"/>
                </a:pPr>
                <a:r>
                  <a:rPr lang="en-US" b="1" dirty="0"/>
                  <a:t>Adjusted coefficient of determination:</a:t>
                </a:r>
              </a:p>
              <a:p>
                <a:pPr lvl="1"/>
                <a:r>
                  <a:rPr lang="en-CA" dirty="0"/>
                  <a:t>Accounts for the sample size and the number of predictor variables</a:t>
                </a:r>
                <a:endParaRPr lang="en-US" dirty="0"/>
              </a:p>
              <a:p>
                <a:pPr marL="320040" lvl="1" indent="0">
                  <a:buNone/>
                </a:pPr>
                <a14:m>
                  <m:oMathPara xmlns:m="http://schemas.openxmlformats.org/officeDocument/2006/math">
                    <m:oMathParaPr>
                      <m:jc m:val="centerGroup"/>
                    </m:oMathParaPr>
                    <m:oMath xmlns:m="http://schemas.openxmlformats.org/officeDocument/2006/math">
                      <m:r>
                        <m:rPr>
                          <m:nor/>
                        </m:rPr>
                        <a:rPr lang="en-CA" b="0" i="0" smtClean="0">
                          <a:latin typeface="Cambria Math" panose="02040503050406030204" pitchFamily="18" charset="0"/>
                        </a:rPr>
                        <m:t>Adjusted</m:t>
                      </m:r>
                      <m:r>
                        <m:rPr>
                          <m:nor/>
                        </m:rPr>
                        <a:rPr lang="en-CA" b="0" i="0" smtClean="0">
                          <a:latin typeface="Cambria Math" panose="02040503050406030204" pitchFamily="18" charset="0"/>
                        </a:rPr>
                        <m:t> </m:t>
                      </m:r>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r>
                        <a:rPr lang="en-CA" b="0" i="1" smtClean="0">
                          <a:latin typeface="Cambria Math" panose="02040503050406030204" pitchFamily="18" charset="0"/>
                        </a:rPr>
                        <m:t>=1−(1−</m:t>
                      </m:r>
                      <m:sSup>
                        <m:sSupPr>
                          <m:ctrlPr>
                            <a:rPr lang="en-US" i="1">
                              <a:latin typeface="Cambria Math" panose="02040503050406030204" pitchFamily="18" charset="0"/>
                            </a:rPr>
                          </m:ctrlPr>
                        </m:sSupPr>
                        <m:e>
                          <m:r>
                            <a:rPr lang="en-CA" i="1">
                              <a:latin typeface="Cambria Math" panose="02040503050406030204" pitchFamily="18" charset="0"/>
                            </a:rPr>
                            <m:t>𝑅</m:t>
                          </m:r>
                        </m:e>
                        <m:sup>
                          <m:r>
                            <a:rPr lang="en-CA" i="1">
                              <a:latin typeface="Cambria Math" panose="02040503050406030204" pitchFamily="18" charset="0"/>
                            </a:rPr>
                            <m:t>2</m:t>
                          </m:r>
                        </m:sup>
                      </m:sSup>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𝑛</m:t>
                          </m:r>
                          <m:r>
                            <a:rPr lang="en-CA" b="0" i="1" smtClean="0">
                              <a:latin typeface="Cambria Math" panose="02040503050406030204" pitchFamily="18" charset="0"/>
                            </a:rPr>
                            <m:t>−1</m:t>
                          </m:r>
                        </m:num>
                        <m:den>
                          <m:r>
                            <a:rPr lang="en-CA" b="0" i="1" smtClean="0">
                              <a:latin typeface="Cambria Math" panose="02040503050406030204" pitchFamily="18" charset="0"/>
                            </a:rPr>
                            <m:t>𝑛</m:t>
                          </m:r>
                          <m:r>
                            <a:rPr lang="en-CA" b="0" i="1" smtClean="0">
                              <a:latin typeface="Cambria Math" panose="02040503050406030204" pitchFamily="18" charset="0"/>
                            </a:rPr>
                            <m:t>−</m:t>
                          </m:r>
                          <m:r>
                            <a:rPr lang="en-CA" b="0" i="1" smtClean="0">
                              <a:latin typeface="Cambria Math" panose="02040503050406030204" pitchFamily="18" charset="0"/>
                            </a:rPr>
                            <m:t>𝑘</m:t>
                          </m:r>
                          <m:r>
                            <a:rPr lang="en-CA" b="0" i="1" smtClean="0">
                              <a:latin typeface="Cambria Math" panose="02040503050406030204" pitchFamily="18" charset="0"/>
                            </a:rPr>
                            <m:t>−1</m:t>
                          </m:r>
                        </m:den>
                      </m:f>
                      <m:r>
                        <a:rPr lang="en-CA" b="0" i="1" smtClean="0">
                          <a:latin typeface="Cambria Math" panose="02040503050406030204" pitchFamily="18" charset="0"/>
                        </a:rPr>
                        <m:t>)</m:t>
                      </m:r>
                    </m:oMath>
                  </m:oMathPara>
                </a14:m>
                <a:endParaRPr lang="en-US" dirty="0"/>
              </a:p>
              <a:p>
                <a:pPr lvl="1"/>
                <a:r>
                  <a:rPr lang="en-CA" dirty="0"/>
                  <a:t>Imposes a penalty for any additional predictors.</a:t>
                </a:r>
              </a:p>
              <a:p>
                <a:pPr lvl="1"/>
                <a:r>
                  <a:rPr lang="en-CA" dirty="0"/>
                  <a:t>The higher the </a:t>
                </a:r>
                <a14:m>
                  <m:oMath xmlns:m="http://schemas.openxmlformats.org/officeDocument/2006/math">
                    <m:r>
                      <m:rPr>
                        <m:nor/>
                      </m:rPr>
                      <a:rPr lang="en-CA" b="0" i="0" smtClean="0">
                        <a:latin typeface="Cambria Math" panose="02040503050406030204" pitchFamily="18" charset="0"/>
                      </a:rPr>
                      <m:t>Adjusted</m:t>
                    </m:r>
                    <m:r>
                      <m:rPr>
                        <m:nor/>
                      </m:rPr>
                      <a:rPr lang="en-CA" b="0" i="0" smtClean="0">
                        <a:latin typeface="Cambria Math" panose="02040503050406030204" pitchFamily="18" charset="0"/>
                      </a:rPr>
                      <m:t> </m:t>
                    </m:r>
                    <m:sSup>
                      <m:sSupPr>
                        <m:ctrlPr>
                          <a:rPr lang="en-US" i="1" smtClean="0">
                            <a:latin typeface="Cambria Math" panose="02040503050406030204" pitchFamily="18" charset="0"/>
                          </a:rPr>
                        </m:ctrlPr>
                      </m:sSupPr>
                      <m:e>
                        <m:r>
                          <a:rPr lang="en-CA" b="0" i="1" smtClean="0">
                            <a:latin typeface="Cambria Math" panose="02040503050406030204" pitchFamily="18" charset="0"/>
                          </a:rPr>
                          <m:t>𝑅</m:t>
                        </m:r>
                      </m:e>
                      <m:sup>
                        <m:r>
                          <a:rPr lang="en-CA" b="0" i="1" smtClean="0">
                            <a:latin typeface="Cambria Math" panose="02040503050406030204" pitchFamily="18" charset="0"/>
                          </a:rPr>
                          <m:t>2</m:t>
                        </m:r>
                      </m:sup>
                    </m:sSup>
                  </m:oMath>
                </a14:m>
                <a:r>
                  <a:rPr lang="en-US" dirty="0"/>
                  <a:t>, the better the model</a:t>
                </a:r>
              </a:p>
              <a:p>
                <a:pPr lvl="1"/>
                <a:endParaRPr lang="en-US" dirty="0"/>
              </a:p>
            </p:txBody>
          </p:sp>
        </mc:Choice>
        <mc:Fallback xmlns="">
          <p:sp>
            <p:nvSpPr>
              <p:cNvPr id="4" name="Content Placeholder 3">
                <a:extLst>
                  <a:ext uri="{FF2B5EF4-FFF2-40B4-BE49-F238E27FC236}">
                    <a16:creationId xmlns:a16="http://schemas.microsoft.com/office/drawing/2014/main" id="{E6A9F816-A090-45B5-8E9F-5E4CBF2B91DC}"/>
                  </a:ext>
                </a:extLst>
              </p:cNvPr>
              <p:cNvSpPr>
                <a:spLocks noGrp="1" noRot="1" noChangeAspect="1" noMove="1" noResize="1" noEditPoints="1" noAdjustHandles="1" noChangeArrowheads="1" noChangeShapeType="1" noTextEdit="1"/>
              </p:cNvSpPr>
              <p:nvPr>
                <p:ph sz="quarter" idx="1"/>
              </p:nvPr>
            </p:nvSpPr>
            <p:spPr>
              <a:xfrm>
                <a:off x="914400" y="1447800"/>
                <a:ext cx="7772400" cy="5219700"/>
              </a:xfrm>
              <a:blipFill>
                <a:blip r:embed="rId2"/>
                <a:stretch>
                  <a:fillRect l="-817" t="-1214" r="-1634"/>
                </a:stretch>
              </a:blipFill>
            </p:spPr>
            <p:txBody>
              <a:bodyPr/>
              <a:lstStyle/>
              <a:p>
                <a:r>
                  <a:rPr lang="en-US">
                    <a:noFill/>
                  </a:rPr>
                  <a:t> </a:t>
                </a:r>
              </a:p>
            </p:txBody>
          </p:sp>
        </mc:Fallback>
      </mc:AlternateContent>
    </p:spTree>
    <p:extLst>
      <p:ext uri="{BB962C8B-B14F-4D97-AF65-F5344CB8AC3E}">
        <p14:creationId xmlns:p14="http://schemas.microsoft.com/office/powerpoint/2010/main" val="619251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a:bodyPr>
          <a:lstStyle/>
          <a:p>
            <a:pPr marL="0" indent="0">
              <a:buNone/>
            </a:pPr>
            <a:r>
              <a:rPr lang="en-US" b="1" dirty="0"/>
              <a:t>Example 4.6: </a:t>
            </a:r>
            <a:r>
              <a:rPr lang="en-US" dirty="0"/>
              <a:t>In Example 4.1, which of the following models is the preferred model?</a:t>
            </a:r>
          </a:p>
          <a:p>
            <a:pPr marL="0" indent="0">
              <a:buNone/>
            </a:pPr>
            <a:endParaRPr lang="en-US" dirty="0"/>
          </a:p>
          <a:p>
            <a:endParaRPr lang="en-US" dirty="0"/>
          </a:p>
          <a:p>
            <a:endParaRPr lang="en-US" dirty="0"/>
          </a:p>
        </p:txBody>
      </p:sp>
      <p:graphicFrame>
        <p:nvGraphicFramePr>
          <p:cNvPr id="7" name="Object 6">
            <a:extLst>
              <a:ext uri="{FF2B5EF4-FFF2-40B4-BE49-F238E27FC236}">
                <a16:creationId xmlns:a16="http://schemas.microsoft.com/office/drawing/2014/main" id="{5F5817AE-B5A1-2AEB-B051-C685A79CBE3D}"/>
              </a:ext>
            </a:extLst>
          </p:cNvPr>
          <p:cNvGraphicFramePr>
            <a:graphicFrameLocks noChangeAspect="1"/>
          </p:cNvGraphicFramePr>
          <p:nvPr>
            <p:extLst>
              <p:ext uri="{D42A27DB-BD31-4B8C-83A1-F6EECF244321}">
                <p14:modId xmlns:p14="http://schemas.microsoft.com/office/powerpoint/2010/main" val="87901367"/>
              </p:ext>
            </p:extLst>
          </p:nvPr>
        </p:nvGraphicFramePr>
        <p:xfrm>
          <a:off x="1206070" y="2572574"/>
          <a:ext cx="4418745" cy="374226"/>
        </p:xfrm>
        <a:graphic>
          <a:graphicData uri="http://schemas.openxmlformats.org/presentationml/2006/ole">
            <mc:AlternateContent xmlns:mc="http://schemas.openxmlformats.org/markup-compatibility/2006">
              <mc:Choice xmlns:v="urn:schemas-microsoft-com:vml" Requires="v">
                <p:oleObj name="Equation" r:id="rId3" imgW="3898800" imgH="330120" progId="Equation.DSMT4">
                  <p:embed/>
                </p:oleObj>
              </mc:Choice>
              <mc:Fallback>
                <p:oleObj name="Equation" r:id="rId3" imgW="3898800" imgH="330120" progId="Equation.DSMT4">
                  <p:embed/>
                  <p:pic>
                    <p:nvPicPr>
                      <p:cNvPr id="7" name="Object 6">
                        <a:extLst>
                          <a:ext uri="{FF2B5EF4-FFF2-40B4-BE49-F238E27FC236}">
                            <a16:creationId xmlns:a16="http://schemas.microsoft.com/office/drawing/2014/main" id="{5F5817AE-B5A1-2AEB-B051-C685A79CBE3D}"/>
                          </a:ext>
                        </a:extLst>
                      </p:cNvPr>
                      <p:cNvPicPr/>
                      <p:nvPr/>
                    </p:nvPicPr>
                    <p:blipFill>
                      <a:blip r:embed="rId4"/>
                      <a:stretch>
                        <a:fillRect/>
                      </a:stretch>
                    </p:blipFill>
                    <p:spPr>
                      <a:xfrm>
                        <a:off x="1206070" y="2572574"/>
                        <a:ext cx="4418745" cy="374226"/>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857B4484-5633-C09E-48B3-1FBAA495AB99}"/>
              </a:ext>
            </a:extLst>
          </p:cNvPr>
          <p:cNvGraphicFramePr>
            <a:graphicFrameLocks noChangeAspect="1"/>
          </p:cNvGraphicFramePr>
          <p:nvPr>
            <p:extLst>
              <p:ext uri="{D42A27DB-BD31-4B8C-83A1-F6EECF244321}">
                <p14:modId xmlns:p14="http://schemas.microsoft.com/office/powerpoint/2010/main" val="2948356399"/>
              </p:ext>
            </p:extLst>
          </p:nvPr>
        </p:nvGraphicFramePr>
        <p:xfrm>
          <a:off x="1206070" y="3179551"/>
          <a:ext cx="6721475" cy="373062"/>
        </p:xfrm>
        <a:graphic>
          <a:graphicData uri="http://schemas.openxmlformats.org/presentationml/2006/ole">
            <mc:AlternateContent xmlns:mc="http://schemas.openxmlformats.org/markup-compatibility/2006">
              <mc:Choice xmlns:v="urn:schemas-microsoft-com:vml" Requires="v">
                <p:oleObj name="Equation" r:id="rId5" imgW="5930640" imgH="330120" progId="Equation.DSMT4">
                  <p:embed/>
                </p:oleObj>
              </mc:Choice>
              <mc:Fallback>
                <p:oleObj name="Equation" r:id="rId5" imgW="5930640" imgH="330120" progId="Equation.DSMT4">
                  <p:embed/>
                  <p:pic>
                    <p:nvPicPr>
                      <p:cNvPr id="8" name="Object 7">
                        <a:extLst>
                          <a:ext uri="{FF2B5EF4-FFF2-40B4-BE49-F238E27FC236}">
                            <a16:creationId xmlns:a16="http://schemas.microsoft.com/office/drawing/2014/main" id="{857B4484-5633-C09E-48B3-1FBAA495AB99}"/>
                          </a:ext>
                        </a:extLst>
                      </p:cNvPr>
                      <p:cNvPicPr/>
                      <p:nvPr/>
                    </p:nvPicPr>
                    <p:blipFill>
                      <a:blip r:embed="rId6"/>
                      <a:stretch>
                        <a:fillRect/>
                      </a:stretch>
                    </p:blipFill>
                    <p:spPr>
                      <a:xfrm>
                        <a:off x="1206070" y="3179551"/>
                        <a:ext cx="6721475" cy="37306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58FC26FE-2A03-53CA-62C6-CF2577B4E3D3}"/>
              </a:ext>
            </a:extLst>
          </p:cNvPr>
          <p:cNvGraphicFramePr>
            <a:graphicFrameLocks noChangeAspect="1"/>
          </p:cNvGraphicFramePr>
          <p:nvPr>
            <p:extLst>
              <p:ext uri="{D42A27DB-BD31-4B8C-83A1-F6EECF244321}">
                <p14:modId xmlns:p14="http://schemas.microsoft.com/office/powerpoint/2010/main" val="862594351"/>
              </p:ext>
            </p:extLst>
          </p:nvPr>
        </p:nvGraphicFramePr>
        <p:xfrm>
          <a:off x="1187624" y="3772843"/>
          <a:ext cx="7762875" cy="376237"/>
        </p:xfrm>
        <a:graphic>
          <a:graphicData uri="http://schemas.openxmlformats.org/presentationml/2006/ole">
            <mc:AlternateContent xmlns:mc="http://schemas.openxmlformats.org/markup-compatibility/2006">
              <mc:Choice xmlns:v="urn:schemas-microsoft-com:vml" Requires="v">
                <p:oleObj name="Equation" r:id="rId7" imgW="6781680" imgH="330120" progId="Equation.DSMT4">
                  <p:embed/>
                </p:oleObj>
              </mc:Choice>
              <mc:Fallback>
                <p:oleObj name="Equation" r:id="rId7" imgW="6781680" imgH="330120" progId="Equation.DSMT4">
                  <p:embed/>
                  <p:pic>
                    <p:nvPicPr>
                      <p:cNvPr id="9" name="Object 8">
                        <a:extLst>
                          <a:ext uri="{FF2B5EF4-FFF2-40B4-BE49-F238E27FC236}">
                            <a16:creationId xmlns:a16="http://schemas.microsoft.com/office/drawing/2014/main" id="{58FC26FE-2A03-53CA-62C6-CF2577B4E3D3}"/>
                          </a:ext>
                        </a:extLst>
                      </p:cNvPr>
                      <p:cNvPicPr/>
                      <p:nvPr/>
                    </p:nvPicPr>
                    <p:blipFill>
                      <a:blip r:embed="rId8"/>
                      <a:stretch>
                        <a:fillRect/>
                      </a:stretch>
                    </p:blipFill>
                    <p:spPr>
                      <a:xfrm>
                        <a:off x="1187624" y="3772843"/>
                        <a:ext cx="7762875" cy="376237"/>
                      </a:xfrm>
                      <a:prstGeom prst="rect">
                        <a:avLst/>
                      </a:prstGeom>
                    </p:spPr>
                  </p:pic>
                </p:oleObj>
              </mc:Fallback>
            </mc:AlternateContent>
          </a:graphicData>
        </a:graphic>
      </p:graphicFrame>
    </p:spTree>
    <p:extLst>
      <p:ext uri="{BB962C8B-B14F-4D97-AF65-F5344CB8AC3E}">
        <p14:creationId xmlns:p14="http://schemas.microsoft.com/office/powerpoint/2010/main" val="2351869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6717-B448-94E7-E96D-EF6738CC145F}"/>
              </a:ext>
            </a:extLst>
          </p:cNvPr>
          <p:cNvSpPr>
            <a:spLocks noGrp="1"/>
          </p:cNvSpPr>
          <p:nvPr>
            <p:ph type="title"/>
          </p:nvPr>
        </p:nvSpPr>
        <p:spPr/>
        <p:txBody>
          <a:bodyPr/>
          <a:lstStyle/>
          <a:p>
            <a:r>
              <a:rPr lang="en-US" dirty="0"/>
              <a:t>Linear Regression Model</a:t>
            </a:r>
          </a:p>
        </p:txBody>
      </p:sp>
      <p:sp>
        <p:nvSpPr>
          <p:cNvPr id="3" name="Slide Number Placeholder 2">
            <a:extLst>
              <a:ext uri="{FF2B5EF4-FFF2-40B4-BE49-F238E27FC236}">
                <a16:creationId xmlns:a16="http://schemas.microsoft.com/office/drawing/2014/main" id="{5DE0BEE1-F62F-7A90-E346-CE29653284E5}"/>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4" name="Content Placeholder 3">
            <a:extLst>
              <a:ext uri="{FF2B5EF4-FFF2-40B4-BE49-F238E27FC236}">
                <a16:creationId xmlns:a16="http://schemas.microsoft.com/office/drawing/2014/main" id="{E6A9F816-A090-45B5-8E9F-5E4CBF2B91DC}"/>
              </a:ext>
            </a:extLst>
          </p:cNvPr>
          <p:cNvSpPr>
            <a:spLocks noGrp="1"/>
          </p:cNvSpPr>
          <p:nvPr>
            <p:ph sz="quarter" idx="1"/>
          </p:nvPr>
        </p:nvSpPr>
        <p:spPr/>
        <p:txBody>
          <a:bodyPr>
            <a:normAutofit/>
          </a:bodyPr>
          <a:lstStyle/>
          <a:p>
            <a:pPr marL="0" indent="0">
              <a:buNone/>
            </a:pPr>
            <a:r>
              <a:rPr lang="en-US" b="1" dirty="0"/>
              <a:t>Example 4.7: </a:t>
            </a:r>
            <a:r>
              <a:rPr lang="en-US" dirty="0"/>
              <a:t>In Example 4.2, which of the following models is the preferred model?</a:t>
            </a:r>
          </a:p>
          <a:p>
            <a:pPr marL="0" indent="0">
              <a:buNone/>
            </a:pPr>
            <a:endParaRPr lang="en-US" dirty="0"/>
          </a:p>
          <a:p>
            <a:endParaRPr lang="en-US" dirty="0"/>
          </a:p>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60DA8CC-7951-8C69-1FC4-15239E7BD9EC}"/>
                  </a:ext>
                </a:extLst>
              </p:cNvPr>
              <p:cNvSpPr txBox="1"/>
              <p:nvPr/>
            </p:nvSpPr>
            <p:spPr>
              <a:xfrm>
                <a:off x="1619672" y="2708920"/>
                <a:ext cx="5904656" cy="523220"/>
              </a:xfrm>
              <a:prstGeom prst="rect">
                <a:avLst/>
              </a:prstGeom>
              <a:noFill/>
            </p:spPr>
            <p:txBody>
              <a:bodyPr wrap="square" rtlCol="0">
                <a:spAutoFit/>
              </a:bodyPr>
              <a:lstStyle/>
              <a:p>
                <a:r>
                  <a:rPr lang="en-US" sz="2800" dirty="0"/>
                  <a:t>Price = </a:t>
                </a:r>
                <a14:m>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𝛽</m:t>
                        </m:r>
                      </m:e>
                      <m:sub>
                        <m:r>
                          <a:rPr lang="en-CA" sz="2800" b="0" i="1" smtClean="0">
                            <a:latin typeface="Cambria Math" panose="02040503050406030204" pitchFamily="18" charset="0"/>
                          </a:rPr>
                          <m:t>0</m:t>
                        </m:r>
                      </m:sub>
                    </m:sSub>
                    <m:r>
                      <a:rPr lang="en-CA" sz="2800" b="0" i="1" smtClean="0">
                        <a:latin typeface="Cambria Math" panose="02040503050406030204" pitchFamily="18" charset="0"/>
                      </a:rPr>
                      <m:t>+</m:t>
                    </m:r>
                    <m:sSub>
                      <m:sSubPr>
                        <m:ctrlPr>
                          <a:rPr lang="en-CA" sz="2800" b="0" i="1" smtClean="0">
                            <a:latin typeface="Cambria Math" panose="02040503050406030204" pitchFamily="18" charset="0"/>
                          </a:rPr>
                        </m:ctrlPr>
                      </m:sSubPr>
                      <m:e>
                        <m:r>
                          <a:rPr lang="en-CA" sz="2800" b="0" i="1" smtClean="0">
                            <a:latin typeface="Cambria Math" panose="02040503050406030204" pitchFamily="18" charset="0"/>
                            <a:ea typeface="Cambria Math" panose="02040503050406030204" pitchFamily="18" charset="0"/>
                          </a:rPr>
                          <m:t>𝛽</m:t>
                        </m:r>
                      </m:e>
                      <m:sub>
                        <m:r>
                          <a:rPr lang="en-CA" sz="2800" b="0" i="1" smtClean="0">
                            <a:latin typeface="Cambria Math" panose="02040503050406030204" pitchFamily="18" charset="0"/>
                          </a:rPr>
                          <m:t>1</m:t>
                        </m:r>
                      </m:sub>
                    </m:sSub>
                    <m:r>
                      <a:rPr lang="en-CA" sz="2800" b="0" i="1" smtClean="0">
                        <a:latin typeface="Cambria Math" panose="02040503050406030204" pitchFamily="18" charset="0"/>
                      </a:rPr>
                      <m:t>𝐴𝑔𝑒</m:t>
                    </m:r>
                    <m:r>
                      <a:rPr lang="en-CA" sz="2800" b="0" i="1" smtClean="0">
                        <a:latin typeface="Cambria Math" panose="02040503050406030204" pitchFamily="18" charset="0"/>
                      </a:rPr>
                      <m:t>+</m:t>
                    </m:r>
                    <m:r>
                      <a:rPr lang="en-CA" sz="2800" b="0" i="1" smtClean="0">
                        <a:latin typeface="Cambria Math" panose="02040503050406030204" pitchFamily="18" charset="0"/>
                        <a:ea typeface="Cambria Math" panose="02040503050406030204" pitchFamily="18" charset="0"/>
                      </a:rPr>
                      <m:t>𝜀</m:t>
                    </m:r>
                  </m:oMath>
                </a14:m>
                <a:endParaRPr lang="en-US" sz="2800" dirty="0"/>
              </a:p>
            </p:txBody>
          </p:sp>
        </mc:Choice>
        <mc:Fallback xmlns="">
          <p:sp>
            <p:nvSpPr>
              <p:cNvPr id="5" name="TextBox 4">
                <a:extLst>
                  <a:ext uri="{FF2B5EF4-FFF2-40B4-BE49-F238E27FC236}">
                    <a16:creationId xmlns:a16="http://schemas.microsoft.com/office/drawing/2014/main" id="{260DA8CC-7951-8C69-1FC4-15239E7BD9EC}"/>
                  </a:ext>
                </a:extLst>
              </p:cNvPr>
              <p:cNvSpPr txBox="1">
                <a:spLocks noRot="1" noChangeAspect="1" noMove="1" noResize="1" noEditPoints="1" noAdjustHandles="1" noChangeArrowheads="1" noChangeShapeType="1" noTextEdit="1"/>
              </p:cNvSpPr>
              <p:nvPr/>
            </p:nvSpPr>
            <p:spPr>
              <a:xfrm>
                <a:off x="1619672" y="2708920"/>
                <a:ext cx="5904656" cy="523220"/>
              </a:xfrm>
              <a:prstGeom prst="rect">
                <a:avLst/>
              </a:prstGeom>
              <a:blipFill>
                <a:blip r:embed="rId3"/>
                <a:stretch>
                  <a:fillRect l="-2146" t="-9524" b="-3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180805-FA8D-016D-D3EF-49E52C9734F7}"/>
                  </a:ext>
                </a:extLst>
              </p:cNvPr>
              <p:cNvSpPr txBox="1"/>
              <p:nvPr/>
            </p:nvSpPr>
            <p:spPr>
              <a:xfrm>
                <a:off x="1642980" y="3389812"/>
                <a:ext cx="5904656" cy="523220"/>
              </a:xfrm>
              <a:prstGeom prst="rect">
                <a:avLst/>
              </a:prstGeom>
              <a:noFill/>
            </p:spPr>
            <p:txBody>
              <a:bodyPr wrap="square" rtlCol="0">
                <a:spAutoFit/>
              </a:bodyPr>
              <a:lstStyle/>
              <a:p>
                <a:r>
                  <a:rPr lang="en-US" sz="2800" dirty="0"/>
                  <a:t>Price</a:t>
                </a:r>
                <a:r>
                  <a:rPr lang="en-US" sz="2400" dirty="0"/>
                  <a:t> =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0</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𝐴𝑔𝑒</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2</m:t>
                        </m:r>
                      </m:sub>
                    </m:sSub>
                    <m:r>
                      <m:rPr>
                        <m:sty m:val="p"/>
                      </m:rPr>
                      <a:rPr lang="en-CA" sz="2400" b="0" i="0" smtClean="0">
                        <a:latin typeface="Cambria Math" panose="02040503050406030204" pitchFamily="18" charset="0"/>
                      </a:rPr>
                      <m:t>Mileage</m:t>
                    </m:r>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a14:m>
                <a:endParaRPr lang="en-US" sz="2400" dirty="0"/>
              </a:p>
            </p:txBody>
          </p:sp>
        </mc:Choice>
        <mc:Fallback xmlns="">
          <p:sp>
            <p:nvSpPr>
              <p:cNvPr id="6" name="TextBox 5">
                <a:extLst>
                  <a:ext uri="{FF2B5EF4-FFF2-40B4-BE49-F238E27FC236}">
                    <a16:creationId xmlns:a16="http://schemas.microsoft.com/office/drawing/2014/main" id="{0E180805-FA8D-016D-D3EF-49E52C9734F7}"/>
                  </a:ext>
                </a:extLst>
              </p:cNvPr>
              <p:cNvSpPr txBox="1">
                <a:spLocks noRot="1" noChangeAspect="1" noMove="1" noResize="1" noEditPoints="1" noAdjustHandles="1" noChangeArrowheads="1" noChangeShapeType="1" noTextEdit="1"/>
              </p:cNvSpPr>
              <p:nvPr/>
            </p:nvSpPr>
            <p:spPr>
              <a:xfrm>
                <a:off x="1642980" y="3389812"/>
                <a:ext cx="5904656" cy="523220"/>
              </a:xfrm>
              <a:prstGeom prst="rect">
                <a:avLst/>
              </a:prstGeom>
              <a:blipFill>
                <a:blip r:embed="rId4"/>
                <a:stretch>
                  <a:fillRect l="-2146" t="-11628" b="-30233"/>
                </a:stretch>
              </a:blipFill>
            </p:spPr>
            <p:txBody>
              <a:bodyPr/>
              <a:lstStyle/>
              <a:p>
                <a:r>
                  <a:rPr lang="en-US">
                    <a:noFill/>
                  </a:rPr>
                  <a:t> </a:t>
                </a:r>
              </a:p>
            </p:txBody>
          </p:sp>
        </mc:Fallback>
      </mc:AlternateContent>
    </p:spTree>
    <p:extLst>
      <p:ext uri="{BB962C8B-B14F-4D97-AF65-F5344CB8AC3E}">
        <p14:creationId xmlns:p14="http://schemas.microsoft.com/office/powerpoint/2010/main" val="784353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7DBC-F159-0E3E-F51B-60BECD20A26E}"/>
              </a:ext>
            </a:extLst>
          </p:cNvPr>
          <p:cNvSpPr>
            <a:spLocks noGrp="1"/>
          </p:cNvSpPr>
          <p:nvPr>
            <p:ph type="title"/>
          </p:nvPr>
        </p:nvSpPr>
        <p:spPr/>
        <p:txBody>
          <a:bodyPr/>
          <a:lstStyle/>
          <a:p>
            <a:r>
              <a:rPr lang="en-US" dirty="0"/>
              <a:t>Cross-Validation</a:t>
            </a:r>
          </a:p>
        </p:txBody>
      </p:sp>
      <p:sp>
        <p:nvSpPr>
          <p:cNvPr id="3" name="Slide Number Placeholder 2">
            <a:extLst>
              <a:ext uri="{FF2B5EF4-FFF2-40B4-BE49-F238E27FC236}">
                <a16:creationId xmlns:a16="http://schemas.microsoft.com/office/drawing/2014/main" id="{C37B7071-5AA4-0514-47FE-3ED00CA0650A}"/>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4" name="Content Placeholder 3">
            <a:extLst>
              <a:ext uri="{FF2B5EF4-FFF2-40B4-BE49-F238E27FC236}">
                <a16:creationId xmlns:a16="http://schemas.microsoft.com/office/drawing/2014/main" id="{C5C55495-BAC5-87E3-575D-0EED6A55864F}"/>
              </a:ext>
            </a:extLst>
          </p:cNvPr>
          <p:cNvSpPr>
            <a:spLocks noGrp="1"/>
          </p:cNvSpPr>
          <p:nvPr>
            <p:ph sz="quarter" idx="1"/>
          </p:nvPr>
        </p:nvSpPr>
        <p:spPr/>
        <p:txBody>
          <a:bodyPr/>
          <a:lstStyle/>
          <a:p>
            <a:r>
              <a:rPr lang="en-US" dirty="0"/>
              <a:t>All of the model evaluation measures that we have covered assess predictability in the sample data that was used to build the model.</a:t>
            </a:r>
          </a:p>
          <a:p>
            <a:r>
              <a:rPr lang="en-US" dirty="0"/>
              <a:t>These measures do not help evaluate how well an estimated model will predict an unseen sample.</a:t>
            </a:r>
          </a:p>
          <a:p>
            <a:r>
              <a:rPr lang="en-US" dirty="0"/>
              <a:t>It is possible a model performs well with the sample data used for estimation but then performs poorly once a new sample is evaluated (overfitting). </a:t>
            </a:r>
          </a:p>
        </p:txBody>
      </p:sp>
    </p:spTree>
    <p:extLst>
      <p:ext uri="{BB962C8B-B14F-4D97-AF65-F5344CB8AC3E}">
        <p14:creationId xmlns:p14="http://schemas.microsoft.com/office/powerpoint/2010/main" val="3556179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7DBC-F159-0E3E-F51B-60BECD20A26E}"/>
              </a:ext>
            </a:extLst>
          </p:cNvPr>
          <p:cNvSpPr>
            <a:spLocks noGrp="1"/>
          </p:cNvSpPr>
          <p:nvPr>
            <p:ph type="title"/>
          </p:nvPr>
        </p:nvSpPr>
        <p:spPr/>
        <p:txBody>
          <a:bodyPr/>
          <a:lstStyle/>
          <a:p>
            <a:r>
              <a:rPr lang="en-US" dirty="0"/>
              <a:t>Cross-Validation</a:t>
            </a:r>
          </a:p>
        </p:txBody>
      </p:sp>
      <p:sp>
        <p:nvSpPr>
          <p:cNvPr id="3" name="Slide Number Placeholder 2">
            <a:extLst>
              <a:ext uri="{FF2B5EF4-FFF2-40B4-BE49-F238E27FC236}">
                <a16:creationId xmlns:a16="http://schemas.microsoft.com/office/drawing/2014/main" id="{C37B7071-5AA4-0514-47FE-3ED00CA0650A}"/>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4" name="Content Placeholder 3">
            <a:extLst>
              <a:ext uri="{FF2B5EF4-FFF2-40B4-BE49-F238E27FC236}">
                <a16:creationId xmlns:a16="http://schemas.microsoft.com/office/drawing/2014/main" id="{C5C55495-BAC5-87E3-575D-0EED6A55864F}"/>
              </a:ext>
            </a:extLst>
          </p:cNvPr>
          <p:cNvSpPr>
            <a:spLocks noGrp="1"/>
          </p:cNvSpPr>
          <p:nvPr>
            <p:ph sz="quarter" idx="1"/>
          </p:nvPr>
        </p:nvSpPr>
        <p:spPr>
          <a:xfrm>
            <a:off x="914400" y="1447800"/>
            <a:ext cx="7772400" cy="5077544"/>
          </a:xfrm>
        </p:spPr>
        <p:txBody>
          <a:bodyPr>
            <a:normAutofit lnSpcReduction="10000"/>
          </a:bodyPr>
          <a:lstStyle/>
          <a:p>
            <a:r>
              <a:rPr lang="en-US" dirty="0"/>
              <a:t>We need a measure of the predictive power of a model based on a set of data not used in estimation.</a:t>
            </a:r>
          </a:p>
          <a:p>
            <a:r>
              <a:rPr lang="en-US" dirty="0"/>
              <a:t>Cross validation is a technique that evaluates predictive models by partitioning the sample.</a:t>
            </a:r>
          </a:p>
          <a:p>
            <a:pPr lvl="1"/>
            <a:r>
              <a:rPr lang="en-US" b="1" dirty="0"/>
              <a:t>Training set: </a:t>
            </a:r>
            <a:r>
              <a:rPr lang="en-US" dirty="0"/>
              <a:t>use to train the model.</a:t>
            </a:r>
          </a:p>
          <a:p>
            <a:pPr lvl="1"/>
            <a:r>
              <a:rPr lang="en-US" b="1" dirty="0"/>
              <a:t>Validation set: </a:t>
            </a:r>
            <a:r>
              <a:rPr lang="en-US" dirty="0"/>
              <a:t>use to evaluate/validate the model. </a:t>
            </a:r>
          </a:p>
          <a:p>
            <a:pPr lvl="1"/>
            <a:endParaRPr lang="en-US" dirty="0"/>
          </a:p>
          <a:p>
            <a:pPr lvl="1"/>
            <a:endParaRPr lang="en-US" dirty="0"/>
          </a:p>
          <a:p>
            <a:pPr lvl="1"/>
            <a:endParaRPr lang="en-US" dirty="0"/>
          </a:p>
          <a:p>
            <a:endParaRPr lang="en-US" dirty="0"/>
          </a:p>
          <a:p>
            <a:r>
              <a:rPr lang="en-US" dirty="0"/>
              <a:t>We want the model with a good performance in the training set to also have the best performance in the validation set.</a:t>
            </a:r>
          </a:p>
        </p:txBody>
      </p:sp>
      <p:pic>
        <p:nvPicPr>
          <p:cNvPr id="5" name="Picture 4" descr="A rectangular block has 2 unequal portions. The larger part represents training set and the smaller part represents validation set.">
            <a:extLst>
              <a:ext uri="{FF2B5EF4-FFF2-40B4-BE49-F238E27FC236}">
                <a16:creationId xmlns:a16="http://schemas.microsoft.com/office/drawing/2014/main" id="{E5C225B9-6BBC-B331-A820-F38BE3BAC4BD}"/>
              </a:ext>
            </a:extLst>
          </p:cNvPr>
          <p:cNvPicPr>
            <a:picLocks noChangeAspect="1"/>
          </p:cNvPicPr>
          <p:nvPr/>
        </p:nvPicPr>
        <p:blipFill>
          <a:blip r:embed="rId2"/>
          <a:stretch>
            <a:fillRect/>
          </a:stretch>
        </p:blipFill>
        <p:spPr>
          <a:xfrm>
            <a:off x="1979712" y="4077072"/>
            <a:ext cx="5184587" cy="1152128"/>
          </a:xfrm>
          <a:prstGeom prst="rect">
            <a:avLst/>
          </a:prstGeom>
        </p:spPr>
      </p:pic>
    </p:spTree>
    <p:extLst>
      <p:ext uri="{BB962C8B-B14F-4D97-AF65-F5344CB8AC3E}">
        <p14:creationId xmlns:p14="http://schemas.microsoft.com/office/powerpoint/2010/main" val="164749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3A90-1036-C8D4-9FF0-10E26D4E7DA8}"/>
              </a:ext>
            </a:extLst>
          </p:cNvPr>
          <p:cNvSpPr>
            <a:spLocks noGrp="1"/>
          </p:cNvSpPr>
          <p:nvPr>
            <p:ph type="title"/>
          </p:nvPr>
        </p:nvSpPr>
        <p:spPr/>
        <p:txBody>
          <a:bodyPr/>
          <a:lstStyle/>
          <a:p>
            <a:r>
              <a:rPr lang="en-US" dirty="0"/>
              <a:t>Cross-Validation</a:t>
            </a:r>
          </a:p>
        </p:txBody>
      </p:sp>
      <p:sp>
        <p:nvSpPr>
          <p:cNvPr id="3" name="Slide Number Placeholder 2">
            <a:extLst>
              <a:ext uri="{FF2B5EF4-FFF2-40B4-BE49-F238E27FC236}">
                <a16:creationId xmlns:a16="http://schemas.microsoft.com/office/drawing/2014/main" id="{A942D7D2-0D45-F3BF-9ED2-313B91DD0077}"/>
              </a:ext>
            </a:extLst>
          </p:cNvPr>
          <p:cNvSpPr>
            <a:spLocks noGrp="1"/>
          </p:cNvSpPr>
          <p:nvPr>
            <p:ph type="sldNum" sz="quarter" idx="12"/>
          </p:nvPr>
        </p:nvSpPr>
        <p:spPr/>
        <p:txBody>
          <a:bodyPr/>
          <a:lstStyle/>
          <a:p>
            <a:fld id="{B6F15528-21DE-4FAA-801E-634DDDAF4B2B}" type="slidenum">
              <a:rPr lang="en-US" smtClean="0"/>
              <a:pPr/>
              <a:t>28</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7A9B894-BC6B-9B5E-1E21-CD3C75244783}"/>
                  </a:ext>
                </a:extLst>
              </p:cNvPr>
              <p:cNvSpPr>
                <a:spLocks noGrp="1"/>
              </p:cNvSpPr>
              <p:nvPr>
                <p:ph sz="quarter" idx="1"/>
              </p:nvPr>
            </p:nvSpPr>
            <p:spPr/>
            <p:txBody>
              <a:bodyPr/>
              <a:lstStyle/>
              <a:p>
                <a:r>
                  <a:rPr lang="en-US" dirty="0"/>
                  <a:t>One of the most common performance measures that we use in Cross Validation is Root Mean Square Error (RMSE):</a:t>
                </a:r>
              </a:p>
              <a:p>
                <a:pPr marL="777240" lvl="1" indent="-457200">
                  <a:buFont typeface="+mj-lt"/>
                  <a:buAutoNum type="arabicPeriod"/>
                </a:pPr>
                <a:r>
                  <a:rPr lang="en-US" dirty="0"/>
                  <a:t>We use the estimates from the training set to predict the response variable in the validation set.</a:t>
                </a:r>
              </a:p>
              <a:p>
                <a:pPr marL="777240" lvl="1" indent="-457200">
                  <a:buFont typeface="+mj-lt"/>
                  <a:buAutoNum type="arabicPeriod"/>
                </a:pPr>
                <a:r>
                  <a:rPr lang="en-US" dirty="0"/>
                  <a:t>For each observation in the validation set, we find the residual: </a:t>
                </a:r>
                <a14:m>
                  <m:oMath xmlns:m="http://schemas.openxmlformats.org/officeDocument/2006/math">
                    <m:sSub>
                      <m:sSubPr>
                        <m:ctrlPr>
                          <a:rPr lang="en-CA" i="1" smtClean="0">
                            <a:latin typeface="Cambria Math" panose="02040503050406030204" pitchFamily="18" charset="0"/>
                          </a:rPr>
                        </m:ctrlPr>
                      </m:sSubPr>
                      <m:e>
                        <m:r>
                          <a:rPr lang="en-CA" b="0" i="1" smtClean="0">
                            <a:latin typeface="Cambria Math" panose="02040503050406030204" pitchFamily="18" charset="0"/>
                          </a:rPr>
                          <m:t>𝑒</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r>
                      <a:rPr lang="en-CA" i="1" smtClean="0">
                        <a:latin typeface="Cambria Math" panose="02040503050406030204" pitchFamily="18" charset="0"/>
                      </a:rPr>
                      <m:t>−</m:t>
                    </m:r>
                    <m:acc>
                      <m:accPr>
                        <m:chr m:val="̂"/>
                        <m:ctrlPr>
                          <a:rPr lang="en-CA" i="1" smtClean="0">
                            <a:latin typeface="Cambria Math" panose="02040503050406030204" pitchFamily="18" charset="0"/>
                          </a:rPr>
                        </m:ctrlPr>
                      </m:accPr>
                      <m:e>
                        <m:r>
                          <a:rPr lang="en-CA" b="0" i="1" smtClean="0">
                            <a:latin typeface="Cambria Math" panose="02040503050406030204" pitchFamily="18" charset="0"/>
                          </a:rPr>
                          <m:t>𝑦</m:t>
                        </m:r>
                      </m:e>
                    </m:acc>
                  </m:oMath>
                </a14:m>
                <a:endParaRPr lang="en-US" dirty="0"/>
              </a:p>
              <a:p>
                <a:pPr marL="777240" lvl="1" indent="-457200">
                  <a:buFont typeface="+mj-lt"/>
                  <a:buAutoNum type="arabicPeriod"/>
                </a:pPr>
                <a:r>
                  <a:rPr lang="en-US" dirty="0"/>
                  <a:t>RMSE = </a:t>
                </a:r>
                <a14:m>
                  <m:oMath xmlns:m="http://schemas.openxmlformats.org/officeDocument/2006/math">
                    <m:rad>
                      <m:radPr>
                        <m:degHide m:val="on"/>
                        <m:ctrlPr>
                          <a:rPr lang="en-US" sz="2800" i="1" smtClean="0">
                            <a:latin typeface="Cambria Math" panose="02040503050406030204" pitchFamily="18" charset="0"/>
                          </a:rPr>
                        </m:ctrlPr>
                      </m:radPr>
                      <m:deg/>
                      <m:e>
                        <m:f>
                          <m:fPr>
                            <m:ctrlPr>
                              <a:rPr lang="en-US" sz="2800" i="1" smtClean="0">
                                <a:latin typeface="Cambria Math" panose="02040503050406030204" pitchFamily="18" charset="0"/>
                              </a:rPr>
                            </m:ctrlPr>
                          </m:fPr>
                          <m:num>
                            <m:nary>
                              <m:naryPr>
                                <m:chr m:val="∑"/>
                                <m:subHide m:val="on"/>
                                <m:supHide m:val="on"/>
                                <m:ctrlPr>
                                  <a:rPr lang="en-US" sz="2800" i="1" smtClean="0">
                                    <a:latin typeface="Cambria Math" panose="02040503050406030204" pitchFamily="18" charset="0"/>
                                  </a:rPr>
                                </m:ctrlPr>
                              </m:naryPr>
                              <m:sub/>
                              <m:sup/>
                              <m:e>
                                <m:sSubSup>
                                  <m:sSubSupPr>
                                    <m:ctrlPr>
                                      <a:rPr lang="en-US" sz="2800" i="1" smtClean="0">
                                        <a:latin typeface="Cambria Math" panose="02040503050406030204" pitchFamily="18" charset="0"/>
                                      </a:rPr>
                                    </m:ctrlPr>
                                  </m:sSubSupPr>
                                  <m:e>
                                    <m:r>
                                      <a:rPr lang="en-CA" sz="2800" b="0" i="1" smtClean="0">
                                        <a:latin typeface="Cambria Math" panose="02040503050406030204" pitchFamily="18" charset="0"/>
                                      </a:rPr>
                                      <m:t>𝑒</m:t>
                                    </m:r>
                                  </m:e>
                                  <m:sub>
                                    <m:r>
                                      <a:rPr lang="en-CA" sz="2800" b="0" i="1" smtClean="0">
                                        <a:latin typeface="Cambria Math" panose="02040503050406030204" pitchFamily="18" charset="0"/>
                                      </a:rPr>
                                      <m:t>𝑖</m:t>
                                    </m:r>
                                  </m:sub>
                                  <m:sup>
                                    <m:r>
                                      <a:rPr lang="en-CA" sz="2800" b="0" i="1" smtClean="0">
                                        <a:latin typeface="Cambria Math" panose="02040503050406030204" pitchFamily="18" charset="0"/>
                                      </a:rPr>
                                      <m:t>2</m:t>
                                    </m:r>
                                  </m:sup>
                                </m:sSubSup>
                              </m:e>
                            </m:nary>
                          </m:num>
                          <m:den>
                            <m:sSup>
                              <m:sSupPr>
                                <m:ctrlPr>
                                  <a:rPr lang="en-US" sz="2800" i="1" smtClean="0">
                                    <a:latin typeface="Cambria Math" panose="02040503050406030204" pitchFamily="18" charset="0"/>
                                  </a:rPr>
                                </m:ctrlPr>
                              </m:sSupPr>
                              <m:e>
                                <m:r>
                                  <a:rPr lang="en-CA" sz="2800" b="0" i="1" smtClean="0">
                                    <a:latin typeface="Cambria Math" panose="02040503050406030204" pitchFamily="18" charset="0"/>
                                  </a:rPr>
                                  <m:t>𝑛</m:t>
                                </m:r>
                              </m:e>
                              <m:sup>
                                <m:r>
                                  <a:rPr lang="en-CA" sz="2800" b="0" i="1" smtClean="0">
                                    <a:latin typeface="Cambria Math" panose="02040503050406030204" pitchFamily="18" charset="0"/>
                                  </a:rPr>
                                  <m:t>∗</m:t>
                                </m:r>
                              </m:sup>
                            </m:sSup>
                          </m:den>
                        </m:f>
                      </m:e>
                    </m:rad>
                  </m:oMath>
                </a14:m>
                <a:r>
                  <a:rPr lang="en-US" dirty="0"/>
                  <a:t>, where </a:t>
                </a:r>
                <a14:m>
                  <m:oMath xmlns:m="http://schemas.openxmlformats.org/officeDocument/2006/math">
                    <m:sSup>
                      <m:sSupPr>
                        <m:ctrlPr>
                          <a:rPr lang="en-US" i="1">
                            <a:latin typeface="Cambria Math" panose="02040503050406030204" pitchFamily="18" charset="0"/>
                          </a:rPr>
                        </m:ctrlPr>
                      </m:sSupPr>
                      <m:e>
                        <m:r>
                          <a:rPr lang="en-CA" i="1">
                            <a:latin typeface="Cambria Math" panose="02040503050406030204" pitchFamily="18" charset="0"/>
                          </a:rPr>
                          <m:t>𝑛</m:t>
                        </m:r>
                      </m:e>
                      <m:sup>
                        <m:r>
                          <a:rPr lang="en-CA" i="1">
                            <a:latin typeface="Cambria Math" panose="02040503050406030204" pitchFamily="18" charset="0"/>
                          </a:rPr>
                          <m:t>∗</m:t>
                        </m:r>
                      </m:sup>
                    </m:sSup>
                  </m:oMath>
                </a14:m>
                <a:r>
                  <a:rPr lang="en-US" dirty="0"/>
                  <a:t> is the number of observations that we have in validation set.</a:t>
                </a:r>
              </a:p>
            </p:txBody>
          </p:sp>
        </mc:Choice>
        <mc:Fallback xmlns="">
          <p:sp>
            <p:nvSpPr>
              <p:cNvPr id="4" name="Content Placeholder 3">
                <a:extLst>
                  <a:ext uri="{FF2B5EF4-FFF2-40B4-BE49-F238E27FC236}">
                    <a16:creationId xmlns:a16="http://schemas.microsoft.com/office/drawing/2014/main" id="{D7A9B894-BC6B-9B5E-1E21-CD3C75244783}"/>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r="-1797"/>
                </a:stretch>
              </a:blipFill>
            </p:spPr>
            <p:txBody>
              <a:bodyPr/>
              <a:lstStyle/>
              <a:p>
                <a:r>
                  <a:rPr lang="en-US">
                    <a:noFill/>
                  </a:rPr>
                  <a:t> </a:t>
                </a:r>
              </a:p>
            </p:txBody>
          </p:sp>
        </mc:Fallback>
      </mc:AlternateContent>
    </p:spTree>
    <p:extLst>
      <p:ext uri="{BB962C8B-B14F-4D97-AF65-F5344CB8AC3E}">
        <p14:creationId xmlns:p14="http://schemas.microsoft.com/office/powerpoint/2010/main" val="42525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7DBC-F159-0E3E-F51B-60BECD20A26E}"/>
              </a:ext>
            </a:extLst>
          </p:cNvPr>
          <p:cNvSpPr>
            <a:spLocks noGrp="1"/>
          </p:cNvSpPr>
          <p:nvPr>
            <p:ph type="title"/>
          </p:nvPr>
        </p:nvSpPr>
        <p:spPr/>
        <p:txBody>
          <a:bodyPr/>
          <a:lstStyle/>
          <a:p>
            <a:r>
              <a:rPr lang="en-US" dirty="0"/>
              <a:t>Cross-Validation</a:t>
            </a:r>
          </a:p>
        </p:txBody>
      </p:sp>
      <p:sp>
        <p:nvSpPr>
          <p:cNvPr id="3" name="Slide Number Placeholder 2">
            <a:extLst>
              <a:ext uri="{FF2B5EF4-FFF2-40B4-BE49-F238E27FC236}">
                <a16:creationId xmlns:a16="http://schemas.microsoft.com/office/drawing/2014/main" id="{C37B7071-5AA4-0514-47FE-3ED00CA0650A}"/>
              </a:ext>
            </a:extLst>
          </p:cNvPr>
          <p:cNvSpPr>
            <a:spLocks noGrp="1"/>
          </p:cNvSpPr>
          <p:nvPr>
            <p:ph type="sldNum" sz="quarter" idx="12"/>
          </p:nvPr>
        </p:nvSpPr>
        <p:spPr/>
        <p:txBody>
          <a:bodyPr/>
          <a:lstStyle/>
          <a:p>
            <a:fld id="{B6F15528-21DE-4FAA-801E-634DDDAF4B2B}" type="slidenum">
              <a:rPr lang="en-US" smtClean="0"/>
              <a:pPr/>
              <a:t>29</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5C55495-BAC5-87E3-575D-0EED6A55864F}"/>
                  </a:ext>
                </a:extLst>
              </p:cNvPr>
              <p:cNvSpPr>
                <a:spLocks noGrp="1"/>
              </p:cNvSpPr>
              <p:nvPr>
                <p:ph sz="quarter" idx="1"/>
              </p:nvPr>
            </p:nvSpPr>
            <p:spPr>
              <a:xfrm>
                <a:off x="467544" y="1447800"/>
                <a:ext cx="8219256" cy="5077544"/>
              </a:xfrm>
            </p:spPr>
            <p:txBody>
              <a:bodyPr>
                <a:normAutofit/>
              </a:bodyPr>
              <a:lstStyle/>
              <a:p>
                <a:pPr marL="0" indent="0">
                  <a:buNone/>
                </a:pPr>
                <a:r>
                  <a:rPr lang="en-US" b="1" dirty="0"/>
                  <a:t>Example 4.8:</a:t>
                </a:r>
                <a:r>
                  <a:rPr lang="en-US" dirty="0"/>
                  <a:t> In Example 4.1, consider the following models.</a:t>
                </a:r>
              </a:p>
              <a:p>
                <a:pPr marL="0" indent="0">
                  <a:buNone/>
                </a:pPr>
                <a:r>
                  <a:rPr lang="en-US" dirty="0"/>
                  <a:t>Model 1: Earnings =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CA">
                            <a:latin typeface="Cambria Math" panose="02040503050406030204" pitchFamily="18" charset="0"/>
                          </a:rPr>
                          <m:t>0</m:t>
                        </m:r>
                      </m:sub>
                    </m:sSub>
                    <m:r>
                      <a:rPr lang="en-CA">
                        <a:latin typeface="Cambria Math" panose="02040503050406030204" pitchFamily="18" charset="0"/>
                      </a:rPr>
                      <m:t>+</m:t>
                    </m:r>
                    <m:sSub>
                      <m:sSubPr>
                        <m:ctrlPr>
                          <a:rPr lang="en-CA" i="1">
                            <a:latin typeface="Cambria Math" panose="02040503050406030204" pitchFamily="18" charset="0"/>
                          </a:rPr>
                        </m:ctrlPr>
                      </m:sSubPr>
                      <m:e>
                        <m:r>
                          <a:rPr lang="en-CA">
                            <a:latin typeface="Cambria Math" panose="02040503050406030204" pitchFamily="18" charset="0"/>
                          </a:rPr>
                          <m:t>𝛽</m:t>
                        </m:r>
                      </m:e>
                      <m:sub>
                        <m:r>
                          <a:rPr lang="en-CA">
                            <a:latin typeface="Cambria Math" panose="02040503050406030204" pitchFamily="18" charset="0"/>
                          </a:rPr>
                          <m:t>1</m:t>
                        </m:r>
                      </m:sub>
                    </m:sSub>
                    <m:r>
                      <a:rPr lang="en-CA">
                        <a:latin typeface="Cambria Math" panose="02040503050406030204" pitchFamily="18" charset="0"/>
                      </a:rPr>
                      <m:t>𝐶𝑜𝑠𝑡</m:t>
                    </m:r>
                    <m:r>
                      <a:rPr lang="en-CA">
                        <a:latin typeface="Cambria Math" panose="02040503050406030204" pitchFamily="18" charset="0"/>
                      </a:rPr>
                      <m:t>+</m:t>
                    </m:r>
                    <m:sSub>
                      <m:sSubPr>
                        <m:ctrlPr>
                          <a:rPr lang="en-CA" i="1">
                            <a:latin typeface="Cambria Math" panose="02040503050406030204" pitchFamily="18" charset="0"/>
                          </a:rPr>
                        </m:ctrlPr>
                      </m:sSubPr>
                      <m:e>
                        <m:r>
                          <a:rPr lang="en-CA">
                            <a:latin typeface="Cambria Math" panose="02040503050406030204" pitchFamily="18" charset="0"/>
                          </a:rPr>
                          <m:t>𝛽</m:t>
                        </m:r>
                      </m:e>
                      <m:sub>
                        <m:r>
                          <a:rPr lang="en-CA">
                            <a:latin typeface="Cambria Math" panose="02040503050406030204" pitchFamily="18" charset="0"/>
                          </a:rPr>
                          <m:t>2</m:t>
                        </m:r>
                      </m:sub>
                    </m:sSub>
                    <m:r>
                      <m:rPr>
                        <m:sty m:val="p"/>
                      </m:rPr>
                      <a:rPr lang="en-CA">
                        <a:latin typeface="Cambria Math" panose="02040503050406030204" pitchFamily="18" charset="0"/>
                      </a:rPr>
                      <m:t>Grad</m:t>
                    </m:r>
                    <m:r>
                      <a:rPr lang="en-CA">
                        <a:latin typeface="Cambria Math" panose="02040503050406030204" pitchFamily="18" charset="0"/>
                      </a:rPr>
                      <m:t>+</m:t>
                    </m:r>
                    <m:r>
                      <a:rPr lang="en-CA">
                        <a:latin typeface="Cambria Math" panose="02040503050406030204" pitchFamily="18" charset="0"/>
                      </a:rPr>
                      <m:t>𝜀</m:t>
                    </m:r>
                  </m:oMath>
                </a14:m>
                <a:r>
                  <a:rPr lang="en-US" dirty="0"/>
                  <a:t> </a:t>
                </a:r>
              </a:p>
              <a:p>
                <a:pPr marL="0" indent="0">
                  <a:buNone/>
                </a:pPr>
                <a:r>
                  <a:rPr lang="en-US" dirty="0"/>
                  <a:t>Model 2: Earnings =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0</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𝐶𝑜𝑠𝑡</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2</m:t>
                        </m:r>
                      </m:sub>
                    </m:sSub>
                    <m:r>
                      <m:rPr>
                        <m:sty m:val="p"/>
                      </m:rPr>
                      <a:rPr lang="en-CA" sz="2400" b="0" i="0" smtClean="0">
                        <a:latin typeface="Cambria Math" panose="02040503050406030204" pitchFamily="18" charset="0"/>
                      </a:rPr>
                      <m:t>Grad</m:t>
                    </m:r>
                    <m:r>
                      <a:rPr lang="en-CA" sz="2400" b="0" i="0"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3</m:t>
                        </m:r>
                      </m:sub>
                    </m:sSub>
                    <m:r>
                      <m:rPr>
                        <m:sty m:val="p"/>
                      </m:rPr>
                      <a:rPr lang="en-CA" sz="2400" b="0" i="0" smtClean="0">
                        <a:latin typeface="Cambria Math" panose="02040503050406030204" pitchFamily="18" charset="0"/>
                      </a:rPr>
                      <m:t>Debt</m:t>
                    </m:r>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a14:m>
                <a:r>
                  <a:rPr lang="en-US" dirty="0"/>
                  <a:t> </a:t>
                </a:r>
              </a:p>
              <a:p>
                <a:pPr marL="0" indent="0">
                  <a:buNone/>
                </a:pPr>
                <a:endParaRPr lang="en-US" dirty="0"/>
              </a:p>
              <a:p>
                <a:pPr marL="0" indent="0">
                  <a:buNone/>
                </a:pPr>
                <a:r>
                  <a:rPr lang="en-US" dirty="0"/>
                  <a:t>Use the first 80 observations for training the models, and the last 36 observations for validating the models using RMSE.</a:t>
                </a:r>
              </a:p>
            </p:txBody>
          </p:sp>
        </mc:Choice>
        <mc:Fallback xmlns="">
          <p:sp>
            <p:nvSpPr>
              <p:cNvPr id="4" name="Content Placeholder 3">
                <a:extLst>
                  <a:ext uri="{FF2B5EF4-FFF2-40B4-BE49-F238E27FC236}">
                    <a16:creationId xmlns:a16="http://schemas.microsoft.com/office/drawing/2014/main" id="{C5C55495-BAC5-87E3-575D-0EED6A55864F}"/>
                  </a:ext>
                </a:extLst>
              </p:cNvPr>
              <p:cNvSpPr>
                <a:spLocks noGrp="1" noRot="1" noChangeAspect="1" noMove="1" noResize="1" noEditPoints="1" noAdjustHandles="1" noChangeArrowheads="1" noChangeShapeType="1" noTextEdit="1"/>
              </p:cNvSpPr>
              <p:nvPr>
                <p:ph sz="quarter" idx="1"/>
              </p:nvPr>
            </p:nvSpPr>
            <p:spPr>
              <a:xfrm>
                <a:off x="467544" y="1447800"/>
                <a:ext cx="8219256" cy="5077544"/>
              </a:xfrm>
              <a:blipFill>
                <a:blip r:embed="rId2"/>
                <a:stretch>
                  <a:fillRect l="-1235" t="-1250" r="-2006"/>
                </a:stretch>
              </a:blipFill>
            </p:spPr>
            <p:txBody>
              <a:bodyPr/>
              <a:lstStyle/>
              <a:p>
                <a:r>
                  <a:rPr lang="en-US">
                    <a:noFill/>
                  </a:rPr>
                  <a:t> </a:t>
                </a:r>
              </a:p>
            </p:txBody>
          </p:sp>
        </mc:Fallback>
      </mc:AlternateContent>
    </p:spTree>
    <p:extLst>
      <p:ext uri="{BB962C8B-B14F-4D97-AF65-F5344CB8AC3E}">
        <p14:creationId xmlns:p14="http://schemas.microsoft.com/office/powerpoint/2010/main" val="1378238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7DBC-F159-0E3E-F51B-60BECD20A26E}"/>
              </a:ext>
            </a:extLst>
          </p:cNvPr>
          <p:cNvSpPr>
            <a:spLocks noGrp="1"/>
          </p:cNvSpPr>
          <p:nvPr>
            <p:ph type="title"/>
          </p:nvPr>
        </p:nvSpPr>
        <p:spPr/>
        <p:txBody>
          <a:bodyPr/>
          <a:lstStyle/>
          <a:p>
            <a:r>
              <a:rPr lang="en-US" dirty="0"/>
              <a:t>Cross-Validation</a:t>
            </a:r>
          </a:p>
        </p:txBody>
      </p:sp>
      <p:sp>
        <p:nvSpPr>
          <p:cNvPr id="3" name="Slide Number Placeholder 2">
            <a:extLst>
              <a:ext uri="{FF2B5EF4-FFF2-40B4-BE49-F238E27FC236}">
                <a16:creationId xmlns:a16="http://schemas.microsoft.com/office/drawing/2014/main" id="{C37B7071-5AA4-0514-47FE-3ED00CA0650A}"/>
              </a:ext>
            </a:extLst>
          </p:cNvPr>
          <p:cNvSpPr>
            <a:spLocks noGrp="1"/>
          </p:cNvSpPr>
          <p:nvPr>
            <p:ph type="sldNum" sz="quarter" idx="12"/>
          </p:nvPr>
        </p:nvSpPr>
        <p:spPr/>
        <p:txBody>
          <a:bodyPr/>
          <a:lstStyle/>
          <a:p>
            <a:fld id="{B6F15528-21DE-4FAA-801E-634DDDAF4B2B}" type="slidenum">
              <a:rPr lang="en-US" smtClean="0"/>
              <a:pPr/>
              <a:t>30</a:t>
            </a:fld>
            <a:endParaRPr lang="en-US"/>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C5C55495-BAC5-87E3-575D-0EED6A55864F}"/>
                  </a:ext>
                </a:extLst>
              </p:cNvPr>
              <p:cNvSpPr>
                <a:spLocks noGrp="1"/>
              </p:cNvSpPr>
              <p:nvPr>
                <p:ph sz="quarter" idx="1"/>
              </p:nvPr>
            </p:nvSpPr>
            <p:spPr>
              <a:xfrm>
                <a:off x="467544" y="1124744"/>
                <a:ext cx="8530152" cy="5400600"/>
              </a:xfrm>
            </p:spPr>
            <p:txBody>
              <a:bodyPr>
                <a:normAutofit lnSpcReduction="10000"/>
              </a:bodyPr>
              <a:lstStyle/>
              <a:p>
                <a:pPr marL="0" indent="0">
                  <a:buNone/>
                </a:pPr>
                <a:r>
                  <a:rPr lang="en-US" b="1" dirty="0"/>
                  <a:t>Example 4.9:</a:t>
                </a:r>
                <a:r>
                  <a:rPr lang="en-US" dirty="0"/>
                  <a:t> Many today’s leading companies, including Google, Microsoft, and Meta, are based on technologies developed within universities. A researcher wants to analyze university factors that enhance innovation. The data set “Startups” shows information that she has collected on 143 universities for a regression where the response variable is the number of startups, and the predictor variables are university’s research expenditure, the number of patent issued, and the age of its technology transfer office. Consider following models</a:t>
                </a:r>
              </a:p>
              <a:p>
                <a:pPr marL="0" indent="0">
                  <a:buNone/>
                </a:pPr>
                <a:r>
                  <a:rPr lang="en-US" dirty="0"/>
                  <a:t>Model 1: Startups =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CA">
                            <a:latin typeface="Cambria Math" panose="02040503050406030204" pitchFamily="18" charset="0"/>
                          </a:rPr>
                          <m:t>0</m:t>
                        </m:r>
                      </m:sub>
                    </m:sSub>
                    <m:r>
                      <a:rPr lang="en-CA">
                        <a:latin typeface="Cambria Math" panose="02040503050406030204" pitchFamily="18" charset="0"/>
                      </a:rPr>
                      <m:t>+</m:t>
                    </m:r>
                    <m:sSub>
                      <m:sSubPr>
                        <m:ctrlPr>
                          <a:rPr lang="en-CA" i="1">
                            <a:latin typeface="Cambria Math" panose="02040503050406030204" pitchFamily="18" charset="0"/>
                          </a:rPr>
                        </m:ctrlPr>
                      </m:sSubPr>
                      <m:e>
                        <m:r>
                          <a:rPr lang="en-CA">
                            <a:latin typeface="Cambria Math" panose="02040503050406030204" pitchFamily="18" charset="0"/>
                          </a:rPr>
                          <m:t>𝛽</m:t>
                        </m:r>
                      </m:e>
                      <m:sub>
                        <m:r>
                          <a:rPr lang="en-CA">
                            <a:latin typeface="Cambria Math" panose="02040503050406030204" pitchFamily="18" charset="0"/>
                          </a:rPr>
                          <m:t>1</m:t>
                        </m:r>
                      </m:sub>
                    </m:sSub>
                    <m:r>
                      <m:rPr>
                        <m:sty m:val="p"/>
                      </m:rPr>
                      <a:rPr lang="en-CA" b="0" i="0" smtClean="0">
                        <a:latin typeface="Cambria Math" panose="02040503050406030204" pitchFamily="18" charset="0"/>
                      </a:rPr>
                      <m:t>Research</m:t>
                    </m:r>
                    <m:r>
                      <a:rPr lang="en-CA">
                        <a:latin typeface="Cambria Math" panose="02040503050406030204" pitchFamily="18" charset="0"/>
                      </a:rPr>
                      <m:t>+</m:t>
                    </m:r>
                    <m:sSub>
                      <m:sSubPr>
                        <m:ctrlPr>
                          <a:rPr lang="en-CA" i="1">
                            <a:latin typeface="Cambria Math" panose="02040503050406030204" pitchFamily="18" charset="0"/>
                          </a:rPr>
                        </m:ctrlPr>
                      </m:sSubPr>
                      <m:e>
                        <m:r>
                          <a:rPr lang="en-CA">
                            <a:latin typeface="Cambria Math" panose="02040503050406030204" pitchFamily="18" charset="0"/>
                          </a:rPr>
                          <m:t>𝛽</m:t>
                        </m:r>
                      </m:e>
                      <m:sub>
                        <m:r>
                          <a:rPr lang="en-CA">
                            <a:latin typeface="Cambria Math" panose="02040503050406030204" pitchFamily="18" charset="0"/>
                          </a:rPr>
                          <m:t>2</m:t>
                        </m:r>
                      </m:sub>
                    </m:sSub>
                    <m:r>
                      <m:rPr>
                        <m:sty m:val="p"/>
                      </m:rPr>
                      <a:rPr lang="en-CA" b="0" i="0" smtClean="0">
                        <a:latin typeface="Cambria Math" panose="02040503050406030204" pitchFamily="18" charset="0"/>
                      </a:rPr>
                      <m:t>Patents</m:t>
                    </m:r>
                    <m:r>
                      <a:rPr lang="en-CA">
                        <a:latin typeface="Cambria Math" panose="02040503050406030204" pitchFamily="18" charset="0"/>
                      </a:rPr>
                      <m:t>+</m:t>
                    </m:r>
                    <m:r>
                      <a:rPr lang="en-CA">
                        <a:latin typeface="Cambria Math" panose="02040503050406030204" pitchFamily="18" charset="0"/>
                      </a:rPr>
                      <m:t>𝜀</m:t>
                    </m:r>
                  </m:oMath>
                </a14:m>
                <a:r>
                  <a:rPr lang="en-US" dirty="0"/>
                  <a:t> </a:t>
                </a:r>
              </a:p>
              <a:p>
                <a:pPr marL="0" indent="0">
                  <a:buNone/>
                </a:pPr>
                <a:r>
                  <a:rPr lang="en-US" dirty="0"/>
                  <a:t>Model 2: Startups =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0</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1</m:t>
                        </m:r>
                      </m:sub>
                    </m:sSub>
                    <m:r>
                      <m:rPr>
                        <m:sty m:val="p"/>
                      </m:rPr>
                      <a:rPr lang="en-CA" sz="2400" b="0" i="0" smtClean="0">
                        <a:latin typeface="Cambria Math" panose="02040503050406030204" pitchFamily="18" charset="0"/>
                      </a:rPr>
                      <m:t>Research</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2</m:t>
                        </m:r>
                      </m:sub>
                    </m:sSub>
                    <m:r>
                      <m:rPr>
                        <m:sty m:val="p"/>
                      </m:rPr>
                      <a:rPr lang="en-CA" sz="2400" b="0" i="0" smtClean="0">
                        <a:latin typeface="Cambria Math" panose="02040503050406030204" pitchFamily="18" charset="0"/>
                      </a:rPr>
                      <m:t>Patents</m:t>
                    </m:r>
                    <m:r>
                      <a:rPr lang="en-CA" sz="2400" b="0" i="0"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3</m:t>
                        </m:r>
                      </m:sub>
                    </m:sSub>
                    <m:r>
                      <m:rPr>
                        <m:sty m:val="p"/>
                      </m:rPr>
                      <a:rPr lang="en-CA" sz="2400" b="0" i="0" smtClean="0">
                        <a:latin typeface="Cambria Math" panose="02040503050406030204" pitchFamily="18" charset="0"/>
                      </a:rPr>
                      <m:t>Duration</m:t>
                    </m:r>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a14:m>
                <a:r>
                  <a:rPr lang="en-US" dirty="0"/>
                  <a:t> </a:t>
                </a:r>
              </a:p>
              <a:p>
                <a:pPr marL="0" indent="0">
                  <a:buNone/>
                </a:pPr>
                <a:r>
                  <a:rPr lang="en-US" dirty="0"/>
                  <a:t>Use the first 110 observations for training the models, and the last 33 observations for validating the models using RMSE.</a:t>
                </a:r>
              </a:p>
            </p:txBody>
          </p:sp>
        </mc:Choice>
        <mc:Fallback>
          <p:sp>
            <p:nvSpPr>
              <p:cNvPr id="4" name="Content Placeholder 3">
                <a:extLst>
                  <a:ext uri="{FF2B5EF4-FFF2-40B4-BE49-F238E27FC236}">
                    <a16:creationId xmlns:a16="http://schemas.microsoft.com/office/drawing/2014/main" id="{C5C55495-BAC5-87E3-575D-0EED6A55864F}"/>
                  </a:ext>
                </a:extLst>
              </p:cNvPr>
              <p:cNvSpPr>
                <a:spLocks noGrp="1" noRot="1" noChangeAspect="1" noMove="1" noResize="1" noEditPoints="1" noAdjustHandles="1" noChangeArrowheads="1" noChangeShapeType="1" noTextEdit="1"/>
              </p:cNvSpPr>
              <p:nvPr>
                <p:ph sz="quarter" idx="1"/>
              </p:nvPr>
            </p:nvSpPr>
            <p:spPr>
              <a:xfrm>
                <a:off x="467544" y="1124744"/>
                <a:ext cx="8530152" cy="5400600"/>
              </a:xfrm>
              <a:blipFill>
                <a:blip r:embed="rId2"/>
                <a:stretch>
                  <a:fillRect l="-1189" t="-1643" r="-1189" b="-1174"/>
                </a:stretch>
              </a:blipFill>
            </p:spPr>
            <p:txBody>
              <a:bodyPr/>
              <a:lstStyle/>
              <a:p>
                <a:r>
                  <a:rPr lang="en-US">
                    <a:noFill/>
                  </a:rPr>
                  <a:t> </a:t>
                </a:r>
              </a:p>
            </p:txBody>
          </p:sp>
        </mc:Fallback>
      </mc:AlternateContent>
    </p:spTree>
    <p:extLst>
      <p:ext uri="{BB962C8B-B14F-4D97-AF65-F5344CB8AC3E}">
        <p14:creationId xmlns:p14="http://schemas.microsoft.com/office/powerpoint/2010/main" val="2630557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914400" y="1447800"/>
            <a:ext cx="7772400" cy="5149552"/>
          </a:xfrm>
        </p:spPr>
        <p:txBody>
          <a:bodyPr>
            <a:normAutofit/>
          </a:bodyPr>
          <a:lstStyle/>
          <a:p>
            <a:r>
              <a:rPr lang="en-CA" dirty="0"/>
              <a:t>We have considered the case where dummy (binary) variables are used as predictor variables.</a:t>
            </a:r>
          </a:p>
          <a:p>
            <a:r>
              <a:rPr lang="en-CA" dirty="0"/>
              <a:t>Response variables can be binary as well.</a:t>
            </a:r>
          </a:p>
          <a:p>
            <a:r>
              <a:rPr lang="en-CA" dirty="0"/>
              <a:t>E.g.: A telecommunication company wants to identify which customers are likely to cancel their service in the next period (inputs: monthly bill amount, contract type, length of time as a customer, usage pattern, etc.).</a:t>
            </a:r>
          </a:p>
          <a:p>
            <a:r>
              <a:rPr lang="en-CA" dirty="0"/>
              <a:t>E.g.: Whether or not to approve a loan</a:t>
            </a:r>
          </a:p>
          <a:p>
            <a:pPr marL="0" indent="0">
              <a:buNone/>
            </a:pPr>
            <a:r>
              <a:rPr lang="en-CA" dirty="0"/>
              <a:t> </a:t>
            </a:r>
            <a:endParaRPr lang="en-US" dirty="0"/>
          </a:p>
        </p:txBody>
      </p:sp>
    </p:spTree>
    <p:extLst>
      <p:ext uri="{BB962C8B-B14F-4D97-AF65-F5344CB8AC3E}">
        <p14:creationId xmlns:p14="http://schemas.microsoft.com/office/powerpoint/2010/main" val="3459991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32</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914400" y="1447800"/>
                <a:ext cx="7772400" cy="5149552"/>
              </a:xfrm>
            </p:spPr>
            <p:txBody>
              <a:bodyPr>
                <a:normAutofit/>
              </a:bodyPr>
              <a:lstStyle/>
              <a:p>
                <a:r>
                  <a:rPr lang="en-CA" dirty="0"/>
                  <a:t>Consider a linear regression model.</a:t>
                </a:r>
              </a:p>
              <a:p>
                <a:pPr marL="0" indent="0">
                  <a:buNone/>
                </a:pPr>
                <a:endParaRPr lang="en-CA" dirty="0"/>
              </a:p>
              <a:p>
                <a:r>
                  <a:rPr lang="en-CA" dirty="0"/>
                  <a:t>Assume </a:t>
                </a:r>
                <a14:m>
                  <m:oMath xmlns:m="http://schemas.openxmlformats.org/officeDocument/2006/math">
                    <m:r>
                      <a:rPr lang="en-CA" b="0" i="1" smtClean="0">
                        <a:latin typeface="Cambria Math" panose="02040503050406030204" pitchFamily="18" charset="0"/>
                      </a:rPr>
                      <m:t>𝑦</m:t>
                    </m:r>
                  </m:oMath>
                </a14:m>
                <a:r>
                  <a:rPr lang="en-CA" dirty="0"/>
                  <a:t> is a binary response. </a:t>
                </a:r>
              </a:p>
              <a:p>
                <a:r>
                  <a:rPr lang="en-CA" dirty="0"/>
                  <a:t>Instead of considering </a:t>
                </a:r>
                <a14:m>
                  <m:oMath xmlns:m="http://schemas.openxmlformats.org/officeDocument/2006/math">
                    <m:r>
                      <a:rPr lang="en-CA" b="0" i="1" smtClean="0">
                        <a:latin typeface="Cambria Math" panose="02040503050406030204" pitchFamily="18" charset="0"/>
                      </a:rPr>
                      <m:t>𝑦</m:t>
                    </m:r>
                  </m:oMath>
                </a14:m>
                <a:r>
                  <a:rPr lang="en-US" dirty="0"/>
                  <a:t> as a binary variable, we can consider it as a probability of success. </a:t>
                </a:r>
              </a:p>
              <a:p>
                <a:endParaRPr lang="en-US" dirty="0"/>
              </a:p>
              <a:p>
                <a:r>
                  <a:rPr lang="en-US" dirty="0"/>
                  <a:t>This is called </a:t>
                </a:r>
                <a:r>
                  <a:rPr lang="en-US" b="1" dirty="0"/>
                  <a:t>Linear Probability Model (LPM)</a:t>
                </a:r>
                <a:r>
                  <a:rPr lang="en-US" dirty="0"/>
                  <a:t>.</a:t>
                </a:r>
              </a:p>
              <a:p>
                <a:r>
                  <a:rPr lang="en-US" dirty="0"/>
                  <a:t>The estimated model is:</a:t>
                </a:r>
              </a:p>
              <a:p>
                <a:pPr marL="0" indent="0">
                  <a:buNone/>
                </a:pPr>
                <a14:m>
                  <m:oMathPara xmlns:m="http://schemas.openxmlformats.org/officeDocument/2006/math">
                    <m:oMathParaPr>
                      <m:jc m:val="centerGroup"/>
                    </m:oMathParaPr>
                    <m:oMath xmlns:m="http://schemas.openxmlformats.org/officeDocument/2006/math">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𝑝</m:t>
                          </m:r>
                        </m:e>
                      </m:acc>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𝑘</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oMath>
                  </m:oMathPara>
                </a14:m>
                <a:endParaRPr lang="en-CA" b="0" dirty="0"/>
              </a:p>
              <a:p>
                <a:endParaRPr lang="en-US" dirty="0"/>
              </a:p>
            </p:txBody>
          </p:sp>
        </mc:Choice>
        <mc:Fallback xmlns="">
          <p:sp>
            <p:nvSpPr>
              <p:cNvPr id="4" name="Content Placeholder 3">
                <a:extLst>
                  <a:ext uri="{FF2B5EF4-FFF2-40B4-BE49-F238E27FC236}">
                    <a16:creationId xmlns:a16="http://schemas.microsoft.com/office/drawing/2014/main" id="{3BA8ABC2-6DD1-660E-9FF9-F136228F6092}"/>
                  </a:ext>
                </a:extLst>
              </p:cNvPr>
              <p:cNvSpPr>
                <a:spLocks noGrp="1" noRot="1" noChangeAspect="1" noMove="1" noResize="1" noEditPoints="1" noAdjustHandles="1" noChangeArrowheads="1" noChangeShapeType="1" noTextEdit="1"/>
              </p:cNvSpPr>
              <p:nvPr>
                <p:ph sz="quarter" idx="1"/>
              </p:nvPr>
            </p:nvSpPr>
            <p:spPr>
              <a:xfrm>
                <a:off x="914400" y="1447800"/>
                <a:ext cx="7772400" cy="5149552"/>
              </a:xfrm>
              <a:blipFill>
                <a:blip r:embed="rId2"/>
                <a:stretch>
                  <a:fillRect l="-817" t="-12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7045267-4688-2060-84F4-21DC3C6AA531}"/>
                  </a:ext>
                </a:extLst>
              </p:cNvPr>
              <p:cNvSpPr txBox="1"/>
              <p:nvPr/>
            </p:nvSpPr>
            <p:spPr>
              <a:xfrm>
                <a:off x="2051720" y="1988840"/>
                <a:ext cx="5256584" cy="46166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𝑦</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0</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1</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2</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𝑘</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b="0" i="1" smtClean="0">
                              <a:latin typeface="Cambria Math" panose="02040503050406030204" pitchFamily="18" charset="0"/>
                            </a:rPr>
                            <m:t>𝑘</m:t>
                          </m:r>
                        </m:sub>
                      </m:sSub>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m:oMathPara>
                </a14:m>
                <a:endParaRPr lang="en-US" sz="2000" dirty="0"/>
              </a:p>
            </p:txBody>
          </p:sp>
        </mc:Choice>
        <mc:Fallback xmlns="">
          <p:sp>
            <p:nvSpPr>
              <p:cNvPr id="6" name="TextBox 5">
                <a:extLst>
                  <a:ext uri="{FF2B5EF4-FFF2-40B4-BE49-F238E27FC236}">
                    <a16:creationId xmlns:a16="http://schemas.microsoft.com/office/drawing/2014/main" id="{87045267-4688-2060-84F4-21DC3C6AA531}"/>
                  </a:ext>
                </a:extLst>
              </p:cNvPr>
              <p:cNvSpPr txBox="1">
                <a:spLocks noRot="1" noChangeAspect="1" noMove="1" noResize="1" noEditPoints="1" noAdjustHandles="1" noChangeArrowheads="1" noChangeShapeType="1" noTextEdit="1"/>
              </p:cNvSpPr>
              <p:nvPr/>
            </p:nvSpPr>
            <p:spPr>
              <a:xfrm>
                <a:off x="2051720" y="1988840"/>
                <a:ext cx="5256584" cy="461665"/>
              </a:xfrm>
              <a:prstGeom prst="rect">
                <a:avLst/>
              </a:prstGeom>
              <a:blipFill>
                <a:blip r:embed="rId3"/>
                <a:stretch>
                  <a:fillRect b="-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CFEEFF-4459-2454-953E-D25A732B3FEF}"/>
                  </a:ext>
                </a:extLst>
              </p:cNvPr>
              <p:cNvSpPr txBox="1"/>
              <p:nvPr/>
            </p:nvSpPr>
            <p:spPr>
              <a:xfrm>
                <a:off x="2055292" y="3837910"/>
                <a:ext cx="5256584" cy="46166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CA" sz="2400" b="0" i="1" smtClean="0">
                          <a:latin typeface="Cambria Math" panose="02040503050406030204" pitchFamily="18" charset="0"/>
                        </a:rPr>
                        <m:t>𝑝</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0</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1</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𝑥</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2</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𝑘</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b="0" i="1" smtClean="0">
                              <a:latin typeface="Cambria Math" panose="02040503050406030204" pitchFamily="18" charset="0"/>
                            </a:rPr>
                            <m:t>𝑘</m:t>
                          </m:r>
                        </m:sub>
                      </m:sSub>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m:oMathPara>
                </a14:m>
                <a:endParaRPr lang="en-US" sz="2000" dirty="0"/>
              </a:p>
            </p:txBody>
          </p:sp>
        </mc:Choice>
        <mc:Fallback xmlns="">
          <p:sp>
            <p:nvSpPr>
              <p:cNvPr id="8" name="TextBox 7">
                <a:extLst>
                  <a:ext uri="{FF2B5EF4-FFF2-40B4-BE49-F238E27FC236}">
                    <a16:creationId xmlns:a16="http://schemas.microsoft.com/office/drawing/2014/main" id="{2ECFEEFF-4459-2454-953E-D25A732B3FEF}"/>
                  </a:ext>
                </a:extLst>
              </p:cNvPr>
              <p:cNvSpPr txBox="1">
                <a:spLocks noRot="1" noChangeAspect="1" noMove="1" noResize="1" noEditPoints="1" noAdjustHandles="1" noChangeArrowheads="1" noChangeShapeType="1" noTextEdit="1"/>
              </p:cNvSpPr>
              <p:nvPr/>
            </p:nvSpPr>
            <p:spPr>
              <a:xfrm>
                <a:off x="2055292" y="3837910"/>
                <a:ext cx="5256584" cy="461665"/>
              </a:xfrm>
              <a:prstGeom prst="rect">
                <a:avLst/>
              </a:prstGeom>
              <a:blipFill>
                <a:blip r:embed="rId4"/>
                <a:stretch>
                  <a:fillRect b="-13514"/>
                </a:stretch>
              </a:blipFill>
            </p:spPr>
            <p:txBody>
              <a:bodyPr/>
              <a:lstStyle/>
              <a:p>
                <a:r>
                  <a:rPr lang="en-US">
                    <a:noFill/>
                  </a:rPr>
                  <a:t> </a:t>
                </a:r>
              </a:p>
            </p:txBody>
          </p:sp>
        </mc:Fallback>
      </mc:AlternateContent>
    </p:spTree>
    <p:extLst>
      <p:ext uri="{BB962C8B-B14F-4D97-AF65-F5344CB8AC3E}">
        <p14:creationId xmlns:p14="http://schemas.microsoft.com/office/powerpoint/2010/main" val="3497306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33</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739312" y="1025724"/>
                <a:ext cx="8153168" cy="5499620"/>
              </a:xfrm>
            </p:spPr>
            <p:txBody>
              <a:bodyPr>
                <a:normAutofit lnSpcReduction="10000"/>
              </a:bodyPr>
              <a:lstStyle/>
              <a:p>
                <a:pPr marL="0" indent="0">
                  <a:buNone/>
                </a:pPr>
                <a:r>
                  <a:rPr lang="en-US" sz="2400" b="1" dirty="0"/>
                  <a:t>Example 4.10:</a:t>
                </a:r>
                <a:r>
                  <a:rPr lang="en-US" sz="2400" dirty="0"/>
                  <a:t> An environmentalist wishes to investigate the relationship between exposure to air pollution and the likelihood of developing respiratory illness.</a:t>
                </a:r>
              </a:p>
              <a:p>
                <a:pPr marL="0" indent="0">
                  <a:buNone/>
                </a:pPr>
                <a:r>
                  <a:rPr lang="en-US" sz="2400" dirty="0"/>
                  <a:t>She surveys 220 individuals living in a city with high air pollution levels. For each individual, data are collected on the daily average number of minutes (Minutes) spent outdoors without a mask and whether the individual has been diagnosed with respiratory illness over the course of a year (Illness).</a:t>
                </a:r>
              </a:p>
              <a:p>
                <a:pPr marL="0" indent="0">
                  <a:buNone/>
                </a:pPr>
                <a:r>
                  <a:rPr lang="en-US" sz="2400" dirty="0"/>
                  <a:t>Let Illness be the response variable that equals 1 if the individual has been diagnosed with respiratory illness and 0 otherwise and Minutes be the predictor variable.</a:t>
                </a:r>
              </a:p>
              <a:p>
                <a:pPr marL="0" indent="0">
                  <a:buNone/>
                </a:pPr>
                <a:r>
                  <a:rPr lang="en-US" sz="2400" dirty="0"/>
                  <a:t>Estimate and interpret a linear probability model: Illness =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0</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1</m:t>
                        </m:r>
                      </m:sub>
                    </m:sSub>
                    <m:r>
                      <m:rPr>
                        <m:nor/>
                      </m:rPr>
                      <a:rPr lang="en-CA" sz="2400" b="0" i="0" smtClean="0">
                        <a:latin typeface="Cambria Math" panose="02040503050406030204" pitchFamily="18" charset="0"/>
                      </a:rPr>
                      <m:t>Minutes</m:t>
                    </m:r>
                    <m:r>
                      <m:rPr>
                        <m:nor/>
                      </m:rPr>
                      <a:rPr lang="en-CA" sz="2400" b="0" i="0" smtClean="0">
                        <a:latin typeface="Cambria Math" panose="02040503050406030204" pitchFamily="18" charset="0"/>
                      </a:rPr>
                      <m:t> + </m:t>
                    </m:r>
                    <m:r>
                      <m:rPr>
                        <m:sty m:val="p"/>
                      </m:rPr>
                      <a:rPr lang="el-GR" sz="2400" b="0" i="1" smtClean="0">
                        <a:latin typeface="Cambria Math" panose="02040503050406030204" pitchFamily="18" charset="0"/>
                        <a:ea typeface="Cambria Math" panose="02040503050406030204" pitchFamily="18" charset="0"/>
                      </a:rPr>
                      <m:t>ε</m:t>
                    </m:r>
                  </m:oMath>
                </a14:m>
                <a:r>
                  <a:rPr lang="en-US" sz="2400" dirty="0"/>
                  <a:t>.</a:t>
                </a:r>
              </a:p>
              <a:p>
                <a:pPr marL="0" indent="0">
                  <a:buNone/>
                </a:pPr>
                <a:r>
                  <a:rPr lang="en-US" sz="2400" dirty="0"/>
                  <a:t>Predict the respiratory illness probability for an individual who spends an average of eight hours outdoors without a mask.</a:t>
                </a:r>
              </a:p>
              <a:p>
                <a:endParaRPr lang="en-US" sz="2000" dirty="0"/>
              </a:p>
            </p:txBody>
          </p:sp>
        </mc:Choice>
        <mc:Fallback xmlns="">
          <p:sp>
            <p:nvSpPr>
              <p:cNvPr id="4" name="Content Placeholder 3">
                <a:extLst>
                  <a:ext uri="{FF2B5EF4-FFF2-40B4-BE49-F238E27FC236}">
                    <a16:creationId xmlns:a16="http://schemas.microsoft.com/office/drawing/2014/main" id="{3BA8ABC2-6DD1-660E-9FF9-F136228F6092}"/>
                  </a:ext>
                </a:extLst>
              </p:cNvPr>
              <p:cNvSpPr>
                <a:spLocks noGrp="1" noRot="1" noChangeAspect="1" noMove="1" noResize="1" noEditPoints="1" noAdjustHandles="1" noChangeArrowheads="1" noChangeShapeType="1" noTextEdit="1"/>
              </p:cNvSpPr>
              <p:nvPr>
                <p:ph sz="quarter" idx="1"/>
              </p:nvPr>
            </p:nvSpPr>
            <p:spPr>
              <a:xfrm>
                <a:off x="739312" y="1025724"/>
                <a:ext cx="8153168" cy="5499620"/>
              </a:xfrm>
              <a:blipFill>
                <a:blip r:embed="rId3"/>
                <a:stretch>
                  <a:fillRect l="-1244" t="-1613" r="-1400"/>
                </a:stretch>
              </a:blipFill>
            </p:spPr>
            <p:txBody>
              <a:bodyPr/>
              <a:lstStyle/>
              <a:p>
                <a:r>
                  <a:rPr lang="en-US">
                    <a:noFill/>
                  </a:rPr>
                  <a:t> </a:t>
                </a:r>
              </a:p>
            </p:txBody>
          </p:sp>
        </mc:Fallback>
      </mc:AlternateContent>
    </p:spTree>
    <p:extLst>
      <p:ext uri="{BB962C8B-B14F-4D97-AF65-F5344CB8AC3E}">
        <p14:creationId xmlns:p14="http://schemas.microsoft.com/office/powerpoint/2010/main" val="3728633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34</a:t>
            </a:fld>
            <a:endParaRPr lang="en-US"/>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914400" y="1447800"/>
                <a:ext cx="7772400" cy="5149552"/>
              </a:xfrm>
            </p:spPr>
            <p:txBody>
              <a:bodyPr>
                <a:normAutofit fontScale="92500" lnSpcReduction="10000"/>
              </a:bodyPr>
              <a:lstStyle/>
              <a:p>
                <a:r>
                  <a:rPr lang="en-CA" dirty="0"/>
                  <a:t>With LPM, predicted probabilities can be greater than 1 or less than 0.</a:t>
                </a:r>
              </a:p>
              <a:p>
                <a:r>
                  <a:rPr lang="en-CA" dirty="0"/>
                  <a:t>Furthermore, the linearity of the relationships is questionable.</a:t>
                </a:r>
              </a:p>
              <a:p>
                <a:r>
                  <a:rPr lang="en-CA" dirty="0"/>
                  <a:t>To overcome these issues, we use </a:t>
                </a:r>
                <a:r>
                  <a:rPr lang="en-CA" b="1" dirty="0"/>
                  <a:t>logistics regression model</a:t>
                </a:r>
                <a:r>
                  <a:rPr lang="en-CA" dirty="0"/>
                  <a:t>.</a:t>
                </a:r>
              </a:p>
              <a:p>
                <a:r>
                  <a:rPr lang="en-CA" dirty="0"/>
                  <a:t>For the logistic regression model, the probability of success, </a:t>
                </a:r>
                <a14:m>
                  <m:oMath xmlns:m="http://schemas.openxmlformats.org/officeDocument/2006/math">
                    <m:r>
                      <a:rPr lang="en-CA" b="0" i="1" smtClean="0">
                        <a:latin typeface="Cambria Math" panose="02040503050406030204" pitchFamily="18" charset="0"/>
                      </a:rPr>
                      <m:t>𝑝</m:t>
                    </m:r>
                  </m:oMath>
                </a14:m>
                <a:r>
                  <a:rPr lang="en-CA" dirty="0"/>
                  <a:t>, is specified as:</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𝑝</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=1)=</m:t>
                      </m:r>
                      <m:f>
                        <m:fPr>
                          <m:ctrlPr>
                            <a:rPr lang="en-CA" b="0" i="1" smtClean="0">
                              <a:latin typeface="Cambria Math" panose="02040503050406030204" pitchFamily="18" charset="0"/>
                            </a:rPr>
                          </m:ctrlPr>
                        </m:fPr>
                        <m:num>
                          <m:r>
                            <m:rPr>
                              <m:sty m:val="p"/>
                            </m:rPr>
                            <a:rPr lang="en-CA" b="0" i="0" smtClean="0">
                              <a:latin typeface="Cambria Math" panose="02040503050406030204" pitchFamily="18" charset="0"/>
                            </a:rPr>
                            <m:t>exp</m:t>
                          </m:r>
                          <m:r>
                            <a:rPr lang="en-CA" b="0" i="1" smtClean="0">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0</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1</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1</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2</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2</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𝑘</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𝑘</m:t>
                              </m:r>
                            </m:sub>
                          </m:sSub>
                          <m:r>
                            <a:rPr lang="en-CA" sz="2800" b="0" i="1" smtClean="0">
                              <a:latin typeface="Cambria Math" panose="02040503050406030204" pitchFamily="18" charset="0"/>
                            </a:rPr>
                            <m:t>)</m:t>
                          </m:r>
                        </m:num>
                        <m:den>
                          <m:r>
                            <a:rPr lang="en-CA" b="0" i="1" smtClean="0">
                              <a:latin typeface="Cambria Math" panose="02040503050406030204" pitchFamily="18" charset="0"/>
                            </a:rPr>
                            <m:t>1+</m:t>
                          </m:r>
                          <m:r>
                            <m:rPr>
                              <m:sty m:val="p"/>
                            </m:rPr>
                            <a:rPr lang="en-CA" b="0" i="0" smtClean="0">
                              <a:latin typeface="Cambria Math" panose="02040503050406030204" pitchFamily="18" charset="0"/>
                            </a:rPr>
                            <m:t>exp</m:t>
                          </m:r>
                          <m:r>
                            <a:rPr lang="en-CA" b="0" i="1" smtClean="0">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0</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1</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1</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2</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2</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𝑘</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𝑘</m:t>
                              </m:r>
                            </m:sub>
                          </m:sSub>
                          <m:r>
                            <a:rPr lang="en-CA" sz="2800" b="0" i="1" smtClean="0">
                              <a:latin typeface="Cambria Math" panose="02040503050406030204" pitchFamily="18" charset="0"/>
                            </a:rPr>
                            <m:t>)</m:t>
                          </m:r>
                        </m:den>
                      </m:f>
                    </m:oMath>
                  </m:oMathPara>
                </a14:m>
                <a:endParaRPr lang="en-CA" dirty="0"/>
              </a:p>
              <a:p>
                <a:endParaRPr lang="en-CA" dirty="0"/>
              </a:p>
              <a:p>
                <a:r>
                  <a:rPr lang="en-CA" dirty="0"/>
                  <a:t> This formula ensures that the predicted probabilities to be between 0 and 1. </a:t>
                </a:r>
                <a:endParaRPr lang="en-US" dirty="0"/>
              </a:p>
            </p:txBody>
          </p:sp>
        </mc:Choice>
        <mc:Fallback>
          <p:sp>
            <p:nvSpPr>
              <p:cNvPr id="4" name="Content Placeholder 3">
                <a:extLst>
                  <a:ext uri="{FF2B5EF4-FFF2-40B4-BE49-F238E27FC236}">
                    <a16:creationId xmlns:a16="http://schemas.microsoft.com/office/drawing/2014/main" id="{3BA8ABC2-6DD1-660E-9FF9-F136228F6092}"/>
                  </a:ext>
                </a:extLst>
              </p:cNvPr>
              <p:cNvSpPr>
                <a:spLocks noGrp="1" noRot="1" noChangeAspect="1" noMove="1" noResize="1" noEditPoints="1" noAdjustHandles="1" noChangeArrowheads="1" noChangeShapeType="1" noTextEdit="1"/>
              </p:cNvSpPr>
              <p:nvPr>
                <p:ph sz="quarter" idx="1"/>
              </p:nvPr>
            </p:nvSpPr>
            <p:spPr>
              <a:xfrm>
                <a:off x="914400" y="1447800"/>
                <a:ext cx="7772400" cy="5149552"/>
              </a:xfrm>
              <a:blipFill>
                <a:blip r:embed="rId2"/>
                <a:stretch>
                  <a:fillRect l="-654" t="-1724"/>
                </a:stretch>
              </a:blipFill>
            </p:spPr>
            <p:txBody>
              <a:bodyPr/>
              <a:lstStyle/>
              <a:p>
                <a:r>
                  <a:rPr lang="en-US">
                    <a:noFill/>
                  </a:rPr>
                  <a:t> </a:t>
                </a:r>
              </a:p>
            </p:txBody>
          </p:sp>
        </mc:Fallback>
      </mc:AlternateContent>
    </p:spTree>
    <p:extLst>
      <p:ext uri="{BB962C8B-B14F-4D97-AF65-F5344CB8AC3E}">
        <p14:creationId xmlns:p14="http://schemas.microsoft.com/office/powerpoint/2010/main" val="4146209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35</a:t>
            </a:fld>
            <a:endParaRPr lang="en-US"/>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685800" y="4783360"/>
                <a:ext cx="8311896" cy="1884140"/>
              </a:xfrm>
            </p:spPr>
            <p:txBody>
              <a:bodyPr>
                <a:normAutofit lnSpcReduction="10000"/>
              </a:bodyPr>
              <a:lstStyle/>
              <a:p>
                <a:r>
                  <a:rPr lang="en-CA" dirty="0"/>
                  <a:t>This model cannot be estimated by OLS.</a:t>
                </a:r>
              </a:p>
              <a:p>
                <a:r>
                  <a:rPr lang="en-CA" dirty="0"/>
                  <a:t>Maximum Likelihood Estimation (MLE) is used to estimate the model. </a:t>
                </a:r>
              </a:p>
              <a:p>
                <a:pPr marL="0" indent="0" algn="ctr">
                  <a:buNone/>
                </a:pPr>
                <a14:m>
                  <m:oMath xmlns:m="http://schemas.openxmlformats.org/officeDocument/2006/math">
                    <m:r>
                      <a:rPr lang="en-CA" b="0" i="1" smtClean="0">
                        <a:latin typeface="Cambria Math" panose="02040503050406030204" pitchFamily="18" charset="0"/>
                      </a:rPr>
                      <m:t>𝐿</m:t>
                    </m:r>
                    <m:r>
                      <a:rPr lang="en-CA" b="0" i="1" smtClean="0">
                        <a:latin typeface="Cambria Math" panose="02040503050406030204" pitchFamily="18" charset="0"/>
                      </a:rPr>
                      <m:t>=</m:t>
                    </m:r>
                    <m:nary>
                      <m:naryPr>
                        <m:chr m:val="∏"/>
                        <m:ctrlPr>
                          <a:rPr lang="en-CA" b="0" i="1" smtClean="0">
                            <a:latin typeface="Cambria Math" panose="02040503050406030204" pitchFamily="18" charset="0"/>
                          </a:rPr>
                        </m:ctrlPr>
                      </m:naryPr>
                      <m:sub>
                        <m:r>
                          <m:rPr>
                            <m:brk m:alnAt="23"/>
                          </m:rPr>
                          <a:rPr lang="en-CA" b="0" i="1" smtClean="0">
                            <a:latin typeface="Cambria Math" panose="02040503050406030204" pitchFamily="18" charset="0"/>
                          </a:rPr>
                          <m:t>𝑖</m:t>
                        </m:r>
                        <m:r>
                          <a:rPr lang="en-CA" b="0" i="1" smtClean="0">
                            <a:latin typeface="Cambria Math" panose="02040503050406030204" pitchFamily="18" charset="0"/>
                          </a:rPr>
                          <m:t>=1</m:t>
                        </m:r>
                      </m:sub>
                      <m:sup>
                        <m:r>
                          <a:rPr lang="en-CA" b="0" i="1" smtClean="0">
                            <a:latin typeface="Cambria Math" panose="02040503050406030204" pitchFamily="18" charset="0"/>
                          </a:rPr>
                          <m:t>𝑛</m:t>
                        </m:r>
                      </m:sup>
                      <m:e>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𝑝</m:t>
                            </m:r>
                          </m:e>
                          <m:sub>
                            <m:r>
                              <a:rPr lang="en-CA" b="0" i="1" smtClean="0">
                                <a:latin typeface="Cambria Math" panose="02040503050406030204" pitchFamily="18" charset="0"/>
                              </a:rPr>
                              <m:t>𝑖</m:t>
                            </m:r>
                          </m:sub>
                          <m:sup>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sup>
                        </m:sSubSup>
                        <m:sSup>
                          <m:sSupPr>
                            <m:ctrlPr>
                              <a:rPr lang="en-CA" b="0" i="1" smtClean="0">
                                <a:latin typeface="Cambria Math" panose="02040503050406030204" pitchFamily="18" charset="0"/>
                              </a:rPr>
                            </m:ctrlPr>
                          </m:sSupPr>
                          <m:e>
                            <m:r>
                              <a:rPr lang="en-CA" i="1">
                                <a:latin typeface="Cambria Math" panose="02040503050406030204" pitchFamily="18" charset="0"/>
                              </a:rPr>
                              <m:t>(1−</m:t>
                            </m:r>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i="1">
                                    <a:latin typeface="Cambria Math" panose="02040503050406030204" pitchFamily="18" charset="0"/>
                                  </a:rPr>
                                  <m:t>𝑖</m:t>
                                </m:r>
                              </m:sub>
                            </m:sSub>
                            <m:r>
                              <a:rPr lang="en-CA" i="1">
                                <a:latin typeface="Cambria Math" panose="02040503050406030204" pitchFamily="18" charset="0"/>
                              </a:rPr>
                              <m:t>)</m:t>
                            </m:r>
                          </m:e>
                          <m:sup>
                            <m:r>
                              <a:rPr lang="en-CA" b="0" i="1" smtClean="0">
                                <a:latin typeface="Cambria Math" panose="02040503050406030204" pitchFamily="18" charset="0"/>
                              </a:rPr>
                              <m:t>1−</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sup>
                        </m:sSup>
                      </m:e>
                    </m:nary>
                    <m:r>
                      <a:rPr lang="en-CA" b="0" i="1" smtClean="0">
                        <a:latin typeface="Cambria Math" panose="02040503050406030204" pitchFamily="18" charset="0"/>
                      </a:rPr>
                      <m:t> </m:t>
                    </m:r>
                  </m:oMath>
                </a14:m>
                <a:r>
                  <a:rPr lang="en-CA" dirty="0"/>
                  <a:t> </a:t>
                </a:r>
                <a:endParaRPr lang="en-US" dirty="0"/>
              </a:p>
            </p:txBody>
          </p:sp>
        </mc:Choice>
        <mc:Fallback>
          <p:sp>
            <p:nvSpPr>
              <p:cNvPr id="4" name="Content Placeholder 3">
                <a:extLst>
                  <a:ext uri="{FF2B5EF4-FFF2-40B4-BE49-F238E27FC236}">
                    <a16:creationId xmlns:a16="http://schemas.microsoft.com/office/drawing/2014/main" id="{3BA8ABC2-6DD1-660E-9FF9-F136228F6092}"/>
                  </a:ext>
                </a:extLst>
              </p:cNvPr>
              <p:cNvSpPr>
                <a:spLocks noGrp="1" noRot="1" noChangeAspect="1" noMove="1" noResize="1" noEditPoints="1" noAdjustHandles="1" noChangeArrowheads="1" noChangeShapeType="1" noTextEdit="1"/>
              </p:cNvSpPr>
              <p:nvPr>
                <p:ph sz="quarter" idx="1"/>
              </p:nvPr>
            </p:nvSpPr>
            <p:spPr>
              <a:xfrm>
                <a:off x="685800" y="4783360"/>
                <a:ext cx="8311896" cy="1884140"/>
              </a:xfrm>
              <a:blipFill>
                <a:blip r:embed="rId3"/>
                <a:stretch>
                  <a:fillRect l="-763" t="-4667" b="-42667"/>
                </a:stretch>
              </a:blipFill>
            </p:spPr>
            <p:txBody>
              <a:bodyPr/>
              <a:lstStyle/>
              <a:p>
                <a:r>
                  <a:rPr lang="en-US">
                    <a:noFill/>
                  </a:rPr>
                  <a:t> </a:t>
                </a:r>
              </a:p>
            </p:txBody>
          </p:sp>
        </mc:Fallback>
      </mc:AlternateContent>
      <p:pic>
        <p:nvPicPr>
          <p:cNvPr id="5" name="Picture 4" descr="A line graph of probability versus x compares linear and logistic probability models.">
            <a:extLst>
              <a:ext uri="{FF2B5EF4-FFF2-40B4-BE49-F238E27FC236}">
                <a16:creationId xmlns:a16="http://schemas.microsoft.com/office/drawing/2014/main" id="{BE85624B-BE1E-E1A6-4EDF-FA665F4DB0A6}"/>
              </a:ext>
            </a:extLst>
          </p:cNvPr>
          <p:cNvPicPr>
            <a:picLocks noChangeAspect="1"/>
          </p:cNvPicPr>
          <p:nvPr/>
        </p:nvPicPr>
        <p:blipFill rotWithShape="1">
          <a:blip r:embed="rId4"/>
          <a:srcRect t="1073" b="3923"/>
          <a:stretch/>
        </p:blipFill>
        <p:spPr>
          <a:xfrm>
            <a:off x="1403648" y="945753"/>
            <a:ext cx="6540832" cy="3813981"/>
          </a:xfrm>
          <a:prstGeom prst="rect">
            <a:avLst/>
          </a:prstGeom>
        </p:spPr>
      </p:pic>
    </p:spTree>
    <p:extLst>
      <p:ext uri="{BB962C8B-B14F-4D97-AF65-F5344CB8AC3E}">
        <p14:creationId xmlns:p14="http://schemas.microsoft.com/office/powerpoint/2010/main" val="38400243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914400" y="1447800"/>
            <a:ext cx="7772400" cy="5149552"/>
          </a:xfrm>
        </p:spPr>
        <p:txBody>
          <a:bodyPr>
            <a:normAutofit/>
          </a:bodyPr>
          <a:lstStyle/>
          <a:p>
            <a:pPr marL="0" indent="0">
              <a:buNone/>
            </a:pPr>
            <a:r>
              <a:rPr lang="en-US" b="1" dirty="0"/>
              <a:t>Example 4.11:</a:t>
            </a:r>
            <a:r>
              <a:rPr lang="en-US" dirty="0"/>
              <a:t> Revisit Example 4.10.</a:t>
            </a:r>
          </a:p>
          <a:p>
            <a:pPr marL="0" indent="0">
              <a:buNone/>
            </a:pPr>
            <a:r>
              <a:rPr lang="en-US" dirty="0"/>
              <a:t>Estimate and interpret the logistic regression model using Illness as the response variable and Minutes as the predictor variable.</a:t>
            </a:r>
          </a:p>
          <a:p>
            <a:pPr marL="0" indent="0">
              <a:buNone/>
            </a:pPr>
            <a:r>
              <a:rPr lang="en-US" dirty="0"/>
              <a:t>Predict the respiratory illness probability for an individual who spends an average of eight hours outdoors without a mask.</a:t>
            </a:r>
          </a:p>
          <a:p>
            <a:pPr marL="0" indent="0">
              <a:buNone/>
            </a:pPr>
            <a:r>
              <a:rPr lang="en-US" dirty="0"/>
              <a:t> </a:t>
            </a:r>
          </a:p>
        </p:txBody>
      </p:sp>
    </p:spTree>
    <p:extLst>
      <p:ext uri="{BB962C8B-B14F-4D97-AF65-F5344CB8AC3E}">
        <p14:creationId xmlns:p14="http://schemas.microsoft.com/office/powerpoint/2010/main" val="790272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51BFA-AEC1-AE93-FAF4-4FA9EAB3D335}"/>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C06624B6-64DF-CCCC-6B8F-FB39CB662266}"/>
              </a:ext>
            </a:extLst>
          </p:cNvPr>
          <p:cNvSpPr>
            <a:spLocks noGrp="1"/>
          </p:cNvSpPr>
          <p:nvPr>
            <p:ph type="sldNum" sz="quarter" idx="12"/>
          </p:nvPr>
        </p:nvSpPr>
        <p:spPr/>
        <p:txBody>
          <a:bodyPr/>
          <a:lstStyle/>
          <a:p>
            <a:fld id="{B6F15528-21DE-4FAA-801E-634DDDAF4B2B}" type="slidenum">
              <a:rPr lang="en-US" smtClean="0"/>
              <a:pPr/>
              <a:t>37</a:t>
            </a:fld>
            <a:endParaRPr lang="en-US"/>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F7C956D-BE65-BA3F-098D-EA0CD464835C}"/>
                  </a:ext>
                </a:extLst>
              </p:cNvPr>
              <p:cNvSpPr>
                <a:spLocks noGrp="1"/>
              </p:cNvSpPr>
              <p:nvPr>
                <p:ph sz="quarter" idx="1"/>
              </p:nvPr>
            </p:nvSpPr>
            <p:spPr/>
            <p:txBody>
              <a:bodyPr/>
              <a:lstStyle/>
              <a:p>
                <a14:m>
                  <m:oMath xmlns:m="http://schemas.openxmlformats.org/officeDocument/2006/math">
                    <m:r>
                      <a:rPr lang="en-CA" b="0" i="1" smtClean="0">
                        <a:latin typeface="Cambria Math" panose="02040503050406030204" pitchFamily="18" charset="0"/>
                      </a:rPr>
                      <m:t>𝑝</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=1)=</m:t>
                    </m:r>
                    <m:f>
                      <m:fPr>
                        <m:ctrlPr>
                          <a:rPr lang="en-CA" b="0" i="1" smtClean="0">
                            <a:latin typeface="Cambria Math" panose="02040503050406030204" pitchFamily="18" charset="0"/>
                          </a:rPr>
                        </m:ctrlPr>
                      </m:fPr>
                      <m:num>
                        <m:r>
                          <m:rPr>
                            <m:sty m:val="p"/>
                          </m:rPr>
                          <a:rPr lang="en-CA" b="0" i="0" smtClean="0">
                            <a:latin typeface="Cambria Math" panose="02040503050406030204" pitchFamily="18" charset="0"/>
                          </a:rPr>
                          <m:t>exp</m:t>
                        </m:r>
                        <m:r>
                          <a:rPr lang="en-CA"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0</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1</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i="1">
                                <a:latin typeface="Cambria Math" panose="02040503050406030204" pitchFamily="18" charset="0"/>
                              </a:rPr>
                              <m:t>1</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2</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i="1">
                                <a:latin typeface="Cambria Math" panose="02040503050406030204" pitchFamily="18" charset="0"/>
                              </a:rPr>
                              <m:t>2</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𝑘</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i="1">
                                <a:latin typeface="Cambria Math" panose="02040503050406030204" pitchFamily="18" charset="0"/>
                              </a:rPr>
                              <m:t>𝑘</m:t>
                            </m:r>
                          </m:sub>
                        </m:sSub>
                        <m:r>
                          <a:rPr lang="en-CA" sz="2400" b="0" i="1" smtClean="0">
                            <a:latin typeface="Cambria Math" panose="02040503050406030204" pitchFamily="18" charset="0"/>
                          </a:rPr>
                          <m:t>)</m:t>
                        </m:r>
                      </m:num>
                      <m:den>
                        <m:r>
                          <a:rPr lang="en-CA" b="0" i="1" smtClean="0">
                            <a:latin typeface="Cambria Math" panose="02040503050406030204" pitchFamily="18" charset="0"/>
                          </a:rPr>
                          <m:t>1+</m:t>
                        </m:r>
                        <m:r>
                          <m:rPr>
                            <m:sty m:val="p"/>
                          </m:rPr>
                          <a:rPr lang="en-CA" b="0" i="0" smtClean="0">
                            <a:latin typeface="Cambria Math" panose="02040503050406030204" pitchFamily="18" charset="0"/>
                          </a:rPr>
                          <m:t>exp</m:t>
                        </m:r>
                        <m:r>
                          <a:rPr lang="en-CA"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0</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1</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i="1">
                                <a:latin typeface="Cambria Math" panose="02040503050406030204" pitchFamily="18" charset="0"/>
                              </a:rPr>
                              <m:t>1</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2</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i="1">
                                <a:latin typeface="Cambria Math" panose="02040503050406030204" pitchFamily="18" charset="0"/>
                              </a:rPr>
                              <m:t>2</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i="1">
                                <a:latin typeface="Cambria Math" panose="02040503050406030204" pitchFamily="18" charset="0"/>
                              </a:rPr>
                              <m:t>𝑘</m:t>
                            </m:r>
                          </m:sub>
                        </m:sSub>
                        <m:sSub>
                          <m:sSubPr>
                            <m:ctrlPr>
                              <a:rPr lang="en-CA" sz="2400" i="1">
                                <a:latin typeface="Cambria Math" panose="02040503050406030204" pitchFamily="18" charset="0"/>
                              </a:rPr>
                            </m:ctrlPr>
                          </m:sSubPr>
                          <m:e>
                            <m:r>
                              <a:rPr lang="en-CA" sz="2400" i="1">
                                <a:latin typeface="Cambria Math" panose="02040503050406030204" pitchFamily="18" charset="0"/>
                              </a:rPr>
                              <m:t>𝑥</m:t>
                            </m:r>
                          </m:e>
                          <m:sub>
                            <m:r>
                              <a:rPr lang="en-CA" sz="2400" i="1">
                                <a:latin typeface="Cambria Math" panose="02040503050406030204" pitchFamily="18" charset="0"/>
                              </a:rPr>
                              <m:t>𝑘</m:t>
                            </m:r>
                          </m:sub>
                        </m:sSub>
                        <m:r>
                          <a:rPr lang="en-CA" sz="2400" b="0" i="1" smtClean="0">
                            <a:latin typeface="Cambria Math" panose="02040503050406030204" pitchFamily="18" charset="0"/>
                          </a:rPr>
                          <m:t>)</m:t>
                        </m:r>
                      </m:den>
                    </m:f>
                  </m:oMath>
                </a14:m>
                <a:endParaRPr lang="en-US" dirty="0"/>
              </a:p>
              <a:p>
                <a14:m>
                  <m:oMath xmlns:m="http://schemas.openxmlformats.org/officeDocument/2006/math">
                    <m:r>
                      <m:rPr>
                        <m:nor/>
                      </m:rPr>
                      <a:rPr lang="en-CA" b="0" i="0" smtClean="0">
                        <a:latin typeface="Cambria Math" panose="02040503050406030204" pitchFamily="18" charset="0"/>
                      </a:rPr>
                      <m:t>Log</m:t>
                    </m:r>
                    <m:d>
                      <m:dPr>
                        <m:ctrlPr>
                          <a:rPr lang="en-CA" b="0" i="1" smtClean="0">
                            <a:latin typeface="Cambria Math" panose="02040503050406030204" pitchFamily="18" charset="0"/>
                          </a:rPr>
                        </m:ctrlPr>
                      </m:dPr>
                      <m:e>
                        <m:f>
                          <m:fPr>
                            <m:ctrlPr>
                              <a:rPr lang="en-CA" b="0" i="1" smtClean="0">
                                <a:latin typeface="Cambria Math" panose="02040503050406030204" pitchFamily="18" charset="0"/>
                              </a:rPr>
                            </m:ctrlPr>
                          </m:fPr>
                          <m:num>
                            <m:r>
                              <a:rPr lang="en-CA" b="0" i="1" smtClean="0">
                                <a:latin typeface="Cambria Math" panose="02040503050406030204" pitchFamily="18" charset="0"/>
                              </a:rPr>
                              <m:t>𝑝</m:t>
                            </m:r>
                          </m:num>
                          <m:den>
                            <m:r>
                              <a:rPr lang="en-CA" b="0" i="1" smtClean="0">
                                <a:latin typeface="Cambria Math" panose="02040503050406030204" pitchFamily="18" charset="0"/>
                              </a:rPr>
                              <m:t>1−</m:t>
                            </m:r>
                            <m:r>
                              <a:rPr lang="en-CA" b="0" i="1" smtClean="0">
                                <a:latin typeface="Cambria Math" panose="02040503050406030204" pitchFamily="18" charset="0"/>
                              </a:rPr>
                              <m:t>𝑝</m:t>
                            </m:r>
                          </m:den>
                        </m:f>
                      </m:e>
                    </m:d>
                    <m:r>
                      <a:rPr lang="en-CA" b="0" i="1" smtClean="0">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0</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1</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1</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2</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2</m:t>
                        </m:r>
                      </m:sub>
                    </m:sSub>
                    <m:r>
                      <a:rPr lang="en-CA" sz="2800" i="1">
                        <a:latin typeface="Cambria Math" panose="02040503050406030204" pitchFamily="18" charset="0"/>
                      </a:rPr>
                      <m:t>+…+</m:t>
                    </m:r>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𝑘</m:t>
                        </m:r>
                      </m:sub>
                    </m:sSub>
                    <m:sSub>
                      <m:sSubPr>
                        <m:ctrlPr>
                          <a:rPr lang="en-CA" sz="2800" i="1">
                            <a:latin typeface="Cambria Math" panose="02040503050406030204" pitchFamily="18" charset="0"/>
                          </a:rPr>
                        </m:ctrlPr>
                      </m:sSubPr>
                      <m:e>
                        <m:r>
                          <a:rPr lang="en-CA" sz="2800" i="1">
                            <a:latin typeface="Cambria Math" panose="02040503050406030204" pitchFamily="18" charset="0"/>
                          </a:rPr>
                          <m:t>𝑥</m:t>
                        </m:r>
                      </m:e>
                      <m:sub>
                        <m:r>
                          <a:rPr lang="en-CA" sz="2800" i="1">
                            <a:latin typeface="Cambria Math" panose="02040503050406030204" pitchFamily="18" charset="0"/>
                          </a:rPr>
                          <m:t>𝑘</m:t>
                        </m:r>
                      </m:sub>
                    </m:sSub>
                  </m:oMath>
                </a14:m>
                <a:endParaRPr lang="en-US" dirty="0"/>
              </a:p>
              <a:p>
                <a:r>
                  <a:rPr lang="en-US" dirty="0"/>
                  <a:t>The coefficient represents the change in the log-odds of the outcome for a one unit increase in the predictors.</a:t>
                </a:r>
              </a:p>
              <a:p>
                <a:r>
                  <a:rPr lang="en-US" dirty="0"/>
                  <a:t>Exponentiating the coefficient gives the odds ration</a:t>
                </a:r>
              </a:p>
              <a:p>
                <a:r>
                  <a:rPr lang="en-US" dirty="0"/>
                  <a:t>Exp(</a:t>
                </a:r>
                <a14:m>
                  <m:oMath xmlns:m="http://schemas.openxmlformats.org/officeDocument/2006/math">
                    <m:sSub>
                      <m:sSubPr>
                        <m:ctrlPr>
                          <a:rPr lang="en-CA" sz="2400" i="1" smtClean="0">
                            <a:latin typeface="Cambria Math" panose="02040503050406030204" pitchFamily="18" charset="0"/>
                          </a:rPr>
                        </m:ctrlPr>
                      </m:sSubPr>
                      <m:e>
                        <m:r>
                          <a:rPr lang="en-CA" sz="2400" i="1">
                            <a:latin typeface="Cambria Math" panose="02040503050406030204" pitchFamily="18" charset="0"/>
                            <a:ea typeface="Cambria Math" panose="02040503050406030204" pitchFamily="18" charset="0"/>
                          </a:rPr>
                          <m:t>𝛽</m:t>
                        </m:r>
                      </m:e>
                      <m:sub>
                        <m:r>
                          <a:rPr lang="en-CA" sz="2400" b="0" i="1" smtClean="0">
                            <a:latin typeface="Cambria Math" panose="02040503050406030204" pitchFamily="18" charset="0"/>
                          </a:rPr>
                          <m:t>𝑖</m:t>
                        </m:r>
                      </m:sub>
                    </m:sSub>
                  </m:oMath>
                </a14:m>
                <a:r>
                  <a:rPr lang="en-US" dirty="0"/>
                  <a:t>) = A one unit increase in </a:t>
                </a:r>
                <a14:m>
                  <m:oMath xmlns:m="http://schemas.openxmlformats.org/officeDocument/2006/math">
                    <m:sSub>
                      <m:sSubPr>
                        <m:ctrlPr>
                          <a:rPr lang="en-CA" sz="2400" i="1">
                            <a:latin typeface="Cambria Math" panose="02040503050406030204" pitchFamily="18" charset="0"/>
                          </a:rPr>
                        </m:ctrlPr>
                      </m:sSubPr>
                      <m:e>
                        <m:r>
                          <a:rPr lang="en-CA" sz="2400" b="0" i="1" smtClean="0">
                            <a:latin typeface="Cambria Math" panose="02040503050406030204" pitchFamily="18" charset="0"/>
                            <a:ea typeface="Cambria Math" panose="02040503050406030204" pitchFamily="18" charset="0"/>
                          </a:rPr>
                          <m:t>𝑥</m:t>
                        </m:r>
                      </m:e>
                      <m:sub>
                        <m:r>
                          <a:rPr lang="en-CA" sz="2400" b="0" i="1" smtClean="0">
                            <a:latin typeface="Cambria Math" panose="02040503050406030204" pitchFamily="18" charset="0"/>
                          </a:rPr>
                          <m:t>𝑖</m:t>
                        </m:r>
                      </m:sub>
                    </m:sSub>
                  </m:oMath>
                </a14:m>
                <a:r>
                  <a:rPr lang="en-US" dirty="0"/>
                  <a:t> multiplies the odds of </a:t>
                </a:r>
                <a14:m>
                  <m:oMath xmlns:m="http://schemas.openxmlformats.org/officeDocument/2006/math">
                    <m:r>
                      <a:rPr lang="en-CA" i="1">
                        <a:latin typeface="Cambria Math" panose="02040503050406030204" pitchFamily="18" charset="0"/>
                      </a:rPr>
                      <m:t>𝑦</m:t>
                    </m:r>
                    <m:r>
                      <a:rPr lang="en-CA" i="1">
                        <a:latin typeface="Cambria Math" panose="02040503050406030204" pitchFamily="18" charset="0"/>
                      </a:rPr>
                      <m:t>=1</m:t>
                    </m:r>
                  </m:oMath>
                </a14:m>
                <a:r>
                  <a:rPr lang="en-US" dirty="0"/>
                  <a:t> by Exp(</a:t>
                </a:r>
                <a14:m>
                  <m:oMath xmlns:m="http://schemas.openxmlformats.org/officeDocument/2006/math">
                    <m:sSub>
                      <m:sSubPr>
                        <m:ctrlPr>
                          <a:rPr lang="en-CA" sz="2800" i="1">
                            <a:latin typeface="Cambria Math" panose="02040503050406030204" pitchFamily="18" charset="0"/>
                          </a:rPr>
                        </m:ctrlPr>
                      </m:sSubPr>
                      <m:e>
                        <m:r>
                          <a:rPr lang="en-CA" sz="2800" i="1">
                            <a:latin typeface="Cambria Math" panose="02040503050406030204" pitchFamily="18" charset="0"/>
                            <a:ea typeface="Cambria Math" panose="02040503050406030204" pitchFamily="18" charset="0"/>
                          </a:rPr>
                          <m:t>𝛽</m:t>
                        </m:r>
                      </m:e>
                      <m:sub>
                        <m:r>
                          <a:rPr lang="en-CA" sz="2800" i="1">
                            <a:latin typeface="Cambria Math" panose="02040503050406030204" pitchFamily="18" charset="0"/>
                          </a:rPr>
                          <m:t>𝑖</m:t>
                        </m:r>
                      </m:sub>
                    </m:sSub>
                  </m:oMath>
                </a14:m>
                <a:r>
                  <a:rPr lang="en-US" dirty="0"/>
                  <a:t>). </a:t>
                </a:r>
              </a:p>
            </p:txBody>
          </p:sp>
        </mc:Choice>
        <mc:Fallback>
          <p:sp>
            <p:nvSpPr>
              <p:cNvPr id="4" name="Content Placeholder 3">
                <a:extLst>
                  <a:ext uri="{FF2B5EF4-FFF2-40B4-BE49-F238E27FC236}">
                    <a16:creationId xmlns:a16="http://schemas.microsoft.com/office/drawing/2014/main" id="{3F7C956D-BE65-BA3F-098D-EA0CD464835C}"/>
                  </a:ext>
                </a:extLst>
              </p:cNvPr>
              <p:cNvSpPr>
                <a:spLocks noGrp="1" noRot="1" noChangeAspect="1" noMove="1" noResize="1" noEditPoints="1" noAdjustHandles="1" noChangeArrowheads="1" noChangeShapeType="1" noTextEdit="1"/>
              </p:cNvSpPr>
              <p:nvPr>
                <p:ph sz="quarter" idx="1"/>
              </p:nvPr>
            </p:nvSpPr>
            <p:spPr>
              <a:blipFill>
                <a:blip r:embed="rId2"/>
                <a:stretch>
                  <a:fillRect l="-817" r="-1307"/>
                </a:stretch>
              </a:blipFill>
            </p:spPr>
            <p:txBody>
              <a:bodyPr/>
              <a:lstStyle/>
              <a:p>
                <a:r>
                  <a:rPr lang="en-US">
                    <a:noFill/>
                  </a:rPr>
                  <a:t> </a:t>
                </a:r>
              </a:p>
            </p:txBody>
          </p:sp>
        </mc:Fallback>
      </mc:AlternateContent>
    </p:spTree>
    <p:extLst>
      <p:ext uri="{BB962C8B-B14F-4D97-AF65-F5344CB8AC3E}">
        <p14:creationId xmlns:p14="http://schemas.microsoft.com/office/powerpoint/2010/main" val="2657074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1E7-382A-CBCF-9ED4-26380D3516BF}"/>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B53F9836-2092-1826-E4B7-F8C7EEC00BD5}"/>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4" name="Content Placeholder 3">
            <a:extLst>
              <a:ext uri="{FF2B5EF4-FFF2-40B4-BE49-F238E27FC236}">
                <a16:creationId xmlns:a16="http://schemas.microsoft.com/office/drawing/2014/main" id="{3BA8ABC2-6DD1-660E-9FF9-F136228F6092}"/>
              </a:ext>
            </a:extLst>
          </p:cNvPr>
          <p:cNvSpPr>
            <a:spLocks noGrp="1"/>
          </p:cNvSpPr>
          <p:nvPr>
            <p:ph sz="quarter" idx="1"/>
          </p:nvPr>
        </p:nvSpPr>
        <p:spPr>
          <a:xfrm>
            <a:off x="914400" y="1447800"/>
            <a:ext cx="7772400" cy="5149552"/>
          </a:xfrm>
        </p:spPr>
        <p:txBody>
          <a:bodyPr>
            <a:normAutofit lnSpcReduction="10000"/>
          </a:bodyPr>
          <a:lstStyle/>
          <a:p>
            <a:pPr marL="0" indent="0">
              <a:buNone/>
            </a:pPr>
            <a:r>
              <a:rPr lang="en-US" b="1" dirty="0"/>
              <a:t>Example 4.12: </a:t>
            </a:r>
            <a:r>
              <a:rPr lang="en-US" dirty="0"/>
              <a:t>The chartered financial analyst (CFA) designation is the de facto professional certification for the financial industry. Historically, the pass rate is higher for those with work experience and a good college GPA. The data file “CFA” includes information on 263 current employees who took the CFA Level I exam, including the employee’s success on the exam (1 for pass, 0 for fail), the employee’s college GPA, and years of work experience.</a:t>
            </a:r>
          </a:p>
          <a:p>
            <a:pPr marL="0" indent="0">
              <a:buNone/>
            </a:pPr>
            <a:r>
              <a:rPr lang="en-US" dirty="0"/>
              <a:t>Estimate the logistic regression model to predict the probability of passing the CFA Level I exam for a candidate with a college GPA of 3.80 and five years of experience.</a:t>
            </a:r>
          </a:p>
        </p:txBody>
      </p:sp>
    </p:spTree>
    <p:extLst>
      <p:ext uri="{BB962C8B-B14F-4D97-AF65-F5344CB8AC3E}">
        <p14:creationId xmlns:p14="http://schemas.microsoft.com/office/powerpoint/2010/main" val="931151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91BB8-CAC1-7BF9-BB52-CF667304E8E2}"/>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7A75A179-2933-2DFF-DA50-ED1AC6D7E6B1}"/>
              </a:ext>
            </a:extLst>
          </p:cNvPr>
          <p:cNvSpPr>
            <a:spLocks noGrp="1"/>
          </p:cNvSpPr>
          <p:nvPr>
            <p:ph type="sldNum" sz="quarter" idx="12"/>
          </p:nvPr>
        </p:nvSpPr>
        <p:spPr/>
        <p:txBody>
          <a:bodyPr/>
          <a:lstStyle/>
          <a:p>
            <a:fld id="{B6F15528-21DE-4FAA-801E-634DDDAF4B2B}" type="slidenum">
              <a:rPr lang="en-US" smtClean="0"/>
              <a:pPr/>
              <a:t>39</a:t>
            </a:fld>
            <a:endParaRPr lang="en-US"/>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A4B17EC-4C9F-2BE2-8162-BECABB83431F}"/>
                  </a:ext>
                </a:extLst>
              </p:cNvPr>
              <p:cNvSpPr>
                <a:spLocks noGrp="1"/>
              </p:cNvSpPr>
              <p:nvPr>
                <p:ph sz="quarter" idx="1"/>
              </p:nvPr>
            </p:nvSpPr>
            <p:spPr>
              <a:xfrm>
                <a:off x="914400" y="1447800"/>
                <a:ext cx="7772400" cy="5410200"/>
              </a:xfrm>
            </p:spPr>
            <p:txBody>
              <a:bodyPr/>
              <a:lstStyle/>
              <a:p>
                <a:r>
                  <a:rPr lang="en-US" dirty="0"/>
                  <a:t>In logistic regression, we cannot use the goodness-of-fit measures that we have for linear regression (standard error of estimate and adjusted coefficient of determination).</a:t>
                </a:r>
              </a:p>
              <a:p>
                <a:r>
                  <a:rPr lang="en-US" dirty="0"/>
                  <a:t>It is common to measure the performance of binary choice models based on accuracy rate, defined as the percentage of correctly classified observations.</a:t>
                </a:r>
              </a:p>
              <a:p>
                <a:pPr marL="0" indent="0" algn="ctr">
                  <a:buNone/>
                </a:pPr>
                <a:r>
                  <a:rPr lang="en-US" dirty="0"/>
                  <a:t>Accuracy rate = </a:t>
                </a:r>
                <a14:m>
                  <m:oMath xmlns:m="http://schemas.openxmlformats.org/officeDocument/2006/math">
                    <m:f>
                      <m:fPr>
                        <m:ctrlPr>
                          <a:rPr lang="en-US" i="1" smtClean="0">
                            <a:latin typeface="Cambria Math" panose="02040503050406030204" pitchFamily="18" charset="0"/>
                          </a:rPr>
                        </m:ctrlPr>
                      </m:fPr>
                      <m:num>
                        <m:r>
                          <m:rPr>
                            <m:nor/>
                          </m:rPr>
                          <a:rPr lang="en-CA" b="0" i="0" smtClean="0">
                            <a:latin typeface="Cambria Math" panose="02040503050406030204" pitchFamily="18" charset="0"/>
                          </a:rPr>
                          <m:t>Number</m:t>
                        </m:r>
                        <m:r>
                          <m:rPr>
                            <m:nor/>
                          </m:rPr>
                          <a:rPr lang="en-CA" b="0" i="0" smtClean="0">
                            <a:latin typeface="Cambria Math" panose="02040503050406030204" pitchFamily="18" charset="0"/>
                          </a:rPr>
                          <m:t> </m:t>
                        </m:r>
                        <m:r>
                          <m:rPr>
                            <m:nor/>
                          </m:rPr>
                          <a:rPr lang="en-CA" b="0" i="0" smtClean="0">
                            <a:latin typeface="Cambria Math" panose="02040503050406030204" pitchFamily="18" charset="0"/>
                          </a:rPr>
                          <m:t>of</m:t>
                        </m:r>
                        <m:r>
                          <m:rPr>
                            <m:nor/>
                          </m:rPr>
                          <a:rPr lang="en-CA" b="0" i="0" smtClean="0">
                            <a:latin typeface="Cambria Math" panose="02040503050406030204" pitchFamily="18" charset="0"/>
                          </a:rPr>
                          <m:t> </m:t>
                        </m:r>
                        <m:r>
                          <m:rPr>
                            <m:nor/>
                          </m:rPr>
                          <a:rPr lang="en-CA" b="0" i="0" smtClean="0">
                            <a:latin typeface="Cambria Math" panose="02040503050406030204" pitchFamily="18" charset="0"/>
                          </a:rPr>
                          <m:t>correct</m:t>
                        </m:r>
                        <m:r>
                          <m:rPr>
                            <m:nor/>
                          </m:rPr>
                          <a:rPr lang="en-CA" b="0" i="0" smtClean="0">
                            <a:latin typeface="Cambria Math" panose="02040503050406030204" pitchFamily="18" charset="0"/>
                          </a:rPr>
                          <m:t> </m:t>
                        </m:r>
                        <m:r>
                          <m:rPr>
                            <m:nor/>
                          </m:rPr>
                          <a:rPr lang="en-CA" b="0" i="0" smtClean="0">
                            <a:latin typeface="Cambria Math" panose="02040503050406030204" pitchFamily="18" charset="0"/>
                          </a:rPr>
                          <m:t>predictions</m:t>
                        </m:r>
                      </m:num>
                      <m:den>
                        <m:r>
                          <m:rPr>
                            <m:nor/>
                          </m:rPr>
                          <a:rPr lang="en-CA" b="0" i="0" smtClean="0">
                            <a:latin typeface="Cambria Math" panose="02040503050406030204" pitchFamily="18" charset="0"/>
                          </a:rPr>
                          <m:t>Total</m:t>
                        </m:r>
                        <m:r>
                          <m:rPr>
                            <m:nor/>
                          </m:rPr>
                          <a:rPr lang="en-CA" b="0" i="0" smtClean="0">
                            <a:latin typeface="Cambria Math" panose="02040503050406030204" pitchFamily="18" charset="0"/>
                          </a:rPr>
                          <m:t> </m:t>
                        </m:r>
                        <m:r>
                          <m:rPr>
                            <m:nor/>
                          </m:rPr>
                          <a:rPr lang="en-CA" b="0" i="0" smtClean="0">
                            <a:latin typeface="Cambria Math" panose="02040503050406030204" pitchFamily="18" charset="0"/>
                          </a:rPr>
                          <m:t>number</m:t>
                        </m:r>
                        <m:r>
                          <m:rPr>
                            <m:nor/>
                          </m:rPr>
                          <a:rPr lang="en-CA" b="0" i="0" smtClean="0">
                            <a:latin typeface="Cambria Math" panose="02040503050406030204" pitchFamily="18" charset="0"/>
                          </a:rPr>
                          <m:t> </m:t>
                        </m:r>
                        <m:r>
                          <m:rPr>
                            <m:nor/>
                          </m:rPr>
                          <a:rPr lang="en-CA" b="0" i="0" smtClean="0">
                            <a:latin typeface="Cambria Math" panose="02040503050406030204" pitchFamily="18" charset="0"/>
                          </a:rPr>
                          <m:t>of</m:t>
                        </m:r>
                        <m:r>
                          <m:rPr>
                            <m:nor/>
                          </m:rPr>
                          <a:rPr lang="en-CA" b="0" i="0" smtClean="0">
                            <a:latin typeface="Cambria Math" panose="02040503050406030204" pitchFamily="18" charset="0"/>
                          </a:rPr>
                          <m:t> </m:t>
                        </m:r>
                        <m:r>
                          <m:rPr>
                            <m:nor/>
                          </m:rPr>
                          <a:rPr lang="en-CA" b="0" i="0" smtClean="0">
                            <a:latin typeface="Cambria Math" panose="02040503050406030204" pitchFamily="18" charset="0"/>
                          </a:rPr>
                          <m:t>predictions</m:t>
                        </m:r>
                      </m:den>
                    </m:f>
                    <m:r>
                      <a:rPr lang="en-US"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100</m:t>
                    </m:r>
                  </m:oMath>
                </a14:m>
                <a:endParaRPr lang="en-CA" b="0" dirty="0">
                  <a:ea typeface="Cambria Math" panose="02040503050406030204" pitchFamily="18" charset="0"/>
                </a:endParaRPr>
              </a:p>
              <a:p>
                <a:r>
                  <a:rPr lang="en-US" dirty="0"/>
                  <a:t>We can use cross-validation for logistic regression as well.</a:t>
                </a:r>
              </a:p>
            </p:txBody>
          </p:sp>
        </mc:Choice>
        <mc:Fallback>
          <p:sp>
            <p:nvSpPr>
              <p:cNvPr id="4" name="Content Placeholder 3">
                <a:extLst>
                  <a:ext uri="{FF2B5EF4-FFF2-40B4-BE49-F238E27FC236}">
                    <a16:creationId xmlns:a16="http://schemas.microsoft.com/office/drawing/2014/main" id="{9A4B17EC-4C9F-2BE2-8162-BECABB83431F}"/>
                  </a:ext>
                </a:extLst>
              </p:cNvPr>
              <p:cNvSpPr>
                <a:spLocks noGrp="1" noRot="1" noChangeAspect="1" noMove="1" noResize="1" noEditPoints="1" noAdjustHandles="1" noChangeArrowheads="1" noChangeShapeType="1" noTextEdit="1"/>
              </p:cNvSpPr>
              <p:nvPr>
                <p:ph sz="quarter" idx="1"/>
              </p:nvPr>
            </p:nvSpPr>
            <p:spPr>
              <a:xfrm>
                <a:off x="914400" y="1447800"/>
                <a:ext cx="7772400" cy="5410200"/>
              </a:xfrm>
              <a:blipFill>
                <a:blip r:embed="rId3"/>
                <a:stretch>
                  <a:fillRect l="-817" t="-1174"/>
                </a:stretch>
              </a:blipFill>
            </p:spPr>
            <p:txBody>
              <a:bodyPr/>
              <a:lstStyle/>
              <a:p>
                <a:r>
                  <a:rPr lang="en-US">
                    <a:noFill/>
                  </a:rPr>
                  <a:t> </a:t>
                </a:r>
              </a:p>
            </p:txBody>
          </p:sp>
        </mc:Fallback>
      </mc:AlternateContent>
    </p:spTree>
    <p:extLst>
      <p:ext uri="{BB962C8B-B14F-4D97-AF65-F5344CB8AC3E}">
        <p14:creationId xmlns:p14="http://schemas.microsoft.com/office/powerpoint/2010/main" val="33451916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37D81-628B-542C-8027-C062FAC60207}"/>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1F6AB89F-E585-B657-6570-52CED1D7B8A9}"/>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4" name="Content Placeholder 3">
            <a:extLst>
              <a:ext uri="{FF2B5EF4-FFF2-40B4-BE49-F238E27FC236}">
                <a16:creationId xmlns:a16="http://schemas.microsoft.com/office/drawing/2014/main" id="{E180805B-DCCF-D754-F4CE-098D50FB5E28}"/>
              </a:ext>
            </a:extLst>
          </p:cNvPr>
          <p:cNvSpPr>
            <a:spLocks noGrp="1"/>
          </p:cNvSpPr>
          <p:nvPr>
            <p:ph sz="quarter" idx="1"/>
          </p:nvPr>
        </p:nvSpPr>
        <p:spPr>
          <a:xfrm>
            <a:off x="755576" y="1447800"/>
            <a:ext cx="7931224" cy="4572000"/>
          </a:xfrm>
        </p:spPr>
        <p:txBody>
          <a:bodyPr/>
          <a:lstStyle/>
          <a:p>
            <a:pPr marL="0" indent="0">
              <a:buNone/>
            </a:pPr>
            <a:r>
              <a:rPr lang="en-US" b="1" dirty="0"/>
              <a:t>Example 4.13: </a:t>
            </a:r>
            <a:r>
              <a:rPr lang="en-US" dirty="0"/>
              <a:t>A company wants to implement an effective spam detection system on the company’s email server. The company analyzes a sample of 500 spam and legitimate emails with the following variables: spam (1 if spam, 0 otherwise), the number of recipients, the number of hyperlinks, and the number of characters in the message. Develop a logistic regression model for spam detection and assess the performance of the model using 375 observations for training and the rest for validation.</a:t>
            </a:r>
          </a:p>
        </p:txBody>
      </p:sp>
    </p:spTree>
    <p:extLst>
      <p:ext uri="{BB962C8B-B14F-4D97-AF65-F5344CB8AC3E}">
        <p14:creationId xmlns:p14="http://schemas.microsoft.com/office/powerpoint/2010/main" val="3615891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A5986-BF53-5EAB-FCB6-F331D9974EC8}"/>
              </a:ext>
            </a:extLst>
          </p:cNvPr>
          <p:cNvSpPr>
            <a:spLocks noGrp="1"/>
          </p:cNvSpPr>
          <p:nvPr>
            <p:ph type="title"/>
          </p:nvPr>
        </p:nvSpPr>
        <p:spPr/>
        <p:txBody>
          <a:bodyPr/>
          <a:lstStyle/>
          <a:p>
            <a:r>
              <a:rPr lang="en-US" dirty="0"/>
              <a:t>Logistic Regression</a:t>
            </a:r>
          </a:p>
        </p:txBody>
      </p:sp>
      <p:sp>
        <p:nvSpPr>
          <p:cNvPr id="3" name="Slide Number Placeholder 2">
            <a:extLst>
              <a:ext uri="{FF2B5EF4-FFF2-40B4-BE49-F238E27FC236}">
                <a16:creationId xmlns:a16="http://schemas.microsoft.com/office/drawing/2014/main" id="{1186230D-8C34-0536-59E7-CC036DB437EC}"/>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4" name="Content Placeholder 3">
            <a:extLst>
              <a:ext uri="{FF2B5EF4-FFF2-40B4-BE49-F238E27FC236}">
                <a16:creationId xmlns:a16="http://schemas.microsoft.com/office/drawing/2014/main" id="{B430E4BE-3033-40C6-7300-B0E32C740CB7}"/>
              </a:ext>
            </a:extLst>
          </p:cNvPr>
          <p:cNvSpPr>
            <a:spLocks noGrp="1"/>
          </p:cNvSpPr>
          <p:nvPr>
            <p:ph sz="quarter" idx="1"/>
          </p:nvPr>
        </p:nvSpPr>
        <p:spPr/>
        <p:txBody>
          <a:bodyPr/>
          <a:lstStyle/>
          <a:p>
            <a:pPr marL="0" indent="0">
              <a:buNone/>
            </a:pPr>
            <a:r>
              <a:rPr lang="en-US" b="1" dirty="0"/>
              <a:t>Example 4.14: </a:t>
            </a:r>
            <a:r>
              <a:rPr lang="en-US" dirty="0"/>
              <a:t>Consider the dataset “Subscription” to predict subscription (Subscribe = 1 if the customer subscribes, 0 otherwise). Predictor variables include the percentage of discount (Discount) and the customer’s age (Age) and marital status (</a:t>
            </a:r>
            <a:r>
              <a:rPr lang="en-US" dirty="0" err="1"/>
              <a:t>MaritalStatus</a:t>
            </a:r>
            <a:r>
              <a:rPr lang="en-US"/>
              <a:t>). </a:t>
            </a:r>
            <a:r>
              <a:rPr lang="en-US" dirty="0"/>
              <a:t>Use cross-validation to calculate the accuracy of the model using the first 200 observations for training and the remaining 100 observations for validation. </a:t>
            </a:r>
          </a:p>
          <a:p>
            <a:endParaRPr lang="en-US" dirty="0"/>
          </a:p>
        </p:txBody>
      </p:sp>
    </p:spTree>
    <p:extLst>
      <p:ext uri="{BB962C8B-B14F-4D97-AF65-F5344CB8AC3E}">
        <p14:creationId xmlns:p14="http://schemas.microsoft.com/office/powerpoint/2010/main" val="34006733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erations Managemen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Operations Management</Template>
  <TotalTime>17509</TotalTime>
  <Words>2973</Words>
  <Application>Microsoft Macintosh PowerPoint</Application>
  <PresentationFormat>On-screen Show (4:3)</PresentationFormat>
  <Paragraphs>287</Paragraphs>
  <Slides>41</Slides>
  <Notes>14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50" baseType="lpstr">
      <vt:lpstr>Arial</vt:lpstr>
      <vt:lpstr>Calibri</vt:lpstr>
      <vt:lpstr>Cambria Math</vt:lpstr>
      <vt:lpstr>Franklin Gothic Book</vt:lpstr>
      <vt:lpstr>Perpetua</vt:lpstr>
      <vt:lpstr>Times New Roman</vt:lpstr>
      <vt:lpstr>Wingdings 2</vt:lpstr>
      <vt:lpstr>Operations Management</vt:lpstr>
      <vt:lpstr>Equation</vt:lpstr>
      <vt:lpstr>Regressions Analysis</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Linear Regression Model</vt:lpstr>
      <vt:lpstr>Cross-Validation</vt:lpstr>
      <vt:lpstr>Cross-Validation</vt:lpstr>
      <vt:lpstr>Cross-Validation</vt:lpstr>
      <vt:lpstr>Cross-Validation</vt:lpstr>
      <vt:lpstr>Cross-Validation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Management</dc:title>
  <dc:creator>Amir</dc:creator>
  <cp:lastModifiedBy>Amirmohsen Golmohammadi</cp:lastModifiedBy>
  <cp:revision>83</cp:revision>
  <dcterms:created xsi:type="dcterms:W3CDTF">2016-10-30T21:44:55Z</dcterms:created>
  <dcterms:modified xsi:type="dcterms:W3CDTF">2025-10-03T19:17:44Z</dcterms:modified>
</cp:coreProperties>
</file>