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29"/>
  </p:notesMasterIdLst>
  <p:sldIdLst>
    <p:sldId id="1446" r:id="rId2"/>
    <p:sldId id="292" r:id="rId3"/>
    <p:sldId id="293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1447" r:id="rId16"/>
    <p:sldId id="306" r:id="rId17"/>
    <p:sldId id="307" r:id="rId18"/>
    <p:sldId id="308" r:id="rId19"/>
    <p:sldId id="317" r:id="rId20"/>
    <p:sldId id="318" r:id="rId21"/>
    <p:sldId id="309" r:id="rId22"/>
    <p:sldId id="315" r:id="rId23"/>
    <p:sldId id="310" r:id="rId24"/>
    <p:sldId id="1449" r:id="rId25"/>
    <p:sldId id="311" r:id="rId26"/>
    <p:sldId id="316" r:id="rId27"/>
    <p:sldId id="1451" r:id="rId28"/>
  </p:sldIdLst>
  <p:sldSz cx="9144000" cy="6858000" type="screen4x3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988"/>
    <p:restoredTop sz="89576"/>
  </p:normalViewPr>
  <p:slideViewPr>
    <p:cSldViewPr>
      <p:cViewPr varScale="1">
        <p:scale>
          <a:sx n="56" d="100"/>
          <a:sy n="56" d="100"/>
        </p:scale>
        <p:origin x="876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mohsen Golmohammadi" userId="7ce0db84-c3cb-435b-9860-51974a9f0fdd" providerId="ADAL" clId="{C001D36A-CB80-4C47-BAD9-69DE6B1E6D07}"/>
    <pc:docChg chg="delSld modSld">
      <pc:chgData name="Amirmohsen Golmohammadi" userId="7ce0db84-c3cb-435b-9860-51974a9f0fdd" providerId="ADAL" clId="{C001D36A-CB80-4C47-BAD9-69DE6B1E6D07}" dt="2025-09-07T15:57:22.528" v="14" actId="20577"/>
      <pc:docMkLst>
        <pc:docMk/>
      </pc:docMkLst>
      <pc:sldChg chg="del">
        <pc:chgData name="Amirmohsen Golmohammadi" userId="7ce0db84-c3cb-435b-9860-51974a9f0fdd" providerId="ADAL" clId="{C001D36A-CB80-4C47-BAD9-69DE6B1E6D07}" dt="2025-08-30T14:31:00.809" v="0" actId="2696"/>
        <pc:sldMkLst>
          <pc:docMk/>
          <pc:sldMk cId="2293728981" sldId="256"/>
        </pc:sldMkLst>
      </pc:sldChg>
      <pc:sldChg chg="modSp mod">
        <pc:chgData name="Amirmohsen Golmohammadi" userId="7ce0db84-c3cb-435b-9860-51974a9f0fdd" providerId="ADAL" clId="{C001D36A-CB80-4C47-BAD9-69DE6B1E6D07}" dt="2025-09-07T15:57:22.528" v="14" actId="20577"/>
        <pc:sldMkLst>
          <pc:docMk/>
          <pc:sldMk cId="2817239588" sldId="318"/>
        </pc:sldMkLst>
        <pc:graphicFrameChg chg="modGraphic">
          <ac:chgData name="Amirmohsen Golmohammadi" userId="7ce0db84-c3cb-435b-9860-51974a9f0fdd" providerId="ADAL" clId="{C001D36A-CB80-4C47-BAD9-69DE6B1E6D07}" dt="2025-09-07T15:57:22.528" v="14" actId="20577"/>
          <ac:graphicFrameMkLst>
            <pc:docMk/>
            <pc:sldMk cId="2817239588" sldId="318"/>
            <ac:graphicFrameMk id="6" creationId="{0AAFC0D2-E1AA-A987-E8F4-2E0E4A112429}"/>
          </ac:graphicFrameMkLst>
        </pc:graphicFrameChg>
      </pc:sldChg>
      <pc:sldChg chg="del">
        <pc:chgData name="Amirmohsen Golmohammadi" userId="7ce0db84-c3cb-435b-9860-51974a9f0fdd" providerId="ADAL" clId="{C001D36A-CB80-4C47-BAD9-69DE6B1E6D07}" dt="2025-08-30T14:31:01.615" v="1" actId="2696"/>
        <pc:sldMkLst>
          <pc:docMk/>
          <pc:sldMk cId="3511548266" sldId="1438"/>
        </pc:sldMkLst>
      </pc:sldChg>
      <pc:sldChg chg="del">
        <pc:chgData name="Amirmohsen Golmohammadi" userId="7ce0db84-c3cb-435b-9860-51974a9f0fdd" providerId="ADAL" clId="{C001D36A-CB80-4C47-BAD9-69DE6B1E6D07}" dt="2025-08-30T14:31:02.059" v="2" actId="2696"/>
        <pc:sldMkLst>
          <pc:docMk/>
          <pc:sldMk cId="374259161" sldId="1439"/>
        </pc:sldMkLst>
      </pc:sldChg>
      <pc:sldChg chg="del">
        <pc:chgData name="Amirmohsen Golmohammadi" userId="7ce0db84-c3cb-435b-9860-51974a9f0fdd" providerId="ADAL" clId="{C001D36A-CB80-4C47-BAD9-69DE6B1E6D07}" dt="2025-08-30T14:31:02.960" v="3" actId="2696"/>
        <pc:sldMkLst>
          <pc:docMk/>
          <pc:sldMk cId="781173484" sldId="1440"/>
        </pc:sldMkLst>
      </pc:sldChg>
      <pc:sldChg chg="del">
        <pc:chgData name="Amirmohsen Golmohammadi" userId="7ce0db84-c3cb-435b-9860-51974a9f0fdd" providerId="ADAL" clId="{C001D36A-CB80-4C47-BAD9-69DE6B1E6D07}" dt="2025-08-30T14:31:03.330" v="4" actId="2696"/>
        <pc:sldMkLst>
          <pc:docMk/>
          <pc:sldMk cId="1616903704" sldId="1441"/>
        </pc:sldMkLst>
      </pc:sldChg>
      <pc:sldChg chg="del">
        <pc:chgData name="Amirmohsen Golmohammadi" userId="7ce0db84-c3cb-435b-9860-51974a9f0fdd" providerId="ADAL" clId="{C001D36A-CB80-4C47-BAD9-69DE6B1E6D07}" dt="2025-08-30T14:31:04.041" v="6" actId="2696"/>
        <pc:sldMkLst>
          <pc:docMk/>
          <pc:sldMk cId="3843363244" sldId="1442"/>
        </pc:sldMkLst>
      </pc:sldChg>
      <pc:sldChg chg="del">
        <pc:chgData name="Amirmohsen Golmohammadi" userId="7ce0db84-c3cb-435b-9860-51974a9f0fdd" providerId="ADAL" clId="{C001D36A-CB80-4C47-BAD9-69DE6B1E6D07}" dt="2025-08-30T14:31:04.609" v="7" actId="2696"/>
        <pc:sldMkLst>
          <pc:docMk/>
          <pc:sldMk cId="3563781246" sldId="1443"/>
        </pc:sldMkLst>
      </pc:sldChg>
      <pc:sldChg chg="del">
        <pc:chgData name="Amirmohsen Golmohammadi" userId="7ce0db84-c3cb-435b-9860-51974a9f0fdd" providerId="ADAL" clId="{C001D36A-CB80-4C47-BAD9-69DE6B1E6D07}" dt="2025-08-30T14:31:05.229" v="8" actId="2696"/>
        <pc:sldMkLst>
          <pc:docMk/>
          <pc:sldMk cId="78005984" sldId="1444"/>
        </pc:sldMkLst>
      </pc:sldChg>
      <pc:sldChg chg="del">
        <pc:chgData name="Amirmohsen Golmohammadi" userId="7ce0db84-c3cb-435b-9860-51974a9f0fdd" providerId="ADAL" clId="{C001D36A-CB80-4C47-BAD9-69DE6B1E6D07}" dt="2025-08-30T14:31:03.710" v="5" actId="2696"/>
        <pc:sldMkLst>
          <pc:docMk/>
          <pc:sldMk cId="40833552" sldId="1445"/>
        </pc:sldMkLst>
      </pc:sldChg>
      <pc:sldChg chg="del">
        <pc:chgData name="Amirmohsen Golmohammadi" userId="7ce0db84-c3cb-435b-9860-51974a9f0fdd" providerId="ADAL" clId="{C001D36A-CB80-4C47-BAD9-69DE6B1E6D07}" dt="2025-08-30T18:35:49.155" v="9" actId="2696"/>
        <pc:sldMkLst>
          <pc:docMk/>
          <pc:sldMk cId="3982723527" sldId="14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66A9A-16AD-4618-924D-B9BC32209995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66ADF-CD7C-484F-ACCD-98481CFD3C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913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8484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6770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25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9704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1792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167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6002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0253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4123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9583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2" name="Picture 2" descr="Ontario Tech University – OUInfo">
            <a:extLst>
              <a:ext uri="{FF2B5EF4-FFF2-40B4-BE49-F238E27FC236}">
                <a16:creationId xmlns:a16="http://schemas.microsoft.com/office/drawing/2014/main" id="{A7FBD20D-25EF-CE9F-DF7C-0222E673860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0" t="18786" r="7182" b="18369"/>
          <a:stretch/>
        </p:blipFill>
        <p:spPr bwMode="auto">
          <a:xfrm>
            <a:off x="2699792" y="5229200"/>
            <a:ext cx="3672408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A0EE48-20C4-E401-EBB6-3E298A01E7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32288" y="-114482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1560" y="1447800"/>
            <a:ext cx="8075240" cy="47895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 descr="Ontario Tech University – OUInfo">
            <a:extLst>
              <a:ext uri="{FF2B5EF4-FFF2-40B4-BE49-F238E27FC236}">
                <a16:creationId xmlns:a16="http://schemas.microsoft.com/office/drawing/2014/main" id="{08C38C11-CD61-8F76-D948-FBEE34CB78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864" y="237208"/>
            <a:ext cx="2687600" cy="95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rgbClr val="7030A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downloa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sz="4800" dirty="0">
                <a:latin typeface="+mn-lt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C9548A-EF97-6DD9-7CDD-176FBFFE122A}"/>
              </a:ext>
            </a:extLst>
          </p:cNvPr>
          <p:cNvSpPr txBox="1"/>
          <p:nvPr/>
        </p:nvSpPr>
        <p:spPr>
          <a:xfrm>
            <a:off x="3162528" y="3284984"/>
            <a:ext cx="2818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Business Analytics</a:t>
            </a:r>
          </a:p>
        </p:txBody>
      </p:sp>
    </p:spTree>
    <p:extLst>
      <p:ext uri="{BB962C8B-B14F-4D97-AF65-F5344CB8AC3E}">
        <p14:creationId xmlns:p14="http://schemas.microsoft.com/office/powerpoint/2010/main" val="3170048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CE12-EF90-7D3E-F363-4EA52CE6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Analytics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83D9B7-4CE2-4F0D-D059-7030652E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1ABBD-B346-FDAA-7BEA-119B2820FAE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410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Business analytics: </a:t>
            </a:r>
            <a:r>
              <a:rPr lang="en-US" sz="3200" dirty="0"/>
              <a:t>The process of analyzing data to gain </a:t>
            </a:r>
            <a:r>
              <a:rPr lang="en-US" sz="3200" b="1" dirty="0"/>
              <a:t>valuable insights</a:t>
            </a:r>
            <a:r>
              <a:rPr lang="en-US" sz="3200" dirty="0"/>
              <a:t> and inform </a:t>
            </a:r>
            <a:r>
              <a:rPr lang="en-US" sz="3200" b="1" dirty="0"/>
              <a:t>business decisions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sz="3200" b="1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Descriptive analytics: </a:t>
            </a:r>
            <a:r>
              <a:rPr lang="en-US" sz="2800" dirty="0"/>
              <a:t>what has happened?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	e.g.: Financial reports, public health statistics, student 	transcripts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sz="2800" b="1" dirty="0"/>
              <a:t>Predictive analytics: </a:t>
            </a:r>
            <a:r>
              <a:rPr lang="en-US" sz="2800" dirty="0"/>
              <a:t>what could happen in the future?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	</a:t>
            </a:r>
            <a:r>
              <a:rPr lang="en-US" sz="2400" dirty="0"/>
              <a:t>e.g.: predicting sales based on marketing, detecting 	potentially fraudulent credit card transactions</a:t>
            </a:r>
            <a:endParaRPr lang="en-US" sz="2800" dirty="0"/>
          </a:p>
          <a:p>
            <a:pPr marL="514350" indent="-514350">
              <a:buFont typeface="+mj-lt"/>
              <a:buAutoNum type="arabicPeriod" startAt="3"/>
            </a:pPr>
            <a:r>
              <a:rPr lang="en-US" sz="2800" b="1" dirty="0"/>
              <a:t>Prescriptive analytics: </a:t>
            </a:r>
            <a:r>
              <a:rPr lang="en-US" sz="2800" dirty="0"/>
              <a:t>what should we do?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	</a:t>
            </a:r>
            <a:r>
              <a:rPr lang="en-US" sz="2400" dirty="0"/>
              <a:t>e.g.: scheduling employees, adjusting production level, 	choose investment portfolio, targeting marketing 	campaigns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131277-B577-0401-A22A-03801F1DB446}"/>
              </a:ext>
            </a:extLst>
          </p:cNvPr>
          <p:cNvSpPr/>
          <p:nvPr/>
        </p:nvSpPr>
        <p:spPr>
          <a:xfrm>
            <a:off x="2879812" y="1760093"/>
            <a:ext cx="2808312" cy="425665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5A4CA0-1528-9BF8-4EC2-C49762EE0305}"/>
              </a:ext>
            </a:extLst>
          </p:cNvPr>
          <p:cNvSpPr/>
          <p:nvPr/>
        </p:nvSpPr>
        <p:spPr>
          <a:xfrm>
            <a:off x="914400" y="2205910"/>
            <a:ext cx="3225552" cy="425665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6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CE12-EF90-7D3E-F363-4EA52CE6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Analytics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83D9B7-4CE2-4F0D-D059-7030652E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1ABBD-B346-FDAA-7BEA-119B2820FAE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Example:</a:t>
            </a:r>
            <a:r>
              <a:rPr lang="en-US" sz="2800" dirty="0"/>
              <a:t> Consider a retail chain that has experienced a stagnant sales over the past year, with little to no growth compared to previous years.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The company’s leadership wants to understand: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what is happening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forecast future trends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determine the best course of action to boost revenue.</a:t>
            </a:r>
          </a:p>
        </p:txBody>
      </p:sp>
    </p:spTree>
    <p:extLst>
      <p:ext uri="{BB962C8B-B14F-4D97-AF65-F5344CB8AC3E}">
        <p14:creationId xmlns:p14="http://schemas.microsoft.com/office/powerpoint/2010/main" val="298805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E3538-2131-B72B-7FCD-E5E0E6B62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Analytics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BCBA96-8794-5036-8978-7BA98E48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2D373F-B878-8134-50C8-3E2F9184A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127880"/>
            <a:ext cx="8020915" cy="474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56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A1F93-B11D-A8A0-4162-7CA27B28B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211F2B-CFE1-56ED-A700-081BE65A3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3A29A-029F-537A-045B-A4B173E719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268760"/>
            <a:ext cx="7772400" cy="5184576"/>
          </a:xfrm>
        </p:spPr>
        <p:txBody>
          <a:bodyPr>
            <a:normAutofit/>
          </a:bodyPr>
          <a:lstStyle/>
          <a:p>
            <a:r>
              <a:rPr lang="en-US" b="1" dirty="0"/>
              <a:t>Data</a:t>
            </a:r>
            <a:r>
              <a:rPr lang="en-US" dirty="0"/>
              <a:t>: are collection of facts, figures, or other contents.</a:t>
            </a:r>
          </a:p>
          <a:p>
            <a:r>
              <a:rPr lang="en-US" b="1" dirty="0"/>
              <a:t>Information</a:t>
            </a:r>
            <a:r>
              <a:rPr lang="en-US" dirty="0"/>
              <a:t>: is a set of data that are organized and processed in a meaningful and purposeful way.</a:t>
            </a:r>
          </a:p>
          <a:p>
            <a:r>
              <a:rPr lang="en-US" b="1" dirty="0"/>
              <a:t>Population:</a:t>
            </a:r>
            <a:r>
              <a:rPr lang="en-US" dirty="0"/>
              <a:t> consists of all items of interest in an analytics application</a:t>
            </a:r>
          </a:p>
          <a:p>
            <a:r>
              <a:rPr lang="en-US" b="1" dirty="0"/>
              <a:t>Sample:</a:t>
            </a:r>
            <a:r>
              <a:rPr lang="en-US" dirty="0"/>
              <a:t> is a subset of the population</a:t>
            </a:r>
          </a:p>
          <a:p>
            <a:pPr lvl="1"/>
            <a:r>
              <a:rPr lang="en-US" dirty="0"/>
              <a:t>Representative of the population</a:t>
            </a:r>
          </a:p>
          <a:p>
            <a:pPr marL="32004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320040" lvl="1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161665-BA2B-01FB-2383-34DE45B88551}"/>
              </a:ext>
            </a:extLst>
          </p:cNvPr>
          <p:cNvSpPr/>
          <p:nvPr/>
        </p:nvSpPr>
        <p:spPr>
          <a:xfrm>
            <a:off x="978148" y="3068960"/>
            <a:ext cx="7272808" cy="263728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Example: </a:t>
            </a:r>
            <a:r>
              <a:rPr lang="en-US" sz="2400" dirty="0">
                <a:solidFill>
                  <a:schemeClr val="tx1"/>
                </a:solidFill>
              </a:rPr>
              <a:t>46.8% of Canadians 15 years or older reported high life satisfaction.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Population: </a:t>
            </a:r>
            <a:r>
              <a:rPr lang="en-US" sz="2400" dirty="0">
                <a:solidFill>
                  <a:schemeClr val="tx1"/>
                </a:solidFill>
              </a:rPr>
              <a:t>Canadians 15 years or older (around 34 million people).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Sample: </a:t>
            </a:r>
            <a:r>
              <a:rPr lang="en-US" sz="2400" dirty="0">
                <a:solidFill>
                  <a:schemeClr val="tx1"/>
                </a:solidFill>
              </a:rPr>
              <a:t>2000 individuals who are selected randomly.</a:t>
            </a:r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78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A349-433F-A89B-2171-66559944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D5B076-9E7A-57D2-EF73-2F9CBE2A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47544-82BB-93AC-B76B-40AA5C665A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4955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Cross-Sectional vs Time Series Data: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Cross-sectional data:</a:t>
            </a:r>
            <a:br>
              <a:rPr lang="en-US" b="1" dirty="0"/>
            </a:br>
            <a:r>
              <a:rPr lang="en-US" dirty="0"/>
              <a:t>Record a characteristic of many subjects at the same point of time, or without regard to time.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dirty="0"/>
              <a:t>e.g.: People, firms, industries, regions.</a:t>
            </a:r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C24C915-4D5C-C492-631E-E4DDD8C1A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147145"/>
              </p:ext>
            </p:extLst>
          </p:nvPr>
        </p:nvGraphicFramePr>
        <p:xfrm>
          <a:off x="1499925" y="3817086"/>
          <a:ext cx="6729675" cy="2621814"/>
        </p:xfrm>
        <a:graphic>
          <a:graphicData uri="http://schemas.openxmlformats.org/drawingml/2006/table">
            <a:tbl>
              <a:tblPr/>
              <a:tblGrid>
                <a:gridCol w="754054">
                  <a:extLst>
                    <a:ext uri="{9D8B030D-6E8A-4147-A177-3AD203B41FA5}">
                      <a16:colId xmlns:a16="http://schemas.microsoft.com/office/drawing/2014/main" val="2709600016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87135548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713800939"/>
                    </a:ext>
                  </a:extLst>
                </a:gridCol>
                <a:gridCol w="1173302">
                  <a:extLst>
                    <a:ext uri="{9D8B030D-6E8A-4147-A177-3AD203B41FA5}">
                      <a16:colId xmlns:a16="http://schemas.microsoft.com/office/drawing/2014/main" val="1778096637"/>
                    </a:ext>
                  </a:extLst>
                </a:gridCol>
                <a:gridCol w="1345935">
                  <a:extLst>
                    <a:ext uri="{9D8B030D-6E8A-4147-A177-3AD203B41FA5}">
                      <a16:colId xmlns:a16="http://schemas.microsoft.com/office/drawing/2014/main" val="462590724"/>
                    </a:ext>
                  </a:extLst>
                </a:gridCol>
              </a:tblGrid>
              <a:tr h="436969">
                <a:tc>
                  <a:txBody>
                    <a:bodyPr/>
                    <a:lstStyle/>
                    <a:p>
                      <a:r>
                        <a:rPr lang="en-CA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286959"/>
                  </a:ext>
                </a:extLst>
              </a:tr>
              <a:tr h="436969"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Cleveland Cavaliers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.780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37075"/>
                  </a:ext>
                </a:extLst>
              </a:tr>
              <a:tr h="436969"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Boston Celtics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.744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592352"/>
                  </a:ext>
                </a:extLst>
              </a:tr>
              <a:tr h="436969"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York Knicks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.622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943375"/>
                  </a:ext>
                </a:extLst>
              </a:tr>
              <a:tr h="436969"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Indiana Pacers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.610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559055"/>
                  </a:ext>
                </a:extLst>
              </a:tr>
              <a:tr h="436969"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Milwaukee Bucks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.585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790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97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A349-433F-A89B-2171-66559944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D5B076-9E7A-57D2-EF73-2F9CBE2A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47544-82BB-93AC-B76B-40AA5C665A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4955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Cross-Sectional vs Time Series Data: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b="1" dirty="0"/>
              <a:t>Time series data:</a:t>
            </a:r>
            <a:br>
              <a:rPr lang="en-US" b="1" dirty="0"/>
            </a:br>
            <a:r>
              <a:rPr lang="en-US" dirty="0"/>
              <a:t>Collected over several time periods focusing on certain group of people, specific events, or objects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dirty="0"/>
              <a:t>e.g.: Hourly, daily, weekly, monthly, ...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2050" name="Picture 2" descr="Chart 0">
            <a:extLst>
              <a:ext uri="{FF2B5EF4-FFF2-40B4-BE49-F238E27FC236}">
                <a16:creationId xmlns:a16="http://schemas.microsoft.com/office/drawing/2014/main" id="{DCB7E8C8-8E7C-2C52-3BD7-BE01D78917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60"/>
          <a:stretch/>
        </p:blipFill>
        <p:spPr bwMode="auto">
          <a:xfrm>
            <a:off x="1858684" y="3709268"/>
            <a:ext cx="5319607" cy="295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0912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A349-433F-A89B-2171-66559944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D5B076-9E7A-57D2-EF73-2F9CBE2A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47544-82BB-93AC-B76B-40AA5C665A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4955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Structured vs Unstructured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Structured data:</a:t>
            </a:r>
            <a:br>
              <a:rPr lang="en-US" b="1" dirty="0"/>
            </a:br>
            <a:r>
              <a:rPr lang="en-US" dirty="0"/>
              <a:t>Exist in a predefined row-column format. We use spreadsheet or data base applications to enter and store them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dirty="0"/>
              <a:t>e.g.: point-of-sale and financial data.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b="1" dirty="0"/>
              <a:t>Unstructured data:</a:t>
            </a:r>
            <a:br>
              <a:rPr lang="en-US" b="1" dirty="0"/>
            </a:br>
            <a:r>
              <a:rPr lang="en-US" dirty="0"/>
              <a:t>Do not conform to a predefined row-column format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dirty="0"/>
              <a:t>e.g.: written reports, pictures, videos, social media posts.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25522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A349-433F-A89B-2171-66559944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D5B076-9E7A-57D2-EF73-2F9CBE2A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47544-82BB-93AC-B76B-40AA5C665A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4955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Structured vs Unstructured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Structured data:</a:t>
            </a:r>
            <a:br>
              <a:rPr lang="en-US" b="1" dirty="0"/>
            </a:br>
            <a:r>
              <a:rPr lang="en-US" dirty="0"/>
              <a:t>Exist in a predefined row-column format. We use spreadsheet or data base applications to enter and store them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dirty="0"/>
              <a:t>e.g.: point-of-sale and financial data.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b="1" dirty="0"/>
              <a:t>Unstructured data:</a:t>
            </a:r>
            <a:br>
              <a:rPr lang="en-US" b="1" dirty="0"/>
            </a:br>
            <a:r>
              <a:rPr lang="en-US" dirty="0"/>
              <a:t>Do not conform to a predefined row-column format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dirty="0"/>
              <a:t>e.g.: written reports, pictures, videos, social media posts.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 descr="An invoice for Tranquillity Home and Garden is shown.">
            <a:extLst>
              <a:ext uri="{FF2B5EF4-FFF2-40B4-BE49-F238E27FC236}">
                <a16:creationId xmlns:a16="http://schemas.microsoft.com/office/drawing/2014/main" id="{2989F71C-0391-9810-DD59-231C21C1D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6" y="1916832"/>
            <a:ext cx="7746102" cy="397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7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A349-433F-A89B-2171-66559944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D5B076-9E7A-57D2-EF73-2F9CBE2A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47544-82BB-93AC-B76B-40AA5C665A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4955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Structured vs Unstructured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Structured data:</a:t>
            </a:r>
            <a:br>
              <a:rPr lang="en-US" b="1" dirty="0"/>
            </a:br>
            <a:r>
              <a:rPr lang="en-US" dirty="0"/>
              <a:t>Exist in a predefined row-column format. We use spreadsheet or data base applications to enter and store them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dirty="0"/>
              <a:t>e.g.: point-of-sale and financial data.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b="1" dirty="0"/>
              <a:t>Unstructured data:</a:t>
            </a:r>
            <a:br>
              <a:rPr lang="en-US" b="1" dirty="0"/>
            </a:br>
            <a:r>
              <a:rPr lang="en-US" dirty="0"/>
              <a:t>Do not conform to a predefined row-column format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dirty="0"/>
              <a:t>e.g.: written reports, pictures, videos, social media posts.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35233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5FED-1DF7-C696-5C47-2DD31A9FD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288" y="341784"/>
            <a:ext cx="5883928" cy="1143000"/>
          </a:xfrm>
        </p:spPr>
        <p:txBody>
          <a:bodyPr/>
          <a:lstStyle/>
          <a:p>
            <a:r>
              <a:rPr lang="en-US" dirty="0"/>
              <a:t>Variables and Scales of Measurements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D98BAC-2419-3BA2-3871-AF9B4718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9B610-EB95-C6F2-7A67-2829BA91E62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32288" y="1700808"/>
            <a:ext cx="8365408" cy="49666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business analytics, we focus on people, firms, events, etc. with characteristics.</a:t>
            </a:r>
          </a:p>
          <a:p>
            <a:r>
              <a:rPr lang="en-US" b="1" dirty="0">
                <a:solidFill>
                  <a:srgbClr val="FF0000"/>
                </a:solidFill>
              </a:rPr>
              <a:t>Variable:</a:t>
            </a:r>
            <a:r>
              <a:rPr lang="en-US" b="1" dirty="0"/>
              <a:t> </a:t>
            </a:r>
            <a:r>
              <a:rPr lang="en-US" dirty="0"/>
              <a:t>a characteristic of interest that differs in kind or degree among various observations.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Categorical or qualitative: </a:t>
            </a:r>
          </a:p>
          <a:p>
            <a:pPr marL="788670" lvl="1" indent="-514350"/>
            <a:r>
              <a:rPr lang="en-US" dirty="0"/>
              <a:t>Observations of categorical variables represent categories, names or labels</a:t>
            </a:r>
          </a:p>
          <a:p>
            <a:pPr marL="788670" lvl="1" indent="-514350"/>
            <a:r>
              <a:rPr lang="en-US" dirty="0"/>
              <a:t>Arithmetic operations on the values are not meaningful</a:t>
            </a:r>
          </a:p>
          <a:p>
            <a:pPr marL="788670" lvl="1" indent="-514350"/>
            <a:r>
              <a:rPr lang="en-US" dirty="0"/>
              <a:t>E.g.: marital status, type of industry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Numerical or quantitative:</a:t>
            </a:r>
          </a:p>
          <a:p>
            <a:pPr marL="788670" lvl="1" indent="-514350"/>
            <a:r>
              <a:rPr lang="en-US" dirty="0"/>
              <a:t>We use numbers to identify the distinguishing characteristic</a:t>
            </a:r>
          </a:p>
          <a:p>
            <a:pPr marL="788670" lvl="1" indent="-514350"/>
            <a:r>
              <a:rPr lang="en-US" dirty="0"/>
              <a:t>Can be discrete or continuous </a:t>
            </a:r>
          </a:p>
        </p:txBody>
      </p:sp>
    </p:spTree>
    <p:extLst>
      <p:ext uri="{BB962C8B-B14F-4D97-AF65-F5344CB8AC3E}">
        <p14:creationId xmlns:p14="http://schemas.microsoft.com/office/powerpoint/2010/main" val="1748453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5FED-1DF7-C696-5C47-2DD31A9FD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288" y="341784"/>
            <a:ext cx="5883928" cy="1143000"/>
          </a:xfrm>
        </p:spPr>
        <p:txBody>
          <a:bodyPr/>
          <a:lstStyle/>
          <a:p>
            <a:r>
              <a:rPr lang="en-US" dirty="0"/>
              <a:t>Variables and Scales of Measurements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D98BAC-2419-3BA2-3871-AF9B4718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9B610-EB95-C6F2-7A67-2829BA91E62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32288" y="1700808"/>
            <a:ext cx="8365408" cy="4966692"/>
          </a:xfrm>
        </p:spPr>
        <p:txBody>
          <a:bodyPr/>
          <a:lstStyle/>
          <a:p>
            <a:r>
              <a:rPr lang="en-US" dirty="0"/>
              <a:t>Different measurement scales: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Nominal scale (categorical): </a:t>
            </a:r>
          </a:p>
          <a:p>
            <a:pPr marL="788670" lvl="1" indent="-514350"/>
            <a:r>
              <a:rPr lang="en-US" dirty="0"/>
              <a:t>Differ by name or label</a:t>
            </a:r>
          </a:p>
          <a:p>
            <a:pPr marL="788670" lvl="1" indent="-514350"/>
            <a:r>
              <a:rPr lang="en-US" dirty="0"/>
              <a:t>Least sophisticated level of measurement and they can only be categorized or grouped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648B1D-7066-CB2B-2215-800D35438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72521"/>
              </p:ext>
            </p:extLst>
          </p:nvPr>
        </p:nvGraphicFramePr>
        <p:xfrm>
          <a:off x="1251141" y="3794728"/>
          <a:ext cx="712770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762">
                  <a:extLst>
                    <a:ext uri="{9D8B030D-6E8A-4147-A177-3AD203B41FA5}">
                      <a16:colId xmlns:a16="http://schemas.microsoft.com/office/drawing/2014/main" val="1820341935"/>
                    </a:ext>
                  </a:extLst>
                </a:gridCol>
                <a:gridCol w="1382089">
                  <a:extLst>
                    <a:ext uri="{9D8B030D-6E8A-4147-A177-3AD203B41FA5}">
                      <a16:colId xmlns:a16="http://schemas.microsoft.com/office/drawing/2014/main" val="4080575338"/>
                    </a:ext>
                  </a:extLst>
                </a:gridCol>
                <a:gridCol w="2306565">
                  <a:extLst>
                    <a:ext uri="{9D8B030D-6E8A-4147-A177-3AD203B41FA5}">
                      <a16:colId xmlns:a16="http://schemas.microsoft.com/office/drawing/2014/main" val="4178962443"/>
                    </a:ext>
                  </a:extLst>
                </a:gridCol>
                <a:gridCol w="1257286">
                  <a:extLst>
                    <a:ext uri="{9D8B030D-6E8A-4147-A177-3AD203B41FA5}">
                      <a16:colId xmlns:a16="http://schemas.microsoft.com/office/drawing/2014/main" val="1085473259"/>
                    </a:ext>
                  </a:extLst>
                </a:gridCol>
              </a:tblGrid>
              <a:tr h="276949">
                <a:tc>
                  <a:txBody>
                    <a:bodyPr/>
                    <a:lstStyle/>
                    <a:p>
                      <a:r>
                        <a:rPr lang="en-US" sz="1400" dirty="0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384783"/>
                  </a:ext>
                </a:extLst>
              </a:tr>
              <a:tr h="276949">
                <a:tc>
                  <a:txBody>
                    <a:bodyPr/>
                    <a:lstStyle/>
                    <a:p>
                      <a:r>
                        <a:rPr lang="en-US" sz="1400" dirty="0"/>
                        <a:t>3M (M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 err="1"/>
                        <a:t>M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Johnson &amp; Johnson (J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N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J)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038616"/>
                  </a:ext>
                </a:extLst>
              </a:tr>
              <a:tr h="276949">
                <a:tc>
                  <a:txBody>
                    <a:bodyPr/>
                    <a:lstStyle/>
                    <a:p>
                      <a:r>
                        <a:rPr lang="en-US" sz="1400" dirty="0"/>
                        <a:t>American Express (A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X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JPMorgan Chase (J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P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515275"/>
                  </a:ext>
                </a:extLst>
              </a:tr>
              <a:tr h="276949">
                <a:tc>
                  <a:txBody>
                    <a:bodyPr/>
                    <a:lstStyle/>
                    <a:p>
                      <a:r>
                        <a:rPr lang="en-US" sz="1400" dirty="0"/>
                        <a:t>Apple (A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 err="1"/>
                        <a:t>A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P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Nasdaq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McDonald’s (M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C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178957"/>
                  </a:ext>
                </a:extLst>
              </a:tr>
              <a:tr h="276949">
                <a:tc>
                  <a:txBody>
                    <a:bodyPr/>
                    <a:lstStyle/>
                    <a:p>
                      <a:r>
                        <a:rPr lang="en-US" sz="1400" dirty="0"/>
                        <a:t>Boeing (B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Merck (M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R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840356"/>
                  </a:ext>
                </a:extLst>
              </a:tr>
              <a:tr h="276949">
                <a:tc>
                  <a:txBody>
                    <a:bodyPr/>
                    <a:lstStyle/>
                    <a:p>
                      <a:r>
                        <a:rPr lang="en-US" sz="1400" dirty="0"/>
                        <a:t>Caterpillar (C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A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Microsoft (M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F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S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Nasdaq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305567"/>
                  </a:ext>
                </a:extLst>
              </a:tr>
              <a:tr h="276949">
                <a:tc>
                  <a:txBody>
                    <a:bodyPr/>
                    <a:lstStyle/>
                    <a:p>
                      <a:r>
                        <a:rPr lang="en-US" sz="1400" dirty="0"/>
                        <a:t>Chevron (C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V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Nike (N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K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376703"/>
                  </a:ext>
                </a:extLst>
              </a:tr>
              <a:tr h="276949">
                <a:tc>
                  <a:txBody>
                    <a:bodyPr/>
                    <a:lstStyle/>
                    <a:p>
                      <a:r>
                        <a:rPr lang="en-US" sz="1400" dirty="0"/>
                        <a:t>Cisco (C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S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C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Nasdaq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Pfizer (P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F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185530"/>
                  </a:ext>
                </a:extLst>
              </a:tr>
              <a:tr h="276949">
                <a:tc>
                  <a:txBody>
                    <a:bodyPr/>
                    <a:lstStyle/>
                    <a:p>
                      <a:r>
                        <a:rPr lang="en-US" sz="1400" dirty="0"/>
                        <a:t>Coca-Cola (K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Procter &amp; Gamble (P</a:t>
                      </a:r>
                      <a:r>
                        <a:rPr lang="en-US" sz="100" dirty="0"/>
                        <a:t> </a:t>
                      </a:r>
                      <a:r>
                        <a:rPr lang="en-US" sz="1400" dirty="0"/>
                        <a:t>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26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9213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5FED-1DF7-C696-5C47-2DD31A9FD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288" y="341784"/>
            <a:ext cx="5883928" cy="1143000"/>
          </a:xfrm>
        </p:spPr>
        <p:txBody>
          <a:bodyPr/>
          <a:lstStyle/>
          <a:p>
            <a:r>
              <a:rPr lang="en-US" dirty="0"/>
              <a:t>Variables and Scales of Measurements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D98BAC-2419-3BA2-3871-AF9B4718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9B610-EB95-C6F2-7A67-2829BA91E62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32288" y="1700808"/>
            <a:ext cx="8365408" cy="4966692"/>
          </a:xfrm>
        </p:spPr>
        <p:txBody>
          <a:bodyPr/>
          <a:lstStyle/>
          <a:p>
            <a:r>
              <a:rPr lang="en-US" dirty="0"/>
              <a:t>Different measurement scales: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b="1" dirty="0"/>
              <a:t>Ordinal scale (categorical): </a:t>
            </a:r>
          </a:p>
          <a:p>
            <a:pPr marL="788670" lvl="1" indent="-514350"/>
            <a:r>
              <a:rPr lang="en-US" dirty="0"/>
              <a:t>Observations can be categorized or ranked</a:t>
            </a:r>
          </a:p>
          <a:p>
            <a:pPr marL="788670" lvl="1" indent="-514350"/>
            <a:r>
              <a:rPr lang="en-US" dirty="0"/>
              <a:t>Cannot interpret the difference between the ranked observations</a:t>
            </a:r>
          </a:p>
          <a:p>
            <a:pPr marL="788670" lvl="1" indent="-514350"/>
            <a:r>
              <a:rPr lang="en-US" dirty="0"/>
              <a:t>Example: Customer service rating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E0437F-B2B0-FF4E-84F9-D55355B41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43304"/>
              </p:ext>
            </p:extLst>
          </p:nvPr>
        </p:nvGraphicFramePr>
        <p:xfrm>
          <a:off x="2582390" y="4276312"/>
          <a:ext cx="39338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913">
                  <a:extLst>
                    <a:ext uri="{9D8B030D-6E8A-4147-A177-3AD203B41FA5}">
                      <a16:colId xmlns:a16="http://schemas.microsoft.com/office/drawing/2014/main" val="232984626"/>
                    </a:ext>
                  </a:extLst>
                </a:gridCol>
                <a:gridCol w="1966913">
                  <a:extLst>
                    <a:ext uri="{9D8B030D-6E8A-4147-A177-3AD203B41FA5}">
                      <a16:colId xmlns:a16="http://schemas.microsoft.com/office/drawing/2014/main" val="19708010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008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9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379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709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7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626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803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5FED-1DF7-C696-5C47-2DD31A9FD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288" y="341784"/>
            <a:ext cx="5883928" cy="1143000"/>
          </a:xfrm>
        </p:spPr>
        <p:txBody>
          <a:bodyPr/>
          <a:lstStyle/>
          <a:p>
            <a:r>
              <a:rPr lang="en-US" dirty="0"/>
              <a:t>Variables and Scales of Measurements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D98BAC-2419-3BA2-3871-AF9B4718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9B610-EB95-C6F2-7A67-2829BA91E62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32288" y="1700808"/>
            <a:ext cx="8365408" cy="4966692"/>
          </a:xfrm>
        </p:spPr>
        <p:txBody>
          <a:bodyPr>
            <a:normAutofit/>
          </a:bodyPr>
          <a:lstStyle/>
          <a:p>
            <a:r>
              <a:rPr lang="en-US" dirty="0"/>
              <a:t>Different measurement scales: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Interval scale (Numerical): </a:t>
            </a:r>
          </a:p>
          <a:p>
            <a:pPr marL="788670" lvl="1" indent="-514350"/>
            <a:r>
              <a:rPr lang="en-US" dirty="0"/>
              <a:t>Observations can be ranked, and we can find meaningful differences</a:t>
            </a:r>
          </a:p>
          <a:p>
            <a:pPr marL="788670" lvl="1" indent="-514350"/>
            <a:r>
              <a:rPr lang="en-US" dirty="0"/>
              <a:t>Zero value is arbitrary and does not reflect the absence of a characteristic</a:t>
            </a:r>
          </a:p>
          <a:p>
            <a:pPr marL="788670" lvl="1" indent="-514350"/>
            <a:r>
              <a:rPr lang="en-US" dirty="0"/>
              <a:t>Example: Temperature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Ratio scale </a:t>
            </a:r>
            <a:r>
              <a:rPr lang="en-US" b="1"/>
              <a:t>(Numerical): </a:t>
            </a:r>
            <a:endParaRPr lang="en-US" b="1" dirty="0"/>
          </a:p>
          <a:p>
            <a:pPr marL="788670" lvl="1" indent="-514350"/>
            <a:r>
              <a:rPr lang="en-US" dirty="0"/>
              <a:t>Zero value is not arbitrary and reflects absence of a characteristic</a:t>
            </a:r>
          </a:p>
          <a:p>
            <a:pPr marL="788670" lvl="1" indent="-514350"/>
            <a:r>
              <a:rPr lang="en-US" dirty="0"/>
              <a:t>Example: Sales, profit, inventory level</a:t>
            </a:r>
          </a:p>
        </p:txBody>
      </p:sp>
    </p:spTree>
    <p:extLst>
      <p:ext uri="{BB962C8B-B14F-4D97-AF65-F5344CB8AC3E}">
        <p14:creationId xmlns:p14="http://schemas.microsoft.com/office/powerpoint/2010/main" val="2193514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sz="4800" dirty="0">
                <a:latin typeface="+mn-lt"/>
              </a:rPr>
              <a:t>Introduction to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C9548A-EF97-6DD9-7CDD-176FBFFE122A}"/>
              </a:ext>
            </a:extLst>
          </p:cNvPr>
          <p:cNvSpPr txBox="1"/>
          <p:nvPr/>
        </p:nvSpPr>
        <p:spPr>
          <a:xfrm>
            <a:off x="3162528" y="3284984"/>
            <a:ext cx="2818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Business Analytics</a:t>
            </a:r>
          </a:p>
        </p:txBody>
      </p:sp>
    </p:spTree>
    <p:extLst>
      <p:ext uri="{BB962C8B-B14F-4D97-AF65-F5344CB8AC3E}">
        <p14:creationId xmlns:p14="http://schemas.microsoft.com/office/powerpoint/2010/main" val="2758260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E88E-E33E-BE4B-AD93-F62713C2D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D5013D-1A12-E7B7-B454-DEB734A7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D898A-8994-4C1E-B7BC-77ED4E69657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You can use any IDE for this course.</a:t>
            </a:r>
          </a:p>
          <a:p>
            <a:r>
              <a:rPr lang="en-US" dirty="0"/>
              <a:t>In the class, I use Anaconda and </a:t>
            </a:r>
            <a:r>
              <a:rPr lang="en-US" dirty="0" err="1"/>
              <a:t>JupyterLab</a:t>
            </a:r>
            <a:r>
              <a:rPr lang="en-US" dirty="0"/>
              <a:t>.</a:t>
            </a:r>
          </a:p>
          <a:p>
            <a:r>
              <a:rPr lang="en-US" dirty="0"/>
              <a:t>Download Anaconda from: </a:t>
            </a:r>
            <a:r>
              <a:rPr lang="en-US" dirty="0">
                <a:hlinkClick r:id="rId3"/>
              </a:rPr>
              <a:t>https://www.anaconda.com/download</a:t>
            </a:r>
            <a:endParaRPr lang="en-US" dirty="0"/>
          </a:p>
          <a:p>
            <a:r>
              <a:rPr lang="en-US" dirty="0"/>
              <a:t>Once installation is complete, open Anaconda Navigator and launch </a:t>
            </a:r>
            <a:r>
              <a:rPr lang="en-US" dirty="0" err="1"/>
              <a:t>JupyterLab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521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17BD-D2D5-74CF-BEB7-216EEA327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88AE29-248F-FDA6-FC13-F8FB7AACE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2E854-5A9E-D83C-5B93-EC6A09DCCF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190919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</a:t>
            </a:r>
            <a:r>
              <a:rPr lang="en-US" dirty="0" err="1"/>
              <a:t>Jupyter</a:t>
            </a:r>
            <a:r>
              <a:rPr lang="en-US" dirty="0"/>
              <a:t> Notebook, we have three types of cell: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b="1" dirty="0"/>
              <a:t>Raw:</a:t>
            </a:r>
            <a:r>
              <a:rPr lang="en-US" dirty="0"/>
              <a:t> Python does not process it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b="1" dirty="0"/>
              <a:t>Markdown: </a:t>
            </a:r>
            <a:r>
              <a:rPr lang="en-US" dirty="0"/>
              <a:t>We use it to add text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b="1" dirty="0"/>
              <a:t>Code: </a:t>
            </a:r>
            <a:r>
              <a:rPr lang="en-US" dirty="0"/>
              <a:t>We use it to write python code</a:t>
            </a:r>
          </a:p>
          <a:p>
            <a:pPr lvl="2"/>
            <a:r>
              <a:rPr lang="en-US" dirty="0"/>
              <a:t>We can use ‘#’ to write comments in a code cell</a:t>
            </a:r>
          </a:p>
          <a:p>
            <a:pPr marL="502920" indent="-457200"/>
            <a:endParaRPr lang="en-US" b="1" dirty="0"/>
          </a:p>
          <a:p>
            <a:pPr marL="502920" indent="-457200"/>
            <a:endParaRPr lang="en-US" b="1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3A6B11E4-B418-E1F0-50DB-236379B42A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1611512"/>
              </p:ext>
            </p:extLst>
          </p:nvPr>
        </p:nvGraphicFramePr>
        <p:xfrm>
          <a:off x="4018354" y="3432321"/>
          <a:ext cx="4964316" cy="305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710">
                  <a:extLst>
                    <a:ext uri="{9D8B030D-6E8A-4147-A177-3AD203B41FA5}">
                      <a16:colId xmlns:a16="http://schemas.microsoft.com/office/drawing/2014/main" val="2092716547"/>
                    </a:ext>
                  </a:extLst>
                </a:gridCol>
                <a:gridCol w="1374941">
                  <a:extLst>
                    <a:ext uri="{9D8B030D-6E8A-4147-A177-3AD203B41FA5}">
                      <a16:colId xmlns:a16="http://schemas.microsoft.com/office/drawing/2014/main" val="1722271556"/>
                    </a:ext>
                  </a:extLst>
                </a:gridCol>
                <a:gridCol w="1817665">
                  <a:extLst>
                    <a:ext uri="{9D8B030D-6E8A-4147-A177-3AD203B41FA5}">
                      <a16:colId xmlns:a16="http://schemas.microsoft.com/office/drawing/2014/main" val="4211658053"/>
                    </a:ext>
                  </a:extLst>
                </a:gridCol>
              </a:tblGrid>
              <a:tr h="44546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Computer 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227100"/>
                  </a:ext>
                </a:extLst>
              </a:tr>
              <a:tr h="152192">
                <a:tc>
                  <a:txBody>
                    <a:bodyPr/>
                    <a:lstStyle/>
                    <a:p>
                      <a:r>
                        <a:rPr lang="en-US" sz="1600" dirty="0"/>
                        <a:t>Exponentiation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 ** 2 = 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476248"/>
                  </a:ext>
                </a:extLst>
              </a:tr>
              <a:tr h="416513">
                <a:tc>
                  <a:txBody>
                    <a:bodyPr/>
                    <a:lstStyle/>
                    <a:p>
                      <a:r>
                        <a:rPr lang="en-US" sz="1600" dirty="0"/>
                        <a:t>Multiplication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 * 8 = 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623356"/>
                  </a:ext>
                </a:extLst>
              </a:tr>
              <a:tr h="416513">
                <a:tc>
                  <a:txBody>
                    <a:bodyPr/>
                    <a:lstStyle/>
                    <a:p>
                      <a:r>
                        <a:rPr lang="en-US" sz="1600" dirty="0"/>
                        <a:t>Division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21/7 =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658087"/>
                  </a:ext>
                </a:extLst>
              </a:tr>
              <a:tr h="416513">
                <a:tc>
                  <a:txBody>
                    <a:bodyPr/>
                    <a:lstStyle/>
                    <a:p>
                      <a:r>
                        <a:rPr lang="en-US" sz="1600" dirty="0"/>
                        <a:t>Modulus (remainder)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17%3 =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9515938"/>
                  </a:ext>
                </a:extLst>
              </a:tr>
              <a:tr h="416513">
                <a:tc>
                  <a:txBody>
                    <a:bodyPr/>
                    <a:lstStyle/>
                    <a:p>
                      <a:r>
                        <a:rPr lang="en-US" sz="1600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 + 5 =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0972977"/>
                  </a:ext>
                </a:extLst>
              </a:tr>
              <a:tr h="416513">
                <a:tc>
                  <a:txBody>
                    <a:bodyPr/>
                    <a:lstStyle/>
                    <a:p>
                      <a:r>
                        <a:rPr lang="en-US" sz="1600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9 − 4 =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1328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9D516E6-EED6-4A74-300A-082D62451CA7}"/>
              </a:ext>
            </a:extLst>
          </p:cNvPr>
          <p:cNvSpPr txBox="1"/>
          <p:nvPr/>
        </p:nvSpPr>
        <p:spPr>
          <a:xfrm>
            <a:off x="914400" y="3429000"/>
            <a:ext cx="3103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Arithmetic Operators: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058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B07B-4963-99AF-8874-37736704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with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D335E-BE00-E06F-86CD-5717F74AF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85CB9-3CBD-AFDF-652C-74286E9746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19700"/>
          </a:xfrm>
        </p:spPr>
        <p:txBody>
          <a:bodyPr>
            <a:normAutofit lnSpcReduction="10000"/>
          </a:bodyPr>
          <a:lstStyle/>
          <a:p>
            <a:pPr>
              <a:spcBef>
                <a:spcPts val="1000"/>
              </a:spcBef>
              <a:spcAft>
                <a:spcPct val="0"/>
              </a:spcAft>
            </a:pPr>
            <a:r>
              <a:rPr lang="en-US" b="1" dirty="0">
                <a:solidFill>
                  <a:srgbClr val="FF0000"/>
                </a:solidFill>
              </a:rPr>
              <a:t>Variable:</a:t>
            </a:r>
            <a:r>
              <a:rPr lang="en-US" dirty="0"/>
              <a:t> 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b="0" i="0" u="none" strike="noStrike" baseline="0" dirty="0">
                <a:solidFill>
                  <a:srgbClr val="000000"/>
                </a:solidFill>
              </a:rPr>
              <a:t>A </a:t>
            </a:r>
            <a:r>
              <a:rPr lang="en-US" sz="2200" b="1" i="0" u="none" strike="noStrike" baseline="0" dirty="0">
                <a:solidFill>
                  <a:srgbClr val="000000"/>
                </a:solidFill>
              </a:rPr>
              <a:t>variable</a:t>
            </a:r>
            <a:r>
              <a:rPr lang="en-US" sz="2200" b="0" i="0" u="none" strike="noStrike" baseline="0" dirty="0">
                <a:solidFill>
                  <a:srgbClr val="000000"/>
                </a:solidFill>
              </a:rPr>
              <a:t> is the name for a storage location in the computer's memory. The </a:t>
            </a:r>
            <a:r>
              <a:rPr lang="en-US" sz="2200" b="1" i="0" u="none" strike="noStrike" baseline="0" dirty="0">
                <a:solidFill>
                  <a:srgbClr val="000000"/>
                </a:solidFill>
              </a:rPr>
              <a:t>value</a:t>
            </a:r>
            <a:r>
              <a:rPr lang="en-US" sz="2200" b="0" i="0" u="none" strike="noStrike" baseline="0" dirty="0">
                <a:solidFill>
                  <a:srgbClr val="000000"/>
                </a:solidFill>
              </a:rPr>
              <a:t> of the variable is what is stored in that location. 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</a:rPr>
              <a:t>We use ‘=’ to assign a value to a variable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b="1" i="0" u="none" strike="noStrike" baseline="0" dirty="0"/>
              <a:t>Primitive variables:</a:t>
            </a:r>
          </a:p>
          <a:p>
            <a:pPr marL="891540" lvl="2" indent="-342900">
              <a:spcBef>
                <a:spcPts val="10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800" i="0" u="none" strike="noStrike" baseline="0" dirty="0">
                <a:solidFill>
                  <a:srgbClr val="000000"/>
                </a:solidFill>
              </a:rPr>
              <a:t>Numbers: </a:t>
            </a:r>
            <a:r>
              <a:rPr lang="en-US" sz="1800" dirty="0">
                <a:solidFill>
                  <a:srgbClr val="000000"/>
                </a:solidFill>
              </a:rPr>
              <a:t>can be integer or float</a:t>
            </a:r>
          </a:p>
          <a:p>
            <a:pPr marL="891540" lvl="2" indent="-342900">
              <a:spcBef>
                <a:spcPts val="10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800" i="0" u="none" strike="noStrike" baseline="0" dirty="0">
                <a:solidFill>
                  <a:srgbClr val="000000"/>
                </a:solidFill>
              </a:rPr>
              <a:t>Strings: texts like variables</a:t>
            </a:r>
          </a:p>
          <a:p>
            <a:pPr marL="891540" lvl="2" indent="-342900">
              <a:spcBef>
                <a:spcPts val="10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</a:rPr>
              <a:t>Boolean: True or False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i="0" u="none" strike="noStrike" baseline="0" dirty="0">
                <a:solidFill>
                  <a:srgbClr val="000000"/>
                </a:solidFill>
              </a:rPr>
              <a:t>Rules for naming variables: </a:t>
            </a:r>
          </a:p>
          <a:p>
            <a:pPr marL="891540" lvl="2" indent="-342900">
              <a:spcBef>
                <a:spcPts val="10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</a:rPr>
              <a:t>Cannot start with a number</a:t>
            </a:r>
          </a:p>
          <a:p>
            <a:pPr marL="891540" lvl="2" indent="-342900">
              <a:spcBef>
                <a:spcPts val="10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800" i="0" u="none" strike="noStrike" baseline="0" dirty="0">
                <a:solidFill>
                  <a:srgbClr val="000000"/>
                </a:solidFill>
              </a:rPr>
              <a:t>Cannot have space </a:t>
            </a:r>
          </a:p>
          <a:p>
            <a:pPr marL="891540" lvl="2" indent="-342900">
              <a:spcBef>
                <a:spcPts val="10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</a:rPr>
              <a:t>Cannot use operators' names: e.g., if, and, or, for, True, break, …</a:t>
            </a:r>
            <a:endParaRPr lang="en-US" sz="1800" i="0" u="none" strike="noStrike" baseline="0" dirty="0">
              <a:solidFill>
                <a:srgbClr val="000000"/>
              </a:solidFill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734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B07B-4963-99AF-8874-37736704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with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D335E-BE00-E06F-86CD-5717F74AF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85CB9-3CBD-AFDF-652C-74286E9746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6608" y="1447800"/>
            <a:ext cx="4425693" cy="5219700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spcAft>
                <a:spcPct val="0"/>
              </a:spcAft>
            </a:pPr>
            <a:r>
              <a:rPr lang="en-US" b="1" dirty="0">
                <a:solidFill>
                  <a:srgbClr val="FF0000"/>
                </a:solidFill>
              </a:rPr>
              <a:t>Relational operators</a:t>
            </a:r>
            <a:endParaRPr lang="en-US" dirty="0"/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b="0" i="0" u="none" strike="noStrike" baseline="0" dirty="0">
                <a:solidFill>
                  <a:srgbClr val="000000"/>
                </a:solidFill>
              </a:rPr>
              <a:t>They are used for comparing values or variables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</a:rPr>
              <a:t>The results of any comparison is a Boolean value; either </a:t>
            </a:r>
            <a:r>
              <a:rPr lang="en-US" sz="2200" b="1" dirty="0">
                <a:solidFill>
                  <a:srgbClr val="000000"/>
                </a:solidFill>
              </a:rPr>
              <a:t>True</a:t>
            </a:r>
            <a:r>
              <a:rPr lang="en-US" sz="2200" dirty="0">
                <a:solidFill>
                  <a:srgbClr val="000000"/>
                </a:solidFill>
              </a:rPr>
              <a:t> or </a:t>
            </a:r>
            <a:r>
              <a:rPr lang="en-US" sz="2200" b="1" dirty="0">
                <a:solidFill>
                  <a:srgbClr val="000000"/>
                </a:solidFill>
              </a:rPr>
              <a:t>False</a:t>
            </a:r>
            <a:endParaRPr lang="en-US" sz="1800" i="0" u="none" strike="noStrike" baseline="0" dirty="0">
              <a:solidFill>
                <a:srgbClr val="000000"/>
              </a:solidFill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6CDC0F47-55D5-3D71-C040-3B57BDB654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4238053"/>
              </p:ext>
            </p:extLst>
          </p:nvPr>
        </p:nvGraphicFramePr>
        <p:xfrm>
          <a:off x="5029197" y="1594768"/>
          <a:ext cx="3968499" cy="4319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979">
                  <a:extLst>
                    <a:ext uri="{9D8B030D-6E8A-4147-A177-3AD203B41FA5}">
                      <a16:colId xmlns:a16="http://schemas.microsoft.com/office/drawing/2014/main" val="1616760759"/>
                    </a:ext>
                  </a:extLst>
                </a:gridCol>
                <a:gridCol w="1392457">
                  <a:extLst>
                    <a:ext uri="{9D8B030D-6E8A-4147-A177-3AD203B41FA5}">
                      <a16:colId xmlns:a16="http://schemas.microsoft.com/office/drawing/2014/main" val="3750769027"/>
                    </a:ext>
                  </a:extLst>
                </a:gridCol>
                <a:gridCol w="1449063">
                  <a:extLst>
                    <a:ext uri="{9D8B030D-6E8A-4147-A177-3AD203B41FA5}">
                      <a16:colId xmlns:a16="http://schemas.microsoft.com/office/drawing/2014/main" val="1268058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49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  <a:latin typeface="+mn-lt"/>
                        </a:rPr>
                        <a:t>&lt;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  <a:latin typeface="+mn-lt"/>
                        </a:rPr>
                        <a:t>is less than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  <a:latin typeface="+mn-lt"/>
                        </a:rPr>
                        <a:t>3 &lt; 5 is True</a:t>
                      </a:r>
                      <a:br>
                        <a:rPr lang="en-US" sz="1600" dirty="0">
                          <a:effectLst/>
                          <a:latin typeface="+mn-lt"/>
                        </a:rPr>
                      </a:br>
                      <a:r>
                        <a:rPr lang="en-US" sz="1600" dirty="0">
                          <a:effectLst/>
                          <a:latin typeface="+mn-lt"/>
                        </a:rPr>
                        <a:t>5 &lt; 3 is False</a:t>
                      </a:r>
                    </a:p>
                  </a:txBody>
                  <a:tcPr marL="67866" marR="67866" marT="67866" marB="67866" anchor="ctr"/>
                </a:tc>
                <a:extLst>
                  <a:ext uri="{0D108BD9-81ED-4DB2-BD59-A6C34878D82A}">
                    <a16:rowId xmlns:a16="http://schemas.microsoft.com/office/drawing/2014/main" val="87783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  <a:latin typeface="+mn-lt"/>
                        </a:rPr>
                        <a:t>&lt;=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  <a:latin typeface="+mn-lt"/>
                        </a:rPr>
                        <a:t>is less than or equal to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  <a:latin typeface="+mn-lt"/>
                        </a:rPr>
                        <a:t>6 &lt;= 6 is True</a:t>
                      </a:r>
                      <a:br>
                        <a:rPr lang="en-US" sz="1600" dirty="0">
                          <a:effectLst/>
                          <a:latin typeface="+mn-lt"/>
                        </a:rPr>
                      </a:br>
                      <a:r>
                        <a:rPr lang="en-US" sz="1600" dirty="0">
                          <a:effectLst/>
                          <a:latin typeface="+mn-lt"/>
                        </a:rPr>
                        <a:t>6 &lt;= 3 is False</a:t>
                      </a:r>
                    </a:p>
                  </a:txBody>
                  <a:tcPr marL="67866" marR="67866" marT="67866" marB="67866" anchor="ctr"/>
                </a:tc>
                <a:extLst>
                  <a:ext uri="{0D108BD9-81ED-4DB2-BD59-A6C34878D82A}">
                    <a16:rowId xmlns:a16="http://schemas.microsoft.com/office/drawing/2014/main" val="3890569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  <a:latin typeface="+mn-lt"/>
                        </a:rPr>
                        <a:t>&gt;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  <a:latin typeface="+mn-lt"/>
                        </a:rPr>
                        <a:t>is greater than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  <a:latin typeface="+mn-lt"/>
                        </a:rPr>
                        <a:t>8 &gt; 5 is True</a:t>
                      </a:r>
                      <a:br>
                        <a:rPr lang="en-US" sz="1600" dirty="0">
                          <a:effectLst/>
                          <a:latin typeface="+mn-lt"/>
                        </a:rPr>
                      </a:br>
                      <a:r>
                        <a:rPr lang="en-US" sz="1600" dirty="0">
                          <a:effectLst/>
                          <a:latin typeface="+mn-lt"/>
                        </a:rPr>
                        <a:t>5 &gt; 8 is False</a:t>
                      </a:r>
                    </a:p>
                  </a:txBody>
                  <a:tcPr marL="67866" marR="67866" marT="67866" marB="67866" anchor="ctr"/>
                </a:tc>
                <a:extLst>
                  <a:ext uri="{0D108BD9-81ED-4DB2-BD59-A6C34878D82A}">
                    <a16:rowId xmlns:a16="http://schemas.microsoft.com/office/drawing/2014/main" val="323061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  <a:latin typeface="+mn-lt"/>
                        </a:rPr>
                        <a:t>&gt;=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  <a:latin typeface="+mn-lt"/>
                        </a:rPr>
                        <a:t>is greater than or equal to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  <a:latin typeface="+mn-lt"/>
                        </a:rPr>
                        <a:t>12 &gt;= 12 is True</a:t>
                      </a:r>
                      <a:br>
                        <a:rPr lang="en-US" sz="1600" dirty="0">
                          <a:effectLst/>
                          <a:latin typeface="+mn-lt"/>
                        </a:rPr>
                      </a:br>
                      <a:r>
                        <a:rPr lang="en-US" sz="1600" dirty="0">
                          <a:effectLst/>
                          <a:latin typeface="+mn-lt"/>
                        </a:rPr>
                        <a:t>6 &gt;= 12 is False</a:t>
                      </a:r>
                      <a:br>
                        <a:rPr lang="en-US" sz="1600" dirty="0">
                          <a:effectLst/>
                          <a:latin typeface="+mn-lt"/>
                        </a:rPr>
                      </a:br>
                      <a:endParaRPr lang="en-US" sz="1600" dirty="0">
                        <a:effectLst/>
                        <a:latin typeface="+mn-lt"/>
                      </a:endParaRPr>
                    </a:p>
                  </a:txBody>
                  <a:tcPr marL="67866" marR="67866" marT="67866" marB="67866" anchor="ctr"/>
                </a:tc>
                <a:extLst>
                  <a:ext uri="{0D108BD9-81ED-4DB2-BD59-A6C34878D82A}">
                    <a16:rowId xmlns:a16="http://schemas.microsoft.com/office/drawing/2014/main" val="3481287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  <a:latin typeface="+mn-lt"/>
                        </a:rPr>
                        <a:t>==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  <a:latin typeface="+mn-lt"/>
                        </a:rPr>
                        <a:t>is the same as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  <a:latin typeface="+mn-lt"/>
                        </a:rPr>
                        <a:t>15 == 15 is True</a:t>
                      </a:r>
                      <a:br>
                        <a:rPr lang="en-US" sz="1600">
                          <a:effectLst/>
                          <a:latin typeface="+mn-lt"/>
                        </a:rPr>
                      </a:br>
                      <a:r>
                        <a:rPr lang="en-US" sz="1600">
                          <a:effectLst/>
                          <a:latin typeface="+mn-lt"/>
                        </a:rPr>
                        <a:t>12 == 11 is False</a:t>
                      </a:r>
                    </a:p>
                  </a:txBody>
                  <a:tcPr marL="67866" marR="67866" marT="67866" marB="67866" anchor="ctr"/>
                </a:tc>
                <a:extLst>
                  <a:ext uri="{0D108BD9-81ED-4DB2-BD59-A6C34878D82A}">
                    <a16:rowId xmlns:a16="http://schemas.microsoft.com/office/drawing/2014/main" val="1572339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!</a:t>
                      </a:r>
                      <a:r>
                        <a:rPr lang="en-US" sz="1600" spc="-3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" spc="-3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Exclamation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=</a:t>
                      </a:r>
                    </a:p>
                  </a:txBody>
                  <a:tcPr marL="67866" marR="67866" marT="67866" marB="67866" anchor="ctr">
                    <a:solidFill>
                      <a:srgbClr val="FAE7E8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 not the same as</a:t>
                      </a:r>
                    </a:p>
                  </a:txBody>
                  <a:tcPr marL="67866" marR="67866" marT="67866" marB="67866" anchor="ctr">
                    <a:solidFill>
                      <a:srgbClr val="FAE7E8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 </a:t>
                      </a:r>
                      <a:r>
                        <a:rPr lang="en-US" sz="100" spc="-3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Exclamation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!= 5 is True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 </a:t>
                      </a:r>
                      <a:r>
                        <a:rPr lang="en-US" sz="100" spc="-3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Exclamation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!=4 is False</a:t>
                      </a:r>
                    </a:p>
                  </a:txBody>
                  <a:tcPr marL="67866" marR="67866" marT="67866" marB="67866" anchor="ctr">
                    <a:solidFill>
                      <a:srgbClr val="FA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653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050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B07B-4963-99AF-8874-37736704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with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D335E-BE00-E06F-86CD-5717F74AF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85CB9-3CBD-AFDF-652C-74286E9746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6608" y="1447800"/>
            <a:ext cx="8049848" cy="5219700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spcAft>
                <a:spcPct val="0"/>
              </a:spcAft>
            </a:pPr>
            <a:r>
              <a:rPr lang="en-US" b="1" dirty="0">
                <a:solidFill>
                  <a:srgbClr val="FF0000"/>
                </a:solidFill>
              </a:rPr>
              <a:t>Logical operators</a:t>
            </a:r>
            <a:endParaRPr lang="en-US" dirty="0"/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b="0" i="0" u="none" strike="noStrike" baseline="0" dirty="0">
                <a:solidFill>
                  <a:srgbClr val="000000"/>
                </a:solidFill>
              </a:rPr>
              <a:t>They are used to create compound conditions from two or more simple conditions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</a:rPr>
              <a:t>There three commonly used logical operators in computer programs are </a:t>
            </a:r>
            <a:r>
              <a:rPr lang="en-US" sz="2200" b="1" dirty="0">
                <a:solidFill>
                  <a:srgbClr val="000000"/>
                </a:solidFill>
              </a:rPr>
              <a:t>and</a:t>
            </a:r>
            <a:r>
              <a:rPr lang="en-US" sz="2200" dirty="0">
                <a:solidFill>
                  <a:srgbClr val="000000"/>
                </a:solidFill>
              </a:rPr>
              <a:t>, </a:t>
            </a:r>
            <a:r>
              <a:rPr lang="en-US" sz="2200" b="1" dirty="0">
                <a:solidFill>
                  <a:srgbClr val="000000"/>
                </a:solidFill>
              </a:rPr>
              <a:t>or</a:t>
            </a:r>
            <a:r>
              <a:rPr lang="en-US" sz="2200" dirty="0">
                <a:solidFill>
                  <a:srgbClr val="000000"/>
                </a:solidFill>
              </a:rPr>
              <a:t>, </a:t>
            </a:r>
            <a:r>
              <a:rPr lang="en-US" sz="2200" b="1" dirty="0">
                <a:solidFill>
                  <a:srgbClr val="000000"/>
                </a:solidFill>
              </a:rPr>
              <a:t>not</a:t>
            </a:r>
            <a:endParaRPr lang="en-US" sz="1800" i="0" u="none" strike="noStrike" baseline="0" dirty="0">
              <a:solidFill>
                <a:srgbClr val="000000"/>
              </a:solidFill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0AAFC0D2-E1AA-A987-E8F4-2E0E4A1124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3641102"/>
              </p:ext>
            </p:extLst>
          </p:nvPr>
        </p:nvGraphicFramePr>
        <p:xfrm>
          <a:off x="868439" y="3747132"/>
          <a:ext cx="7864409" cy="246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304">
                  <a:extLst>
                    <a:ext uri="{9D8B030D-6E8A-4147-A177-3AD203B41FA5}">
                      <a16:colId xmlns:a16="http://schemas.microsoft.com/office/drawing/2014/main" val="897592276"/>
                    </a:ext>
                  </a:extLst>
                </a:gridCol>
                <a:gridCol w="1536996">
                  <a:extLst>
                    <a:ext uri="{9D8B030D-6E8A-4147-A177-3AD203B41FA5}">
                      <a16:colId xmlns:a16="http://schemas.microsoft.com/office/drawing/2014/main" val="2819399408"/>
                    </a:ext>
                  </a:extLst>
                </a:gridCol>
                <a:gridCol w="1734345">
                  <a:extLst>
                    <a:ext uri="{9D8B030D-6E8A-4147-A177-3AD203B41FA5}">
                      <a16:colId xmlns:a16="http://schemas.microsoft.com/office/drawing/2014/main" val="2995464789"/>
                    </a:ext>
                  </a:extLst>
                </a:gridCol>
                <a:gridCol w="1572882">
                  <a:extLst>
                    <a:ext uri="{9D8B030D-6E8A-4147-A177-3AD203B41FA5}">
                      <a16:colId xmlns:a16="http://schemas.microsoft.com/office/drawing/2014/main" val="3403010080"/>
                    </a:ext>
                  </a:extLst>
                </a:gridCol>
                <a:gridCol w="1572882">
                  <a:extLst>
                    <a:ext uri="{9D8B030D-6E8A-4147-A177-3AD203B41FA5}">
                      <a16:colId xmlns:a16="http://schemas.microsoft.com/office/drawing/2014/main" val="4091951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Variable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Variable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Result of A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</a:rPr>
                        <a:t>and</a:t>
                      </a:r>
                      <a:r>
                        <a:rPr lang="en-US" sz="2000" dirty="0">
                          <a:latin typeface="+mn-lt"/>
                        </a:rPr>
                        <a:t>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Result of A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</a:rPr>
                        <a:t>or</a:t>
                      </a:r>
                      <a:r>
                        <a:rPr lang="en-US" sz="2000" dirty="0">
                          <a:latin typeface="+mn-lt"/>
                        </a:rPr>
                        <a:t>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Result of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</a:rPr>
                        <a:t>not</a:t>
                      </a:r>
                      <a:r>
                        <a:rPr lang="en-US" sz="2000" dirty="0">
                          <a:latin typeface="+mn-lt"/>
                        </a:rPr>
                        <a:t>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833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 dirty="0"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67866" marR="67866" marT="67866" marB="67866" anchor="ctr"/>
                </a:tc>
                <a:extLst>
                  <a:ext uri="{0D108BD9-81ED-4DB2-BD59-A6C34878D82A}">
                    <a16:rowId xmlns:a16="http://schemas.microsoft.com/office/drawing/2014/main" val="2832762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 dirty="0"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67866" marR="67866" marT="67866" marB="67866" anchor="ctr"/>
                </a:tc>
                <a:extLst>
                  <a:ext uri="{0D108BD9-81ED-4DB2-BD59-A6C34878D82A}">
                    <a16:rowId xmlns:a16="http://schemas.microsoft.com/office/drawing/2014/main" val="1681113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 dirty="0"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 dirty="0"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67866" marR="67866" marT="67866" marB="67866" anchor="ctr"/>
                </a:tc>
                <a:extLst>
                  <a:ext uri="{0D108BD9-81ED-4DB2-BD59-A6C34878D82A}">
                    <a16:rowId xmlns:a16="http://schemas.microsoft.com/office/drawing/2014/main" val="824160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67866" marR="67866" marT="67866" marB="6786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000">
                          <a:effectLst/>
                          <a:latin typeface="+mn-lt"/>
                        </a:rPr>
                        <a:t>False</a:t>
                      </a:r>
                      <a:endParaRPr lang="en-US" sz="2000" dirty="0">
                        <a:effectLst/>
                        <a:latin typeface="+mn-lt"/>
                      </a:endParaRPr>
                    </a:p>
                  </a:txBody>
                  <a:tcPr marL="67866" marR="67866" marT="67866" marB="67866" anchor="ctr"/>
                </a:tc>
                <a:extLst>
                  <a:ext uri="{0D108BD9-81ED-4DB2-BD59-A6C34878D82A}">
                    <a16:rowId xmlns:a16="http://schemas.microsoft.com/office/drawing/2014/main" val="2326000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239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B07B-4963-99AF-8874-37736704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with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D335E-BE00-E06F-86CD-5717F74AF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85CB9-3CBD-AFDF-652C-74286E9746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19700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spcAft>
                <a:spcPct val="0"/>
              </a:spcAft>
            </a:pPr>
            <a:r>
              <a:rPr lang="en-US" b="1" dirty="0">
                <a:solidFill>
                  <a:srgbClr val="FF0000"/>
                </a:solidFill>
              </a:rPr>
              <a:t>Functions:</a:t>
            </a:r>
            <a:r>
              <a:rPr lang="en-US" dirty="0"/>
              <a:t> 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b="0" i="0" u="none" strike="noStrike" baseline="0" dirty="0">
                <a:solidFill>
                  <a:srgbClr val="000000"/>
                </a:solidFill>
              </a:rPr>
              <a:t>A </a:t>
            </a:r>
            <a:r>
              <a:rPr lang="en-US" sz="2200" b="1" i="0" u="none" strike="noStrike" baseline="0" dirty="0">
                <a:solidFill>
                  <a:srgbClr val="000000"/>
                </a:solidFill>
              </a:rPr>
              <a:t>Function</a:t>
            </a:r>
            <a:r>
              <a:rPr lang="en-US" sz="2200" b="0" i="0" u="none" strike="noStrike" baseline="0" dirty="0">
                <a:solidFill>
                  <a:srgbClr val="000000"/>
                </a:solidFill>
              </a:rPr>
              <a:t> is a block of code that performs a task 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</a:rPr>
              <a:t>Allows programmers to write a block of code once and use it various ways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</a:rPr>
              <a:t>Usually, we type the name of the function followed by ‘()’ :e.g., print()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AA6265D7-D2AB-E953-63AD-2D5147A2F4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4604626"/>
              </p:ext>
            </p:extLst>
          </p:nvPr>
        </p:nvGraphicFramePr>
        <p:xfrm>
          <a:off x="1115616" y="4037561"/>
          <a:ext cx="7826058" cy="2476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947">
                  <a:extLst>
                    <a:ext uri="{9D8B030D-6E8A-4147-A177-3AD203B41FA5}">
                      <a16:colId xmlns:a16="http://schemas.microsoft.com/office/drawing/2014/main" val="3369307724"/>
                    </a:ext>
                  </a:extLst>
                </a:gridCol>
                <a:gridCol w="5494111">
                  <a:extLst>
                    <a:ext uri="{9D8B030D-6E8A-4147-A177-3AD203B41FA5}">
                      <a16:colId xmlns:a16="http://schemas.microsoft.com/office/drawing/2014/main" val="2764978065"/>
                    </a:ext>
                  </a:extLst>
                </a:gridCol>
              </a:tblGrid>
              <a:tr h="296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218441"/>
                  </a:ext>
                </a:extLst>
              </a:tr>
              <a:tr h="334413">
                <a:tc>
                  <a:txBody>
                    <a:bodyPr/>
                    <a:lstStyle/>
                    <a:p>
                      <a:pPr font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abs</a:t>
                      </a:r>
                      <a:r>
                        <a:rPr lang="en-US" sz="100" b="1" spc="-300" dirty="0" err="1">
                          <a:noFill/>
                          <a:effectLst/>
                          <a:latin typeface="+mn-lt"/>
                        </a:rPr>
                        <a:t>open</a:t>
                      </a:r>
                      <a:r>
                        <a:rPr lang="en-US" sz="100" b="1" spc="-300" dirty="0">
                          <a:noFill/>
                          <a:effectLst/>
                          <a:latin typeface="+mn-lt"/>
                        </a:rPr>
                        <a:t> paren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(X)</a:t>
                      </a:r>
                      <a:r>
                        <a:rPr lang="en-US" sz="100" b="1" spc="-300" dirty="0">
                          <a:noFill/>
                          <a:effectLst/>
                          <a:latin typeface="+mn-lt"/>
                        </a:rPr>
                        <a:t>close paren</a:t>
                      </a:r>
                      <a:endParaRPr lang="en-US" sz="100" spc="-300" dirty="0">
                        <a:noFill/>
                        <a:effectLst/>
                        <a:latin typeface="+mn-lt"/>
                      </a:endParaRPr>
                    </a:p>
                  </a:txBody>
                  <a:tcPr marL="67866" marR="67866" marT="67866" marB="67866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Returns the absolute value of 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7866" marR="67866" marT="67866" marB="67866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663590"/>
                  </a:ext>
                </a:extLst>
              </a:tr>
              <a:tr h="334413">
                <a:tc>
                  <a:txBody>
                    <a:bodyPr/>
                    <a:lstStyle/>
                    <a:p>
                      <a:pPr font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sort</a:t>
                      </a:r>
                      <a:r>
                        <a:rPr lang="en-US" sz="100" b="1" spc="-300" dirty="0" err="1">
                          <a:noFill/>
                          <a:effectLst/>
                          <a:latin typeface="+mn-lt"/>
                        </a:rPr>
                        <a:t>open</a:t>
                      </a:r>
                      <a:r>
                        <a:rPr lang="en-US" sz="100" b="1" spc="-300" dirty="0">
                          <a:noFill/>
                          <a:effectLst/>
                          <a:latin typeface="+mn-lt"/>
                        </a:rPr>
                        <a:t> paren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list_name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  <a:r>
                        <a:rPr lang="en-US" sz="100" b="1" spc="-300" dirty="0">
                          <a:noFill/>
                          <a:effectLst/>
                          <a:latin typeface="+mn-lt"/>
                        </a:rPr>
                        <a:t>close paren</a:t>
                      </a:r>
                      <a:endParaRPr lang="en-US" sz="100" spc="-300" dirty="0">
                        <a:noFill/>
                        <a:effectLst/>
                        <a:latin typeface="+mn-lt"/>
                      </a:endParaRPr>
                    </a:p>
                  </a:txBody>
                  <a:tcPr marL="67866" marR="67866" marT="67866" marB="67866" anchor="ctr">
                    <a:solidFill>
                      <a:srgbClr val="FAE7E8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Sorts a list in ascending order</a:t>
                      </a:r>
                    </a:p>
                  </a:txBody>
                  <a:tcPr marL="67866" marR="67866" marT="67866" marB="67866" anchor="ctr">
                    <a:solidFill>
                      <a:srgbClr val="FA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779444"/>
                  </a:ext>
                </a:extLst>
              </a:tr>
              <a:tr h="549243">
                <a:tc>
                  <a:txBody>
                    <a:bodyPr/>
                    <a:lstStyle/>
                    <a:p>
                      <a:pPr font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string.upper</a:t>
                      </a:r>
                      <a:r>
                        <a:rPr lang="en-US" sz="100" b="1" spc="-300" dirty="0" err="1">
                          <a:noFill/>
                          <a:effectLst/>
                          <a:latin typeface="+mn-lt"/>
                        </a:rPr>
                        <a:t>open</a:t>
                      </a:r>
                      <a:r>
                        <a:rPr lang="en-US" sz="100" b="1" spc="-300" dirty="0">
                          <a:noFill/>
                          <a:effectLst/>
                          <a:latin typeface="+mn-lt"/>
                        </a:rPr>
                        <a:t> paren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()</a:t>
                      </a:r>
                      <a:r>
                        <a:rPr lang="en-US" sz="100" b="1" spc="-300" dirty="0">
                          <a:noFill/>
                          <a:effectLst/>
                          <a:latin typeface="+mn-lt"/>
                        </a:rPr>
                        <a:t>close paren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and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string.lower</a:t>
                      </a:r>
                      <a:r>
                        <a:rPr lang="en-US" sz="100" b="1" spc="-300" dirty="0" err="1">
                          <a:noFill/>
                          <a:effectLst/>
                          <a:latin typeface="+mn-lt"/>
                        </a:rPr>
                        <a:t>open</a:t>
                      </a:r>
                      <a:r>
                        <a:rPr lang="en-US" sz="100" b="1" spc="-300" dirty="0">
                          <a:noFill/>
                          <a:effectLst/>
                          <a:latin typeface="+mn-lt"/>
                        </a:rPr>
                        <a:t> paren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()</a:t>
                      </a:r>
                      <a:r>
                        <a:rPr lang="en-US" sz="100" b="1" spc="-300" dirty="0">
                          <a:noFill/>
                          <a:effectLst/>
                          <a:latin typeface="+mn-lt"/>
                        </a:rPr>
                        <a:t>close paren</a:t>
                      </a:r>
                      <a:endParaRPr lang="en-US" sz="100" spc="-300" dirty="0">
                        <a:noFill/>
                        <a:effectLst/>
                        <a:latin typeface="+mn-lt"/>
                      </a:endParaRPr>
                    </a:p>
                  </a:txBody>
                  <a:tcPr marL="67866" marR="67866" marT="67866" marB="67866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Returns the string in all upper- or lower-case</a:t>
                      </a:r>
                    </a:p>
                  </a:txBody>
                  <a:tcPr marL="67866" marR="67866" marT="67866" marB="67866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38020"/>
                  </a:ext>
                </a:extLst>
              </a:tr>
              <a:tr h="334413">
                <a:tc>
                  <a:txBody>
                    <a:bodyPr/>
                    <a:lstStyle/>
                    <a:p>
                      <a:pPr font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len</a:t>
                      </a:r>
                      <a:r>
                        <a:rPr lang="en-US" sz="100" b="1" spc="-300" dirty="0" err="1">
                          <a:noFill/>
                          <a:effectLst/>
                          <a:latin typeface="+mn-lt"/>
                        </a:rPr>
                        <a:t>open</a:t>
                      </a:r>
                      <a:r>
                        <a:rPr lang="en-US" sz="100" b="1" spc="-300" dirty="0">
                          <a:noFill/>
                          <a:effectLst/>
                          <a:latin typeface="+mn-lt"/>
                        </a:rPr>
                        <a:t> paren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(X)</a:t>
                      </a:r>
                      <a:r>
                        <a:rPr lang="en-US" sz="100" b="1" spc="-300" dirty="0">
                          <a:noFill/>
                          <a:effectLst/>
                          <a:latin typeface="+mn-lt"/>
                        </a:rPr>
                        <a:t>close paren</a:t>
                      </a:r>
                      <a:endParaRPr lang="en-US" sz="100" spc="-300" dirty="0">
                        <a:noFill/>
                        <a:effectLst/>
                        <a:latin typeface="+mn-lt"/>
                      </a:endParaRPr>
                    </a:p>
                  </a:txBody>
                  <a:tcPr marL="67866" marR="67866" marT="67866" marB="67866" anchor="ctr">
                    <a:solidFill>
                      <a:srgbClr val="FAE7E8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Returns the number of items in a string or list</a:t>
                      </a:r>
                    </a:p>
                  </a:txBody>
                  <a:tcPr marL="67866" marR="67866" marT="67866" marB="67866" anchor="ctr">
                    <a:solidFill>
                      <a:srgbClr val="FA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467140"/>
                  </a:ext>
                </a:extLst>
              </a:tr>
              <a:tr h="334413">
                <a:tc>
                  <a:txBody>
                    <a:bodyPr/>
                    <a:lstStyle/>
                    <a:p>
                      <a:pPr font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round</a:t>
                      </a:r>
                      <a:r>
                        <a:rPr lang="en-US" sz="100" b="1" spc="-300" dirty="0" err="1">
                          <a:noFill/>
                          <a:effectLst/>
                          <a:latin typeface="+mn-lt"/>
                        </a:rPr>
                        <a:t>open</a:t>
                      </a:r>
                      <a:r>
                        <a:rPr lang="en-US" sz="100" b="1" spc="-300" dirty="0">
                          <a:noFill/>
                          <a:effectLst/>
                          <a:latin typeface="+mn-lt"/>
                        </a:rPr>
                        <a:t> paren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(X, Y)</a:t>
                      </a:r>
                      <a:r>
                        <a:rPr lang="en-US" sz="100" b="1" spc="-300" dirty="0">
                          <a:noFill/>
                          <a:effectLst/>
                          <a:latin typeface="+mn-lt"/>
                        </a:rPr>
                        <a:t>close paren</a:t>
                      </a:r>
                      <a:endParaRPr lang="en-US" sz="100" spc="-300" dirty="0">
                        <a:noFill/>
                        <a:effectLst/>
                        <a:latin typeface="+mn-lt"/>
                      </a:endParaRPr>
                    </a:p>
                  </a:txBody>
                  <a:tcPr marL="67866" marR="67866" marT="67866" marB="67866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Rounds a number, 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to the places specified by 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7866" marR="67866" marT="67866" marB="67866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986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873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E88E-E33E-BE4B-AD93-F62713C2D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with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D5013D-1A12-E7B7-B454-DEB734A7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D898A-8994-4C1E-B7BC-77ED4E69657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dirty="0"/>
              <a:t>Example 1.1: </a:t>
            </a:r>
            <a:r>
              <a:rPr lang="en-CA" sz="2400" b="0" i="0" dirty="0">
                <a:effectLst/>
              </a:rPr>
              <a:t>Assume the demand for is a product named MBAI5100 is 1,000 units per month. The unit price of each product is 10.The unit production cost is 5. Answer the following questions:</a:t>
            </a:r>
          </a:p>
          <a:p>
            <a:pPr marL="0" indent="0" algn="l">
              <a:buNone/>
            </a:pPr>
            <a:r>
              <a:rPr lang="en-CA" sz="2400" b="0" i="0" dirty="0">
                <a:effectLst/>
              </a:rPr>
              <a:t>a) What is the total revenue (print the total revenue is ...)?</a:t>
            </a:r>
          </a:p>
          <a:p>
            <a:pPr marL="0" indent="0" algn="l">
              <a:buNone/>
            </a:pPr>
            <a:r>
              <a:rPr lang="en-CA" sz="2400" b="0" i="0" dirty="0">
                <a:effectLst/>
              </a:rPr>
              <a:t>b) What is the total profit?</a:t>
            </a:r>
          </a:p>
          <a:p>
            <a:pPr marL="0" indent="0" algn="l">
              <a:buNone/>
            </a:pPr>
            <a:r>
              <a:rPr lang="en-CA" sz="2400" b="0" i="0" dirty="0">
                <a:effectLst/>
              </a:rPr>
              <a:t>c) How many characters does MBAI5100 have?</a:t>
            </a:r>
          </a:p>
          <a:p>
            <a:pPr marL="0" indent="0" algn="l">
              <a:buNone/>
            </a:pPr>
            <a:r>
              <a:rPr lang="en-CA" sz="2400"/>
              <a:t>d</a:t>
            </a:r>
            <a:r>
              <a:rPr lang="en-CA" sz="2400" b="0" i="0">
                <a:effectLst/>
              </a:rPr>
              <a:t>) </a:t>
            </a:r>
            <a:r>
              <a:rPr lang="en-CA" sz="2400" b="0" i="0" dirty="0">
                <a:effectLst/>
              </a:rPr>
              <a:t>What is the last character of the name?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742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B07B-4963-99AF-8874-37736704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with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D335E-BE00-E06F-86CD-5717F74AF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85CB9-3CBD-AFDF-652C-74286E9746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19700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spcAft>
                <a:spcPct val="0"/>
              </a:spcAft>
            </a:pPr>
            <a:r>
              <a:rPr lang="en-US" b="1" dirty="0">
                <a:solidFill>
                  <a:srgbClr val="FF0000"/>
                </a:solidFill>
              </a:rPr>
              <a:t>List:</a:t>
            </a:r>
            <a:r>
              <a:rPr lang="en-US" dirty="0"/>
              <a:t> 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b="0" i="0" u="none" strike="noStrike" baseline="0" dirty="0">
                <a:solidFill>
                  <a:srgbClr val="000000"/>
                </a:solidFill>
              </a:rPr>
              <a:t>Python cannot work directly in a spreadsheets or database; it must import the data, work on the data, and output the results to a monitor, a file, or send it back to a spreadsheet or data bases.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</a:rPr>
              <a:t>To work with data, Python stores the data temporarily in structure know as a </a:t>
            </a:r>
            <a:r>
              <a:rPr lang="en-US" sz="2200" b="1" dirty="0">
                <a:solidFill>
                  <a:srgbClr val="000000"/>
                </a:solidFill>
              </a:rPr>
              <a:t>list</a:t>
            </a:r>
            <a:r>
              <a:rPr lang="en-US" sz="2200" dirty="0">
                <a:solidFill>
                  <a:srgbClr val="000000"/>
                </a:solidFill>
              </a:rPr>
              <a:t> – a list of related items. 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b="0" i="0" u="none" strike="noStrike" baseline="0" dirty="0">
                <a:solidFill>
                  <a:srgbClr val="000000"/>
                </a:solidFill>
              </a:rPr>
              <a:t>We use [] to create </a:t>
            </a:r>
            <a:r>
              <a:rPr lang="en-US" sz="2200" dirty="0">
                <a:solidFill>
                  <a:srgbClr val="000000"/>
                </a:solidFill>
              </a:rPr>
              <a:t>lists.</a:t>
            </a:r>
            <a:endParaRPr lang="en-US" sz="2200" b="0" i="0" u="none" strike="noStrike" baseline="0" dirty="0">
              <a:solidFill>
                <a:srgbClr val="000000"/>
              </a:solidFill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714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24795-410D-B778-1E9C-B99A010D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with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FD805C-0C63-1511-B39C-ED8A6F9F0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3AE0A-1CE4-69CA-A4E8-2852C8F8C9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ts val="1000"/>
              </a:spcBef>
              <a:spcAft>
                <a:spcPct val="0"/>
              </a:spcAft>
            </a:pPr>
            <a:r>
              <a:rPr lang="en-US" b="1" dirty="0">
                <a:solidFill>
                  <a:srgbClr val="FF0000"/>
                </a:solidFill>
              </a:rPr>
              <a:t>Dictionary:</a:t>
            </a:r>
            <a:r>
              <a:rPr lang="en-US" dirty="0"/>
              <a:t> 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b="0" i="0" u="none" strike="noStrike" baseline="0" dirty="0">
                <a:solidFill>
                  <a:srgbClr val="000000"/>
                </a:solidFill>
              </a:rPr>
              <a:t>A collection of key-value pairs where each key is unique and maps to value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</a:rPr>
              <a:t>Created with {}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</a:rPr>
              <a:t>You can add, update, and remove items.</a:t>
            </a:r>
            <a:endParaRPr lang="en-US" sz="2200" b="0" i="0" u="none" strike="noStrike" baseline="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794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B07B-4963-99AF-8874-37736704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with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D335E-BE00-E06F-86CD-5717F74AF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85CB9-3CBD-AFDF-652C-74286E9746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19700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spcAft>
                <a:spcPct val="0"/>
              </a:spcAft>
            </a:pPr>
            <a:r>
              <a:rPr lang="en-US" b="1" dirty="0" err="1">
                <a:solidFill>
                  <a:srgbClr val="FF0000"/>
                </a:solidFill>
              </a:rPr>
              <a:t>DataFrame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b="0" i="0" u="none" strike="noStrike" baseline="0" dirty="0">
                <a:solidFill>
                  <a:srgbClr val="000000"/>
                </a:solidFill>
              </a:rPr>
              <a:t>We are more used to using tables to store and manipulate data.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b="1" i="0" u="none" strike="noStrike" baseline="0" dirty="0">
                <a:solidFill>
                  <a:srgbClr val="000000"/>
                </a:solidFill>
              </a:rPr>
              <a:t>pandas:</a:t>
            </a:r>
          </a:p>
          <a:p>
            <a:pPr marL="891540" lvl="2" indent="-342900">
              <a:spcBef>
                <a:spcPts val="100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</a:rPr>
              <a:t>pandas is a powerful Python library used for data manipulation and analysis.</a:t>
            </a:r>
          </a:p>
          <a:p>
            <a:pPr marL="891540" lvl="2" indent="-342900">
              <a:spcBef>
                <a:spcPts val="100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</a:rPr>
              <a:t>It provides easy-to-use data structures, including </a:t>
            </a:r>
            <a:r>
              <a:rPr lang="en-US" sz="1800" b="1" dirty="0" err="1">
                <a:solidFill>
                  <a:srgbClr val="000000"/>
                </a:solidFill>
              </a:rPr>
              <a:t>DataFrames</a:t>
            </a:r>
            <a:r>
              <a:rPr lang="en-US" sz="1800" dirty="0">
                <a:solidFill>
                  <a:srgbClr val="000000"/>
                </a:solidFill>
              </a:rPr>
              <a:t>, which allows you to clean, explore, and analyze data efficiently.</a:t>
            </a:r>
          </a:p>
          <a:p>
            <a:pPr marL="891540" lvl="2" indent="-342900">
              <a:spcBef>
                <a:spcPts val="1000"/>
              </a:spcBef>
              <a:spcAft>
                <a:spcPct val="0"/>
              </a:spcAft>
            </a:pPr>
            <a:r>
              <a:rPr lang="en-US" sz="1800" b="0" i="0" u="none" strike="noStrike" baseline="0" dirty="0">
                <a:solidFill>
                  <a:srgbClr val="000000"/>
                </a:solidFill>
              </a:rPr>
              <a:t>To use p</a:t>
            </a:r>
            <a:r>
              <a:rPr lang="en-US" sz="1800" dirty="0">
                <a:solidFill>
                  <a:srgbClr val="000000"/>
                </a:solidFill>
              </a:rPr>
              <a:t>anadas, first, we need to import it:</a:t>
            </a:r>
          </a:p>
          <a:p>
            <a:pPr marL="1165860" lvl="3" indent="-342900">
              <a:spcBef>
                <a:spcPts val="100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</a:rPr>
              <a:t>import pandas as pd</a:t>
            </a:r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615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B07B-4963-99AF-8874-37736704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with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D335E-BE00-E06F-86CD-5717F74AF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85CB9-3CBD-AFDF-652C-74286E9746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19700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spcAft>
                <a:spcPct val="0"/>
              </a:spcAft>
            </a:pPr>
            <a:r>
              <a:rPr lang="en-US" b="1" dirty="0" err="1">
                <a:solidFill>
                  <a:srgbClr val="FF0000"/>
                </a:solidFill>
              </a:rPr>
              <a:t>ndarray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b="0" i="0" u="none" strike="noStrike" baseline="0" dirty="0">
                <a:solidFill>
                  <a:srgbClr val="000000"/>
                </a:solidFill>
              </a:rPr>
              <a:t>A powerful N-dimensional array.</a:t>
            </a: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</a:rPr>
              <a:t>No need for loops – operations can be applied to entire arrays at once.</a:t>
            </a:r>
            <a:endParaRPr lang="en-US" sz="2200" b="0" i="0" u="none" strike="noStrike" baseline="0" dirty="0">
              <a:solidFill>
                <a:srgbClr val="000000"/>
              </a:solidFill>
            </a:endParaRPr>
          </a:p>
          <a:p>
            <a:pPr marL="617220" lvl="1" indent="-342900">
              <a:spcBef>
                <a:spcPts val="1000"/>
              </a:spcBef>
              <a:spcAft>
                <a:spcPct val="0"/>
              </a:spcAft>
            </a:pPr>
            <a:r>
              <a:rPr lang="en-US" sz="2200" b="1" i="0" u="none" strike="noStrike" baseline="0" dirty="0">
                <a:solidFill>
                  <a:srgbClr val="000000"/>
                </a:solidFill>
              </a:rPr>
              <a:t>NumPy:</a:t>
            </a:r>
          </a:p>
          <a:p>
            <a:pPr marL="891540" lvl="2" indent="-342900">
              <a:spcBef>
                <a:spcPts val="100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</a:rPr>
              <a:t>Implemented in C, so its operations are much faster than pure Python</a:t>
            </a:r>
          </a:p>
          <a:p>
            <a:pPr marL="891540" lvl="2" indent="-342900">
              <a:spcBef>
                <a:spcPts val="1000"/>
              </a:spcBef>
              <a:spcAft>
                <a:spcPct val="0"/>
              </a:spcAft>
            </a:pPr>
            <a:r>
              <a:rPr lang="en-US" sz="1800" b="0" i="0" u="none" strike="noStrike" baseline="0" dirty="0">
                <a:solidFill>
                  <a:srgbClr val="000000"/>
                </a:solidFill>
              </a:rPr>
              <a:t>Offers a </a:t>
            </a:r>
            <a:r>
              <a:rPr lang="en-US" sz="1800" dirty="0">
                <a:solidFill>
                  <a:srgbClr val="000000"/>
                </a:solidFill>
              </a:rPr>
              <a:t>rich set of tools</a:t>
            </a:r>
          </a:p>
          <a:p>
            <a:pPr marL="891540" lvl="2" indent="-342900">
              <a:spcBef>
                <a:spcPts val="1000"/>
              </a:spcBef>
              <a:spcAft>
                <a:spcPct val="0"/>
              </a:spcAft>
            </a:pPr>
            <a:r>
              <a:rPr lang="en-US" sz="1800" b="0" i="0" u="none" strike="noStrike" baseline="0" dirty="0">
                <a:solidFill>
                  <a:srgbClr val="000000"/>
                </a:solidFill>
              </a:rPr>
              <a:t>Pandas is built on top of Num</a:t>
            </a:r>
            <a:r>
              <a:rPr lang="en-US" sz="1800" dirty="0">
                <a:solidFill>
                  <a:srgbClr val="000000"/>
                </a:solidFill>
              </a:rPr>
              <a:t>Py</a:t>
            </a:r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045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679D2-127A-9993-8E29-9EC6B85E8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with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E3EAD4-2BB5-1D3E-C3E4-03975588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27F3C-28CF-FA45-2D1B-EB9CC126514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 1.2: </a:t>
            </a:r>
            <a:r>
              <a:rPr lang="en-US" dirty="0"/>
              <a:t>Create a dictionary similar to the table below, and then, turn in into a Pandas </a:t>
            </a:r>
            <a:r>
              <a:rPr lang="en-US" dirty="0" err="1"/>
              <a:t>DataFrame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4226105-C362-2D16-90FE-9C92E3B44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157829"/>
              </p:ext>
            </p:extLst>
          </p:nvPr>
        </p:nvGraphicFramePr>
        <p:xfrm>
          <a:off x="1115616" y="2780928"/>
          <a:ext cx="684075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0253">
                  <a:extLst>
                    <a:ext uri="{9D8B030D-6E8A-4147-A177-3AD203B41FA5}">
                      <a16:colId xmlns:a16="http://schemas.microsoft.com/office/drawing/2014/main" val="3230019117"/>
                    </a:ext>
                  </a:extLst>
                </a:gridCol>
                <a:gridCol w="2280253">
                  <a:extLst>
                    <a:ext uri="{9D8B030D-6E8A-4147-A177-3AD203B41FA5}">
                      <a16:colId xmlns:a16="http://schemas.microsoft.com/office/drawing/2014/main" val="469319506"/>
                    </a:ext>
                  </a:extLst>
                </a:gridCol>
                <a:gridCol w="2280253">
                  <a:extLst>
                    <a:ext uri="{9D8B030D-6E8A-4147-A177-3AD203B41FA5}">
                      <a16:colId xmlns:a16="http://schemas.microsoft.com/office/drawing/2014/main" val="2092724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Order_Number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6103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Online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6518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 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86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4719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0648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63a75d33-b225-4141-a227-73aad0a31d53"/>
  <p:tag name="SLIDO_EVENT_UUID" val="6e0ece41-e979-40c6-8943-f1ef2d7df485"/>
  <p:tag name="SLIDO_EVENT_SECTION_UUID" val="7fe0e36c-6f3b-4c2c-9690-9305bcfde9d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erations Management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Operations Management</Template>
  <TotalTime>17234</TotalTime>
  <Words>1927</Words>
  <Application>Microsoft Office PowerPoint</Application>
  <PresentationFormat>On-screen Show (4:3)</PresentationFormat>
  <Paragraphs>364</Paragraphs>
  <Slides>27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Franklin Gothic Book</vt:lpstr>
      <vt:lpstr>Perpetua</vt:lpstr>
      <vt:lpstr>Times New Roman</vt:lpstr>
      <vt:lpstr>Wingdings 2</vt:lpstr>
      <vt:lpstr>Operations Management</vt:lpstr>
      <vt:lpstr>Introduction</vt:lpstr>
      <vt:lpstr>Business Analytics</vt:lpstr>
      <vt:lpstr>Business Analytics</vt:lpstr>
      <vt:lpstr>Business Analytics</vt:lpstr>
      <vt:lpstr>Types of Data</vt:lpstr>
      <vt:lpstr>Type of Data</vt:lpstr>
      <vt:lpstr>Type of Data</vt:lpstr>
      <vt:lpstr>Type of Data</vt:lpstr>
      <vt:lpstr>Type of Data</vt:lpstr>
      <vt:lpstr>Type of Data</vt:lpstr>
      <vt:lpstr>Variables and Scales of Measurements</vt:lpstr>
      <vt:lpstr>Variables and Scales of Measurements</vt:lpstr>
      <vt:lpstr>Variables and Scales of Measurements</vt:lpstr>
      <vt:lpstr>Variables and Scales of Measurements</vt:lpstr>
      <vt:lpstr>Introduction to Python</vt:lpstr>
      <vt:lpstr>Programming with Python</vt:lpstr>
      <vt:lpstr>Jupyter Notebook</vt:lpstr>
      <vt:lpstr>Coding with Python</vt:lpstr>
      <vt:lpstr>Coding with Python</vt:lpstr>
      <vt:lpstr>Coding with Python</vt:lpstr>
      <vt:lpstr>Coding with Python</vt:lpstr>
      <vt:lpstr>Coding with Python</vt:lpstr>
      <vt:lpstr>Coding with Python</vt:lpstr>
      <vt:lpstr>Coding with Python</vt:lpstr>
      <vt:lpstr>Coding with Python</vt:lpstr>
      <vt:lpstr>Coding with Python</vt:lpstr>
      <vt:lpstr>Coding with Python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Management</dc:title>
  <dc:subject/>
  <dc:creator>Amir</dc:creator>
  <cp:keywords/>
  <dc:description/>
  <cp:lastModifiedBy>Afeena Gafoor</cp:lastModifiedBy>
  <cp:revision>90</cp:revision>
  <dcterms:created xsi:type="dcterms:W3CDTF">2016-10-30T21:44:55Z</dcterms:created>
  <dcterms:modified xsi:type="dcterms:W3CDTF">2025-10-07T09:25:21Z</dcterms:modified>
  <cp:category/>
</cp:coreProperties>
</file>